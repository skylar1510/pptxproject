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0"/>
  </p:notesMasterIdLst>
  <p:sldIdLst>
    <p:sldId id="342" r:id="rId2"/>
    <p:sldId id="256" r:id="rId3"/>
    <p:sldId id="270" r:id="rId4"/>
    <p:sldId id="265" r:id="rId5"/>
    <p:sldId id="266" r:id="rId6"/>
    <p:sldId id="260" r:id="rId7"/>
    <p:sldId id="268" r:id="rId8"/>
    <p:sldId id="269" r:id="rId9"/>
  </p:sldIdLst>
  <p:sldSz cx="12192000" cy="6858000"/>
  <p:notesSz cx="6858000" cy="9144000"/>
  <p:custDataLst>
    <p:tags r:id="rId1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8CCB"/>
    <a:srgbClr val="BFD8F7"/>
    <a:srgbClr val="E1EDFB"/>
    <a:srgbClr val="4C4C4D"/>
    <a:srgbClr val="302F2F"/>
    <a:srgbClr val="FFD966"/>
    <a:srgbClr val="7FBBE0"/>
    <a:srgbClr val="0FB9E3"/>
    <a:srgbClr val="E7E7E8"/>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29" autoAdjust="0"/>
    <p:restoredTop sz="94660"/>
  </p:normalViewPr>
  <p:slideViewPr>
    <p:cSldViewPr snapToGrid="0" showGuides="1">
      <p:cViewPr>
        <p:scale>
          <a:sx n="75" d="100"/>
          <a:sy n="75" d="100"/>
        </p:scale>
        <p:origin x="1680" y="846"/>
      </p:cViewPr>
      <p:guideLst>
        <p:guide orient="horz" pos="2160"/>
        <p:guide pos="3808"/>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0619864572754734"/>
          <c:y val="0"/>
          <c:w val="0.73976917307043166"/>
          <c:h val="1"/>
        </c:manualLayout>
      </c:layout>
      <c:doughnutChart>
        <c:varyColors val="1"/>
        <c:ser>
          <c:idx val="0"/>
          <c:order val="0"/>
          <c:tx>
            <c:strRef>
              <c:f>Sheet1!$B$1</c:f>
              <c:strCache>
                <c:ptCount val="1"/>
                <c:pt idx="0">
                  <c:v>Column1</c:v>
                </c:pt>
              </c:strCache>
            </c:strRef>
          </c:tx>
          <c:spPr>
            <a:ln w="12700">
              <a:solidFill>
                <a:schemeClr val="bg1"/>
              </a:solidFill>
            </a:ln>
            <a:effectLst/>
          </c:spPr>
          <c:dPt>
            <c:idx val="0"/>
            <c:bubble3D val="0"/>
            <c:spPr>
              <a:solidFill>
                <a:srgbClr val="004FA6"/>
              </a:solidFill>
              <a:ln w="12700">
                <a:solidFill>
                  <a:schemeClr val="bg1"/>
                </a:solidFill>
              </a:ln>
              <a:effectLst/>
            </c:spPr>
            <c:extLst>
              <c:ext xmlns:c16="http://schemas.microsoft.com/office/drawing/2014/chart" uri="{C3380CC4-5D6E-409C-BE32-E72D297353CC}">
                <c16:uniqueId val="{00000000-C68C-4E82-8D8F-5EDA2A5BD53D}"/>
              </c:ext>
            </c:extLst>
          </c:dPt>
          <c:dPt>
            <c:idx val="1"/>
            <c:bubble3D val="0"/>
            <c:spPr>
              <a:solidFill>
                <a:schemeClr val="tx2"/>
              </a:solidFill>
              <a:ln w="12700">
                <a:solidFill>
                  <a:schemeClr val="bg1"/>
                </a:solidFill>
              </a:ln>
              <a:effectLst/>
            </c:spPr>
            <c:extLst>
              <c:ext xmlns:c16="http://schemas.microsoft.com/office/drawing/2014/chart" uri="{C3380CC4-5D6E-409C-BE32-E72D297353CC}">
                <c16:uniqueId val="{00000001-C68C-4E82-8D8F-5EDA2A5BD53D}"/>
              </c:ext>
            </c:extLst>
          </c:dPt>
          <c:dPt>
            <c:idx val="2"/>
            <c:bubble3D val="0"/>
            <c:spPr>
              <a:solidFill>
                <a:srgbClr val="838383"/>
              </a:solidFill>
              <a:ln w="12700">
                <a:solidFill>
                  <a:schemeClr val="bg1"/>
                </a:solidFill>
              </a:ln>
              <a:effectLst/>
            </c:spPr>
            <c:extLst>
              <c:ext xmlns:c16="http://schemas.microsoft.com/office/drawing/2014/chart" uri="{C3380CC4-5D6E-409C-BE32-E72D297353CC}">
                <c16:uniqueId val="{00000002-C68C-4E82-8D8F-5EDA2A5BD53D}"/>
              </c:ext>
            </c:extLst>
          </c:dPt>
          <c:dPt>
            <c:idx val="3"/>
            <c:bubble3D val="0"/>
            <c:spPr>
              <a:solidFill>
                <a:schemeClr val="accent2"/>
              </a:solidFill>
              <a:ln w="12700">
                <a:solidFill>
                  <a:schemeClr val="bg1"/>
                </a:solidFill>
              </a:ln>
              <a:effectLst/>
            </c:spPr>
            <c:extLst>
              <c:ext xmlns:c16="http://schemas.microsoft.com/office/drawing/2014/chart" uri="{C3380CC4-5D6E-409C-BE32-E72D297353CC}">
                <c16:uniqueId val="{00000003-C68C-4E82-8D8F-5EDA2A5BD53D}"/>
              </c:ext>
            </c:extLst>
          </c:dPt>
          <c:dPt>
            <c:idx val="4"/>
            <c:bubble3D val="0"/>
            <c:spPr>
              <a:solidFill>
                <a:schemeClr val="accent4"/>
              </a:solidFill>
              <a:ln w="12700">
                <a:solidFill>
                  <a:schemeClr val="bg1"/>
                </a:solidFill>
              </a:ln>
              <a:effectLst/>
            </c:spPr>
            <c:extLst>
              <c:ext xmlns:c16="http://schemas.microsoft.com/office/drawing/2014/chart" uri="{C3380CC4-5D6E-409C-BE32-E72D297353CC}">
                <c16:uniqueId val="{00000004-C68C-4E82-8D8F-5EDA2A5BD53D}"/>
              </c:ext>
            </c:extLst>
          </c:dPt>
          <c:dPt>
            <c:idx val="5"/>
            <c:bubble3D val="0"/>
            <c:spPr>
              <a:solidFill>
                <a:schemeClr val="accent5"/>
              </a:solidFill>
              <a:ln w="12700">
                <a:solidFill>
                  <a:schemeClr val="bg1"/>
                </a:solidFill>
              </a:ln>
              <a:effectLst/>
            </c:spPr>
            <c:extLst>
              <c:ext xmlns:c16="http://schemas.microsoft.com/office/drawing/2014/chart" uri="{C3380CC4-5D6E-409C-BE32-E72D297353CC}">
                <c16:uniqueId val="{00000005-C68C-4E82-8D8F-5EDA2A5BD53D}"/>
              </c:ext>
            </c:extLst>
          </c:dPt>
          <c:dPt>
            <c:idx val="6"/>
            <c:bubble3D val="0"/>
            <c:spPr>
              <a:solidFill>
                <a:schemeClr val="accent6"/>
              </a:solidFill>
              <a:ln w="12700">
                <a:solidFill>
                  <a:schemeClr val="bg1"/>
                </a:solidFill>
              </a:ln>
              <a:effectLst/>
            </c:spPr>
            <c:extLst>
              <c:ext xmlns:c16="http://schemas.microsoft.com/office/drawing/2014/chart" uri="{C3380CC4-5D6E-409C-BE32-E72D297353CC}">
                <c16:uniqueId val="{00000006-C68C-4E82-8D8F-5EDA2A5BD53D}"/>
              </c:ext>
            </c:extLst>
          </c:dPt>
          <c:dLbls>
            <c:dLbl>
              <c:idx val="0"/>
              <c:layout>
                <c:manualLayout>
                  <c:x val="0.15859138123538855"/>
                  <c:y val="1.708854398960802E-3"/>
                </c:manualLayout>
              </c:layout>
              <c:spPr>
                <a:noFill/>
                <a:ln>
                  <a:noFill/>
                </a:ln>
                <a:effectLst/>
              </c:spPr>
              <c:txPr>
                <a:bodyPr wrap="square" lIns="38100" tIns="19050" rIns="38100" bIns="19050" anchor="ctr">
                  <a:noAutofit/>
                </a:bodyPr>
                <a:lstStyle/>
                <a:p>
                  <a:pPr>
                    <a:defRPr sz="800" b="0">
                      <a:latin typeface="+mn-lt"/>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0.19575074410925106"/>
                      <c:h val="0.36815205619194413"/>
                    </c:manualLayout>
                  </c15:layout>
                </c:ext>
                <c:ext xmlns:c16="http://schemas.microsoft.com/office/drawing/2014/chart" uri="{C3380CC4-5D6E-409C-BE32-E72D297353CC}">
                  <c16:uniqueId val="{00000000-C68C-4E82-8D8F-5EDA2A5BD53D}"/>
                </c:ext>
              </c:extLst>
            </c:dLbl>
            <c:dLbl>
              <c:idx val="1"/>
              <c:layout>
                <c:manualLayout>
                  <c:x val="3.0521048190861683E-2"/>
                  <c:y val="-1.540585188156723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68C-4E82-8D8F-5EDA2A5BD53D}"/>
                </c:ext>
              </c:extLst>
            </c:dLbl>
            <c:dLbl>
              <c:idx val="2"/>
              <c:layout>
                <c:manualLayout>
                  <c:x val="-0.10438999864803949"/>
                  <c:y val="7.0609757057997755E-2"/>
                </c:manualLayout>
              </c:layout>
              <c:showLegendKey val="0"/>
              <c:showVal val="1"/>
              <c:showCatName val="1"/>
              <c:showSerName val="0"/>
              <c:showPercent val="0"/>
              <c:showBubbleSize val="0"/>
              <c:extLst>
                <c:ext xmlns:c15="http://schemas.microsoft.com/office/drawing/2012/chart" uri="{CE6537A1-D6FC-4f65-9D91-7224C49458BB}">
                  <c15:layout>
                    <c:manualLayout>
                      <c:w val="0.39540864171719786"/>
                      <c:h val="0.42045859511438294"/>
                    </c:manualLayout>
                  </c15:layout>
                </c:ext>
                <c:ext xmlns:c16="http://schemas.microsoft.com/office/drawing/2014/chart" uri="{C3380CC4-5D6E-409C-BE32-E72D297353CC}">
                  <c16:uniqueId val="{00000002-C68C-4E82-8D8F-5EDA2A5BD53D}"/>
                </c:ext>
              </c:extLst>
            </c:dLbl>
            <c:dLbl>
              <c:idx val="3"/>
              <c:layout>
                <c:manualLayout>
                  <c:x val="-0.25269246809309909"/>
                  <c:y val="-8.786677459750789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68C-4E82-8D8F-5EDA2A5BD53D}"/>
                </c:ext>
              </c:extLst>
            </c:dLbl>
            <c:dLbl>
              <c:idx val="4"/>
              <c:layout>
                <c:manualLayout>
                  <c:x val="-6.7113262468018881E-2"/>
                  <c:y val="-6.9988453147855414E-2"/>
                </c:manualLayout>
              </c:layout>
              <c:spPr>
                <a:noFill/>
                <a:ln>
                  <a:noFill/>
                </a:ln>
                <a:effectLst/>
              </c:spPr>
              <c:txPr>
                <a:bodyPr wrap="square" lIns="38100" tIns="19050" rIns="38100" bIns="19050" anchor="ctr">
                  <a:noAutofit/>
                </a:bodyPr>
                <a:lstStyle/>
                <a:p>
                  <a:pPr>
                    <a:defRPr sz="800" b="0">
                      <a:latin typeface="+mn-lt"/>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0.15776419826582663"/>
                      <c:h val="2.3955257495531096E-2"/>
                    </c:manualLayout>
                  </c15:layout>
                </c:ext>
                <c:ext xmlns:c16="http://schemas.microsoft.com/office/drawing/2014/chart" uri="{C3380CC4-5D6E-409C-BE32-E72D297353CC}">
                  <c16:uniqueId val="{00000004-C68C-4E82-8D8F-5EDA2A5BD53D}"/>
                </c:ext>
              </c:extLst>
            </c:dLbl>
            <c:dLbl>
              <c:idx val="5"/>
              <c:layout>
                <c:manualLayout>
                  <c:x val="-1.2916840330580995E-2"/>
                  <c:y val="-9.549769811105879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68C-4E82-8D8F-5EDA2A5BD53D}"/>
                </c:ext>
              </c:extLst>
            </c:dLbl>
            <c:dLbl>
              <c:idx val="6"/>
              <c:layout>
                <c:manualLayout>
                  <c:x val="0.20615951361155241"/>
                  <c:y val="-9.1907297451958969E-2"/>
                </c:manualLayout>
              </c:layout>
              <c:showLegendKey val="0"/>
              <c:showVal val="1"/>
              <c:showCatName val="1"/>
              <c:showSerName val="0"/>
              <c:showPercent val="0"/>
              <c:showBubbleSize val="0"/>
              <c:extLst>
                <c:ext xmlns:c15="http://schemas.microsoft.com/office/drawing/2012/chart" uri="{CE6537A1-D6FC-4f65-9D91-7224C49458BB}">
                  <c15:layout>
                    <c:manualLayout>
                      <c:w val="0.16748588803476253"/>
                      <c:h val="6.9514611972694956E-2"/>
                    </c:manualLayout>
                  </c15:layout>
                </c:ext>
                <c:ext xmlns:c16="http://schemas.microsoft.com/office/drawing/2014/chart" uri="{C3380CC4-5D6E-409C-BE32-E72D297353CC}">
                  <c16:uniqueId val="{00000006-C68C-4E82-8D8F-5EDA2A5BD53D}"/>
                </c:ext>
              </c:extLst>
            </c:dLbl>
            <c:spPr>
              <a:noFill/>
              <a:ln>
                <a:noFill/>
              </a:ln>
              <a:effectLst/>
            </c:spPr>
            <c:txPr>
              <a:bodyPr wrap="square" lIns="38100" tIns="19050" rIns="38100" bIns="19050" anchor="ctr">
                <a:spAutoFit/>
              </a:bodyPr>
              <a:lstStyle/>
              <a:p>
                <a:pPr>
                  <a:defRPr sz="800" b="0">
                    <a:latin typeface="+mn-lt"/>
                  </a:defRPr>
                </a:pPr>
                <a:endParaRPr lang="en-US"/>
              </a:p>
            </c:txPr>
            <c:showLegendKey val="0"/>
            <c:showVal val="1"/>
            <c:showCatName val="1"/>
            <c:showSerName val="0"/>
            <c:showPercent val="0"/>
            <c:showBubbleSize val="0"/>
            <c:showLeaderLines val="1"/>
            <c:extLst>
              <c:ext xmlns:c15="http://schemas.microsoft.com/office/drawing/2012/chart" uri="{CE6537A1-D6FC-4f65-9D91-7224C49458BB}"/>
            </c:extLst>
          </c:dLbls>
          <c:cat>
            <c:strRef>
              <c:f>Sheet1!$A$2:$A$8</c:f>
              <c:strCache>
                <c:ptCount val="7"/>
                <c:pt idx="0">
                  <c:v>Power Utilities: Generation</c:v>
                </c:pt>
                <c:pt idx="1">
                  <c:v>Oil &amp; Gas</c:v>
                </c:pt>
                <c:pt idx="2">
                  <c:v>Power &amp; Gas Utilities: Transport, Distribution &amp; Supply</c:v>
                </c:pt>
                <c:pt idx="3">
                  <c:v>Infrastructure</c:v>
                </c:pt>
                <c:pt idx="4">
                  <c:v>Banks</c:v>
                </c:pt>
                <c:pt idx="5">
                  <c:v>Net Cash &amp; Receivables</c:v>
                </c:pt>
                <c:pt idx="6">
                  <c:v>Others</c:v>
                </c:pt>
              </c:strCache>
            </c:strRef>
          </c:cat>
          <c:val>
            <c:numRef>
              <c:f>Sheet1!$B$2:$B$8</c:f>
              <c:numCache>
                <c:formatCode>0%</c:formatCode>
                <c:ptCount val="7"/>
                <c:pt idx="0">
                  <c:v>0.21000000000000021</c:v>
                </c:pt>
                <c:pt idx="1">
                  <c:v>0.42000000000000032</c:v>
                </c:pt>
                <c:pt idx="2">
                  <c:v>0.23</c:v>
                </c:pt>
                <c:pt idx="3">
                  <c:v>3.0000000000000002E-2</c:v>
                </c:pt>
                <c:pt idx="4">
                  <c:v>3.0000000000000002E-2</c:v>
                </c:pt>
                <c:pt idx="5">
                  <c:v>0.05</c:v>
                </c:pt>
                <c:pt idx="6">
                  <c:v>3.0000000000000002E-2</c:v>
                </c:pt>
              </c:numCache>
            </c:numRef>
          </c:val>
          <c:extLst>
            <c:ext xmlns:c16="http://schemas.microsoft.com/office/drawing/2014/chart" uri="{C3380CC4-5D6E-409C-BE32-E72D297353CC}">
              <c16:uniqueId val="{00000007-C68C-4E82-8D8F-5EDA2A5BD53D}"/>
            </c:ext>
          </c:extLst>
        </c:ser>
        <c:dLbls>
          <c:showLegendKey val="0"/>
          <c:showVal val="1"/>
          <c:showCatName val="0"/>
          <c:showSerName val="0"/>
          <c:showPercent val="0"/>
          <c:showBubbleSize val="0"/>
          <c:showLeaderLines val="1"/>
        </c:dLbls>
        <c:firstSliceAng val="0"/>
        <c:holeSize val="50"/>
      </c:doughnutChart>
    </c:plotArea>
    <c:plotVisOnly val="1"/>
    <c:dispBlanksAs val="zero"/>
    <c:showDLblsOverMax val="0"/>
  </c:chart>
  <c:txPr>
    <a:bodyPr/>
    <a:lstStyle/>
    <a:p>
      <a:pPr>
        <a:defRPr sz="1200" b="1">
          <a:latin typeface="Arial Narrow" pitchFamily="34" charset="0"/>
        </a:defRPr>
      </a:pPr>
      <a:endParaRPr lang="en-US"/>
    </a:p>
  </c:tx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966CE-3E25-4B0E-82A4-EB072AEDE7FE}" type="datetimeFigureOut">
              <a:rPr lang="en-US" smtClean="0"/>
              <a:t>10/5/2025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681F9A-149A-4F05-99C2-AA1DE3A05B88}" type="slidenum">
              <a:rPr lang="en-US" smtClean="0"/>
              <a:t>‹#›</a:t>
            </a:fld>
            <a:endParaRPr lang="en-US"/>
          </a:p>
        </p:txBody>
      </p:sp>
    </p:spTree>
    <p:extLst>
      <p:ext uri="{BB962C8B-B14F-4D97-AF65-F5344CB8AC3E}">
        <p14:creationId xmlns:p14="http://schemas.microsoft.com/office/powerpoint/2010/main" val="33509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Copyright </a:t>
            </a:r>
            <a:r>
              <a:rPr lang="en-US" b="1" dirty="0"/>
              <a:t>PresentationGO.com</a:t>
            </a:r>
            <a:r>
              <a:rPr lang="en-US" dirty="0"/>
              <a:t> – Free Templates &amp; Infographics for PowerPoint and Google Slides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868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D7D2CBD-5359-4EDF-AB0B-240868BDCEA3}" type="datetimeFigureOut">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60D813-EDCB-4760-8FFA-144BBD0191BA}" type="slidenum">
              <a:rPr lang="en-US" smtClean="0"/>
              <a:pPr/>
              <a:t>‹#›</a:t>
            </a:fld>
            <a:endParaRPr lang="en-US"/>
          </a:p>
        </p:txBody>
      </p:sp>
    </p:spTree>
    <p:extLst>
      <p:ext uri="{BB962C8B-B14F-4D97-AF65-F5344CB8AC3E}">
        <p14:creationId xmlns:p14="http://schemas.microsoft.com/office/powerpoint/2010/main" val="3814511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7D2CBD-5359-4EDF-AB0B-240868BDCEA3}" type="datetimeFigureOut">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60D813-EDCB-4760-8FFA-144BBD0191BA}" type="slidenum">
              <a:rPr lang="en-US" smtClean="0"/>
              <a:pPr/>
              <a:t>‹#›</a:t>
            </a:fld>
            <a:endParaRPr lang="en-US"/>
          </a:p>
        </p:txBody>
      </p:sp>
    </p:spTree>
    <p:extLst>
      <p:ext uri="{BB962C8B-B14F-4D97-AF65-F5344CB8AC3E}">
        <p14:creationId xmlns:p14="http://schemas.microsoft.com/office/powerpoint/2010/main" val="930838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7D2CBD-5359-4EDF-AB0B-240868BDCEA3}" type="datetimeFigureOut">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60D813-EDCB-4760-8FFA-144BBD0191BA}" type="slidenum">
              <a:rPr lang="en-US" smtClean="0"/>
              <a:pPr/>
              <a:t>‹#›</a:t>
            </a:fld>
            <a:endParaRPr lang="en-US"/>
          </a:p>
        </p:txBody>
      </p:sp>
    </p:spTree>
    <p:extLst>
      <p:ext uri="{BB962C8B-B14F-4D97-AF65-F5344CB8AC3E}">
        <p14:creationId xmlns:p14="http://schemas.microsoft.com/office/powerpoint/2010/main" val="3764149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7D2CBD-5359-4EDF-AB0B-240868BDCEA3}" type="datetimeFigureOut">
              <a:rPr lang="en-US" smtClean="0"/>
              <a:pPr/>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60D813-EDCB-4760-8FFA-144BBD0191BA}" type="slidenum">
              <a:rPr lang="en-US" smtClean="0"/>
              <a:pPr/>
              <a:t>‹#›</a:t>
            </a:fld>
            <a:endParaRPr lang="en-US"/>
          </a:p>
        </p:txBody>
      </p:sp>
    </p:spTree>
    <p:extLst>
      <p:ext uri="{BB962C8B-B14F-4D97-AF65-F5344CB8AC3E}">
        <p14:creationId xmlns:p14="http://schemas.microsoft.com/office/powerpoint/2010/main" val="2420727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7D2CBD-5359-4EDF-AB0B-240868BDCEA3}" type="datetimeFigureOut">
              <a:rPr lang="en-US" smtClean="0"/>
              <a:pPr/>
              <a:t>10/5/2025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60D813-EDCB-4760-8FFA-144BBD0191BA}" type="slidenum">
              <a:rPr lang="en-US" smtClean="0"/>
              <a:pPr/>
              <a:t>‹#›</a:t>
            </a:fld>
            <a:endParaRPr lang="en-US"/>
          </a:p>
        </p:txBody>
      </p:sp>
    </p:spTree>
    <p:extLst>
      <p:ext uri="{BB962C8B-B14F-4D97-AF65-F5344CB8AC3E}">
        <p14:creationId xmlns:p14="http://schemas.microsoft.com/office/powerpoint/2010/main" val="1886631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7D2CBD-5359-4EDF-AB0B-240868BDCEA3}" type="datetimeFigureOut">
              <a:rPr lang="en-US" smtClean="0"/>
              <a:pPr/>
              <a:t>10/5/2025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60D813-EDCB-4760-8FFA-144BBD0191BA}" type="slidenum">
              <a:rPr lang="en-US" smtClean="0"/>
              <a:pPr/>
              <a:t>‹#›</a:t>
            </a:fld>
            <a:endParaRPr lang="en-US"/>
          </a:p>
        </p:txBody>
      </p:sp>
    </p:spTree>
    <p:extLst>
      <p:ext uri="{BB962C8B-B14F-4D97-AF65-F5344CB8AC3E}">
        <p14:creationId xmlns:p14="http://schemas.microsoft.com/office/powerpoint/2010/main" val="3880013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7D2CBD-5359-4EDF-AB0B-240868BDCEA3}" type="datetimeFigureOut">
              <a:rPr lang="en-US" smtClean="0"/>
              <a:pPr/>
              <a:t>10/5/2025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60D813-EDCB-4760-8FFA-144BBD0191BA}" type="slidenum">
              <a:rPr lang="en-US" smtClean="0"/>
              <a:pPr/>
              <a:t>‹#›</a:t>
            </a:fld>
            <a:endParaRPr lang="en-US"/>
          </a:p>
        </p:txBody>
      </p:sp>
    </p:spTree>
    <p:extLst>
      <p:ext uri="{BB962C8B-B14F-4D97-AF65-F5344CB8AC3E}">
        <p14:creationId xmlns:p14="http://schemas.microsoft.com/office/powerpoint/2010/main" val="2684197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7D2CBD-5359-4EDF-AB0B-240868BDCEA3}" type="datetimeFigureOut">
              <a:rPr lang="en-US" smtClean="0"/>
              <a:pPr/>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60D813-EDCB-4760-8FFA-144BBD0191BA}" type="slidenum">
              <a:rPr lang="en-US" smtClean="0"/>
              <a:pPr/>
              <a:t>‹#›</a:t>
            </a:fld>
            <a:endParaRPr lang="en-US"/>
          </a:p>
        </p:txBody>
      </p:sp>
    </p:spTree>
    <p:extLst>
      <p:ext uri="{BB962C8B-B14F-4D97-AF65-F5344CB8AC3E}">
        <p14:creationId xmlns:p14="http://schemas.microsoft.com/office/powerpoint/2010/main" val="1451018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7D2CBD-5359-4EDF-AB0B-240868BDCEA3}" type="datetimeFigureOut">
              <a:rPr lang="en-US" smtClean="0"/>
              <a:pPr/>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60D813-EDCB-4760-8FFA-144BBD0191BA}" type="slidenum">
              <a:rPr lang="en-US" smtClean="0"/>
              <a:pPr/>
              <a:t>‹#›</a:t>
            </a:fld>
            <a:endParaRPr lang="en-US"/>
          </a:p>
        </p:txBody>
      </p:sp>
    </p:spTree>
    <p:extLst>
      <p:ext uri="{BB962C8B-B14F-4D97-AF65-F5344CB8AC3E}">
        <p14:creationId xmlns:p14="http://schemas.microsoft.com/office/powerpoint/2010/main" val="2022347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7D2CBD-5359-4EDF-AB0B-240868BDCEA3}" type="datetimeFigureOut">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60D813-EDCB-4760-8FFA-144BBD0191BA}" type="slidenum">
              <a:rPr lang="en-US" smtClean="0"/>
              <a:pPr/>
              <a:t>‹#›</a:t>
            </a:fld>
            <a:endParaRPr lang="en-US"/>
          </a:p>
        </p:txBody>
      </p:sp>
    </p:spTree>
    <p:extLst>
      <p:ext uri="{BB962C8B-B14F-4D97-AF65-F5344CB8AC3E}">
        <p14:creationId xmlns:p14="http://schemas.microsoft.com/office/powerpoint/2010/main" val="177684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7D2CBD-5359-4EDF-AB0B-240868BDCEA3}" type="datetimeFigureOut">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60D813-EDCB-4760-8FFA-144BBD0191BA}" type="slidenum">
              <a:rPr lang="en-US" smtClean="0"/>
              <a:pPr/>
              <a:t>‹#›</a:t>
            </a:fld>
            <a:endParaRPr lang="en-US"/>
          </a:p>
        </p:txBody>
      </p:sp>
    </p:spTree>
    <p:extLst>
      <p:ext uri="{BB962C8B-B14F-4D97-AF65-F5344CB8AC3E}">
        <p14:creationId xmlns:p14="http://schemas.microsoft.com/office/powerpoint/2010/main" val="3599486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33" name="Freeform 32">
            <a:extLst>
              <a:ext uri="{FF2B5EF4-FFF2-40B4-BE49-F238E27FC236}">
                <a16:creationId xmlns:a16="http://schemas.microsoft.com/office/drawing/2014/main" id="{9BC4CD34-FECF-CBA9-16E3-564F7DE1CD2B}"/>
              </a:ext>
            </a:extLst>
          </p:cNvPr>
          <p:cNvSpPr>
            <a:spLocks noGrp="1"/>
          </p:cNvSpPr>
          <p:nvPr>
            <p:ph type="pic" sz="quarter" idx="13"/>
          </p:nvPr>
        </p:nvSpPr>
        <p:spPr>
          <a:xfrm>
            <a:off x="2816542" y="0"/>
            <a:ext cx="9375458" cy="5327650"/>
          </a:xfrm>
          <a:custGeom>
            <a:avLst/>
            <a:gdLst>
              <a:gd name="connsiteX0" fmla="*/ 0 w 9375458"/>
              <a:gd name="connsiteY0" fmla="*/ 0 h 5327650"/>
              <a:gd name="connsiteX1" fmla="*/ 9375458 w 9375458"/>
              <a:gd name="connsiteY1" fmla="*/ 0 h 5327650"/>
              <a:gd name="connsiteX2" fmla="*/ 9375458 w 9375458"/>
              <a:gd name="connsiteY2" fmla="*/ 1279555 h 5327650"/>
              <a:gd name="connsiteX3" fmla="*/ 5327363 w 9375458"/>
              <a:gd name="connsiteY3" fmla="*/ 5327650 h 5327650"/>
              <a:gd name="connsiteX4" fmla="*/ 5326697 w 9375458"/>
              <a:gd name="connsiteY4" fmla="*/ 5327650 h 532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5458" h="5327650">
                <a:moveTo>
                  <a:pt x="0" y="0"/>
                </a:moveTo>
                <a:lnTo>
                  <a:pt x="9375458" y="0"/>
                </a:lnTo>
                <a:lnTo>
                  <a:pt x="9375458" y="1279555"/>
                </a:lnTo>
                <a:lnTo>
                  <a:pt x="5327363" y="5327650"/>
                </a:lnTo>
                <a:lnTo>
                  <a:pt x="5326697" y="5327650"/>
                </a:lnTo>
                <a:close/>
              </a:path>
            </a:pathLst>
          </a:custGeom>
          <a:noFill/>
        </p:spPr>
        <p:txBody>
          <a:bodyPr wrap="square" anchor="ctr">
            <a:noAutofit/>
          </a:bodyPr>
          <a:lstStyle>
            <a:lvl1pPr marL="0" indent="0" algn="ctr">
              <a:buNone/>
              <a:defRPr/>
            </a:lvl1pPr>
          </a:lstStyle>
          <a:p>
            <a:r>
              <a:rPr lang="en-US"/>
              <a:t>Click icon to add picture</a:t>
            </a:r>
          </a:p>
        </p:txBody>
      </p:sp>
      <p:sp>
        <p:nvSpPr>
          <p:cNvPr id="18" name="Title 1">
            <a:extLst>
              <a:ext uri="{FF2B5EF4-FFF2-40B4-BE49-F238E27FC236}">
                <a16:creationId xmlns:a16="http://schemas.microsoft.com/office/drawing/2014/main" id="{A2A6FDFB-46FD-4D32-A054-BC9C55F6A02B}"/>
              </a:ext>
            </a:extLst>
          </p:cNvPr>
          <p:cNvSpPr>
            <a:spLocks noGrp="1"/>
          </p:cNvSpPr>
          <p:nvPr>
            <p:ph type="ctrTitle"/>
          </p:nvPr>
        </p:nvSpPr>
        <p:spPr>
          <a:xfrm>
            <a:off x="838201" y="3136874"/>
            <a:ext cx="4328748" cy="1852748"/>
          </a:xfrm>
        </p:spPr>
        <p:txBody>
          <a:bodyPr anchor="b"/>
          <a:lstStyle>
            <a:lvl1pPr algn="ctr">
              <a:defRPr sz="6600"/>
            </a:lvl1pPr>
          </a:lstStyle>
          <a:p>
            <a:r>
              <a:rPr lang="en-US"/>
              <a:t>Click to edit Master title style</a:t>
            </a:r>
            <a:endParaRPr lang="en-US" dirty="0"/>
          </a:p>
        </p:txBody>
      </p:sp>
      <p:sp>
        <p:nvSpPr>
          <p:cNvPr id="20" name="Subtitle 2">
            <a:extLst>
              <a:ext uri="{FF2B5EF4-FFF2-40B4-BE49-F238E27FC236}">
                <a16:creationId xmlns:a16="http://schemas.microsoft.com/office/drawing/2014/main" id="{C1F0D0AA-12EA-49AC-BF55-4B2556467E4C}"/>
              </a:ext>
            </a:extLst>
          </p:cNvPr>
          <p:cNvSpPr>
            <a:spLocks noGrp="1"/>
          </p:cNvSpPr>
          <p:nvPr>
            <p:ph type="subTitle" idx="1"/>
          </p:nvPr>
        </p:nvSpPr>
        <p:spPr>
          <a:xfrm>
            <a:off x="838201" y="5128771"/>
            <a:ext cx="4328748" cy="862227"/>
          </a:xfrm>
        </p:spPr>
        <p:txBody>
          <a:bodyPr>
            <a:noAutofit/>
          </a:bodyPr>
          <a:lstStyle>
            <a:lvl1pPr marL="0" indent="0" algn="ctr">
              <a:buNone/>
              <a:defRPr sz="32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1" name="Date Placeholder 3">
            <a:extLst>
              <a:ext uri="{FF2B5EF4-FFF2-40B4-BE49-F238E27FC236}">
                <a16:creationId xmlns:a16="http://schemas.microsoft.com/office/drawing/2014/main" id="{D611355A-2485-4AA5-91FA-EA5F3157B7B3}"/>
              </a:ext>
            </a:extLst>
          </p:cNvPr>
          <p:cNvSpPr>
            <a:spLocks noGrp="1"/>
          </p:cNvSpPr>
          <p:nvPr>
            <p:ph type="dt" sz="half" idx="10"/>
          </p:nvPr>
        </p:nvSpPr>
        <p:spPr>
          <a:xfrm>
            <a:off x="838200" y="6356350"/>
            <a:ext cx="2743200" cy="365125"/>
          </a:xfrm>
        </p:spPr>
        <p:txBody>
          <a:bodyPr/>
          <a:lstStyle/>
          <a:p>
            <a:r>
              <a:rPr lang="en-US"/>
              <a:t>Date</a:t>
            </a:r>
          </a:p>
        </p:txBody>
      </p:sp>
      <p:sp>
        <p:nvSpPr>
          <p:cNvPr id="23" name="Footer Placeholder 4">
            <a:extLst>
              <a:ext uri="{FF2B5EF4-FFF2-40B4-BE49-F238E27FC236}">
                <a16:creationId xmlns:a16="http://schemas.microsoft.com/office/drawing/2014/main" id="{64A10338-DE30-4CA9-A21B-D50D6579B160}"/>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4" name="Slide Number Placeholder 5">
            <a:extLst>
              <a:ext uri="{FF2B5EF4-FFF2-40B4-BE49-F238E27FC236}">
                <a16:creationId xmlns:a16="http://schemas.microsoft.com/office/drawing/2014/main" id="{49D5EB62-2B81-475B-92EC-DEB93DC3B249}"/>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2868590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D2CBD-5359-4EDF-AB0B-240868BDCEA3}" type="datetimeFigureOut">
              <a:rPr lang="en-US" smtClean="0"/>
              <a:pPr/>
              <a:t>10/5/2025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60D813-EDCB-4760-8FFA-144BBD0191BA}" type="slidenum">
              <a:rPr lang="en-US" smtClean="0"/>
              <a:pPr/>
              <a:t>‹#›</a:t>
            </a:fld>
            <a:endParaRPr lang="en-US"/>
          </a:p>
        </p:txBody>
      </p:sp>
    </p:spTree>
    <p:extLst>
      <p:ext uri="{BB962C8B-B14F-4D97-AF65-F5344CB8AC3E}">
        <p14:creationId xmlns:p14="http://schemas.microsoft.com/office/powerpoint/2010/main" val="32038620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0CA0F47F-68A7-CBC7-D7A5-FE27EB3BEEC7}"/>
              </a:ext>
            </a:extLst>
          </p:cNvPr>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686" r="686"/>
          <a:stretch>
            <a:fillRect/>
          </a:stretch>
        </p:blipFill>
        <p:spPr/>
      </p:pic>
      <p:sp>
        <p:nvSpPr>
          <p:cNvPr id="2" name="Title 1">
            <a:extLst>
              <a:ext uri="{FF2B5EF4-FFF2-40B4-BE49-F238E27FC236}">
                <a16:creationId xmlns:a16="http://schemas.microsoft.com/office/drawing/2014/main" id="{5CE96478-0438-4D0D-A7E9-EF6F93B41DA5}"/>
              </a:ext>
            </a:extLst>
          </p:cNvPr>
          <p:cNvSpPr>
            <a:spLocks noGrp="1"/>
          </p:cNvSpPr>
          <p:nvPr>
            <p:ph type="ctrTitle"/>
          </p:nvPr>
        </p:nvSpPr>
        <p:spPr>
          <a:xfrm>
            <a:off x="558800" y="4061618"/>
            <a:ext cx="5928770" cy="1852748"/>
          </a:xfrm>
        </p:spPr>
        <p:txBody>
          <a:bodyPr anchor="ctr">
            <a:noAutofit/>
          </a:bodyPr>
          <a:lstStyle/>
          <a:p>
            <a:pPr algn="l"/>
            <a:r>
              <a:rPr lang="en-US" sz="3200" dirty="0">
                <a:solidFill>
                  <a:schemeClr val="bg1"/>
                </a:solidFill>
              </a:rPr>
              <a:t>Find six to eight 2024 Hospitality industry trends online and put them on this slide. Pick slide title accordingly.</a:t>
            </a:r>
          </a:p>
        </p:txBody>
      </p:sp>
      <p:sp>
        <p:nvSpPr>
          <p:cNvPr id="6" name="Freeform 5">
            <a:extLst>
              <a:ext uri="{FF2B5EF4-FFF2-40B4-BE49-F238E27FC236}">
                <a16:creationId xmlns:a16="http://schemas.microsoft.com/office/drawing/2014/main" id="{45FF09C1-EE99-247D-CDB4-F76FE0261AE6}"/>
              </a:ext>
            </a:extLst>
          </p:cNvPr>
          <p:cNvSpPr/>
          <p:nvPr/>
        </p:nvSpPr>
        <p:spPr>
          <a:xfrm>
            <a:off x="2229205" y="0"/>
            <a:ext cx="9558524" cy="5914366"/>
          </a:xfrm>
          <a:custGeom>
            <a:avLst/>
            <a:gdLst>
              <a:gd name="connsiteX0" fmla="*/ 8384805 w 9558524"/>
              <a:gd name="connsiteY0" fmla="*/ 2270209 h 5914366"/>
              <a:gd name="connsiteX1" fmla="*/ 5914367 w 9558524"/>
              <a:gd name="connsiteY1" fmla="*/ 4740647 h 5914366"/>
              <a:gd name="connsiteX2" fmla="*/ 1173720 w 9558524"/>
              <a:gd name="connsiteY2" fmla="*/ 0 h 5914366"/>
              <a:gd name="connsiteX3" fmla="*/ 0 w 9558524"/>
              <a:gd name="connsiteY3" fmla="*/ 0 h 5914366"/>
              <a:gd name="connsiteX4" fmla="*/ 5914367 w 9558524"/>
              <a:gd name="connsiteY4" fmla="*/ 5914367 h 5914366"/>
              <a:gd name="connsiteX5" fmla="*/ 9558524 w 9558524"/>
              <a:gd name="connsiteY5" fmla="*/ 2270209 h 5914366"/>
              <a:gd name="connsiteX6" fmla="*/ 8384805 w 9558524"/>
              <a:gd name="connsiteY6" fmla="*/ 2270209 h 5914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58524" h="5914366">
                <a:moveTo>
                  <a:pt x="8384805" y="2270209"/>
                </a:moveTo>
                <a:lnTo>
                  <a:pt x="5914367" y="4740647"/>
                </a:lnTo>
                <a:lnTo>
                  <a:pt x="1173720" y="0"/>
                </a:lnTo>
                <a:lnTo>
                  <a:pt x="0" y="0"/>
                </a:lnTo>
                <a:lnTo>
                  <a:pt x="5914367" y="5914367"/>
                </a:lnTo>
                <a:lnTo>
                  <a:pt x="9558524" y="2270209"/>
                </a:lnTo>
                <a:lnTo>
                  <a:pt x="8384805" y="2270209"/>
                </a:lnTo>
                <a:close/>
              </a:path>
            </a:pathLst>
          </a:custGeom>
          <a:solidFill>
            <a:srgbClr val="278CCB">
              <a:alpha val="74947"/>
            </a:srgbClr>
          </a:solidFill>
          <a:ln w="9534"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9566C126-71E2-12F5-9C7B-FE7652C30497}"/>
              </a:ext>
            </a:extLst>
          </p:cNvPr>
          <p:cNvSpPr/>
          <p:nvPr/>
        </p:nvSpPr>
        <p:spPr>
          <a:xfrm>
            <a:off x="7863252" y="2795092"/>
            <a:ext cx="4328748" cy="2857545"/>
          </a:xfrm>
          <a:custGeom>
            <a:avLst/>
            <a:gdLst>
              <a:gd name="connsiteX0" fmla="*/ 4328748 w 4328748"/>
              <a:gd name="connsiteY0" fmla="*/ 0 h 2857545"/>
              <a:gd name="connsiteX1" fmla="*/ 2643969 w 4328748"/>
              <a:gd name="connsiteY1" fmla="*/ 1684779 h 2857545"/>
              <a:gd name="connsiteX2" fmla="*/ 1172767 w 4328748"/>
              <a:gd name="connsiteY2" fmla="*/ 213577 h 2857545"/>
              <a:gd name="connsiteX3" fmla="*/ 0 w 4328748"/>
              <a:gd name="connsiteY3" fmla="*/ 213577 h 2857545"/>
              <a:gd name="connsiteX4" fmla="*/ 2643969 w 4328748"/>
              <a:gd name="connsiteY4" fmla="*/ 2857546 h 2857545"/>
              <a:gd name="connsiteX5" fmla="*/ 4328748 w 4328748"/>
              <a:gd name="connsiteY5" fmla="*/ 1173720 h 2857545"/>
              <a:gd name="connsiteX6" fmla="*/ 4328748 w 4328748"/>
              <a:gd name="connsiteY6" fmla="*/ 0 h 28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8748" h="2857545">
                <a:moveTo>
                  <a:pt x="4328748" y="0"/>
                </a:moveTo>
                <a:lnTo>
                  <a:pt x="2643969" y="1684779"/>
                </a:lnTo>
                <a:lnTo>
                  <a:pt x="1172767" y="213577"/>
                </a:lnTo>
                <a:lnTo>
                  <a:pt x="0" y="213577"/>
                </a:lnTo>
                <a:lnTo>
                  <a:pt x="2643969" y="2857546"/>
                </a:lnTo>
                <a:lnTo>
                  <a:pt x="4328748" y="1173720"/>
                </a:lnTo>
                <a:lnTo>
                  <a:pt x="4328748" y="0"/>
                </a:lnTo>
                <a:close/>
              </a:path>
            </a:pathLst>
          </a:custGeom>
          <a:solidFill>
            <a:srgbClr val="FFC000"/>
          </a:solidFill>
          <a:ln w="9534" cap="flat">
            <a:noFill/>
            <a:prstDash val="solid"/>
            <a:miter/>
          </a:ln>
        </p:spPr>
        <p:txBody>
          <a:bodyPr rtlCol="0" anchor="ctr"/>
          <a:lstStyle/>
          <a:p>
            <a:endParaRPr lang="en-US"/>
          </a:p>
        </p:txBody>
      </p:sp>
    </p:spTree>
    <p:extLst>
      <p:ext uri="{BB962C8B-B14F-4D97-AF65-F5344CB8AC3E}">
        <p14:creationId xmlns:p14="http://schemas.microsoft.com/office/powerpoint/2010/main" val="417488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B78166AA-F786-ED7D-CCAC-35EB80EFE0BE}"/>
              </a:ext>
            </a:extLst>
          </p:cNvPr>
          <p:cNvSpPr/>
          <p:nvPr/>
        </p:nvSpPr>
        <p:spPr>
          <a:xfrm>
            <a:off x="1642993" y="1412332"/>
            <a:ext cx="1214754" cy="1214754"/>
          </a:xfrm>
          <a:prstGeom prst="ellipse">
            <a:avLst/>
          </a:prstGeom>
          <a:gradFill flip="none" rotWithShape="1">
            <a:gsLst>
              <a:gs pos="0">
                <a:srgbClr val="278CCB"/>
              </a:gs>
              <a:gs pos="33000">
                <a:srgbClr val="278CCB"/>
              </a:gs>
              <a:gs pos="76000">
                <a:schemeClr val="bg1">
                  <a:alpha val="1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EF1F5BB8-6FB1-EBC3-0445-CB63F91AD4B6}"/>
              </a:ext>
            </a:extLst>
          </p:cNvPr>
          <p:cNvSpPr/>
          <p:nvPr/>
        </p:nvSpPr>
        <p:spPr>
          <a:xfrm>
            <a:off x="9123330" y="1412332"/>
            <a:ext cx="1214754" cy="1214754"/>
          </a:xfrm>
          <a:prstGeom prst="ellipse">
            <a:avLst/>
          </a:prstGeom>
          <a:gradFill flip="none" rotWithShape="1">
            <a:gsLst>
              <a:gs pos="0">
                <a:srgbClr val="278CCB"/>
              </a:gs>
              <a:gs pos="33000">
                <a:srgbClr val="278CCB"/>
              </a:gs>
              <a:gs pos="76000">
                <a:schemeClr val="bg1">
                  <a:alpha val="1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Top Corners Rounded 31">
            <a:extLst>
              <a:ext uri="{FF2B5EF4-FFF2-40B4-BE49-F238E27FC236}">
                <a16:creationId xmlns:a16="http://schemas.microsoft.com/office/drawing/2014/main" id="{1795D417-04C8-8167-1507-44FED1687D17}"/>
              </a:ext>
            </a:extLst>
          </p:cNvPr>
          <p:cNvSpPr/>
          <p:nvPr/>
        </p:nvSpPr>
        <p:spPr>
          <a:xfrm rot="5400000">
            <a:off x="3681349" y="-3399420"/>
            <a:ext cx="830637" cy="8193338"/>
          </a:xfrm>
          <a:prstGeom prst="round2SameRect">
            <a:avLst>
              <a:gd name="adj1" fmla="val 50000"/>
              <a:gd name="adj2" fmla="val 0"/>
            </a:avLst>
          </a:prstGeom>
          <a:solidFill>
            <a:srgbClr val="278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929FFC66-D8A6-8C38-049A-F48712C838BD}"/>
              </a:ext>
            </a:extLst>
          </p:cNvPr>
          <p:cNvSpPr/>
          <p:nvPr/>
        </p:nvSpPr>
        <p:spPr>
          <a:xfrm>
            <a:off x="5383161" y="1412332"/>
            <a:ext cx="1214754" cy="1214754"/>
          </a:xfrm>
          <a:prstGeom prst="ellipse">
            <a:avLst/>
          </a:prstGeom>
          <a:gradFill flip="none" rotWithShape="1">
            <a:gsLst>
              <a:gs pos="0">
                <a:srgbClr val="278CCB"/>
              </a:gs>
              <a:gs pos="33000">
                <a:srgbClr val="278CCB"/>
              </a:gs>
              <a:gs pos="76000">
                <a:schemeClr val="bg1">
                  <a:alpha val="1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2CE35CE3-9A15-C445-ACA1-F6707A7AB2E9}"/>
              </a:ext>
            </a:extLst>
          </p:cNvPr>
          <p:cNvSpPr/>
          <p:nvPr/>
        </p:nvSpPr>
        <p:spPr>
          <a:xfrm>
            <a:off x="0" y="3941445"/>
            <a:ext cx="12192000" cy="2916555"/>
          </a:xfrm>
          <a:prstGeom prst="rect">
            <a:avLst/>
          </a:prstGeom>
          <a:solidFill>
            <a:srgbClr val="278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22844480-5D09-DC9B-B819-A03208079FC2}"/>
              </a:ext>
            </a:extLst>
          </p:cNvPr>
          <p:cNvSpPr/>
          <p:nvPr/>
        </p:nvSpPr>
        <p:spPr>
          <a:xfrm>
            <a:off x="713000" y="2087336"/>
            <a:ext cx="3074740" cy="3790950"/>
          </a:xfrm>
          <a:prstGeom prst="roundRect">
            <a:avLst>
              <a:gd name="adj" fmla="val 7205"/>
            </a:avLst>
          </a:prstGeom>
          <a:solidFill>
            <a:schemeClr val="bg1"/>
          </a:solidFill>
          <a:ln>
            <a:solidFill>
              <a:srgbClr val="278CCB"/>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endParaRPr>
          </a:p>
        </p:txBody>
      </p:sp>
      <p:sp>
        <p:nvSpPr>
          <p:cNvPr id="12" name="Rectangle: Rounded Corners 11">
            <a:extLst>
              <a:ext uri="{FF2B5EF4-FFF2-40B4-BE49-F238E27FC236}">
                <a16:creationId xmlns:a16="http://schemas.microsoft.com/office/drawing/2014/main" id="{9FE87A84-45BC-1196-EF9C-85F3130FABD1}"/>
              </a:ext>
            </a:extLst>
          </p:cNvPr>
          <p:cNvSpPr/>
          <p:nvPr/>
        </p:nvSpPr>
        <p:spPr>
          <a:xfrm>
            <a:off x="4453168" y="2087336"/>
            <a:ext cx="3074740" cy="3790950"/>
          </a:xfrm>
          <a:prstGeom prst="roundRect">
            <a:avLst>
              <a:gd name="adj" fmla="val 7259"/>
            </a:avLst>
          </a:prstGeom>
          <a:solidFill>
            <a:schemeClr val="bg1"/>
          </a:solidFill>
          <a:ln>
            <a:gradFill flip="none" rotWithShape="1">
              <a:gsLst>
                <a:gs pos="27000">
                  <a:schemeClr val="accent1">
                    <a:lumMod val="5000"/>
                    <a:lumOff val="95000"/>
                    <a:alpha val="0"/>
                  </a:schemeClr>
                </a:gs>
                <a:gs pos="64000">
                  <a:srgbClr val="278CCB"/>
                </a:gs>
              </a:gsLst>
              <a:lin ang="16200000" scaled="1"/>
              <a:tileRect/>
            </a:gra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endParaRPr>
          </a:p>
        </p:txBody>
      </p:sp>
      <p:sp>
        <p:nvSpPr>
          <p:cNvPr id="13" name="Rectangle: Rounded Corners 12">
            <a:extLst>
              <a:ext uri="{FF2B5EF4-FFF2-40B4-BE49-F238E27FC236}">
                <a16:creationId xmlns:a16="http://schemas.microsoft.com/office/drawing/2014/main" id="{AFC4DA9A-2CFE-6400-77B1-03D8F63311D1}"/>
              </a:ext>
            </a:extLst>
          </p:cNvPr>
          <p:cNvSpPr/>
          <p:nvPr/>
        </p:nvSpPr>
        <p:spPr>
          <a:xfrm>
            <a:off x="8193336" y="2087336"/>
            <a:ext cx="3074740" cy="3790950"/>
          </a:xfrm>
          <a:prstGeom prst="roundRect">
            <a:avLst>
              <a:gd name="adj" fmla="val 7259"/>
            </a:avLst>
          </a:prstGeom>
          <a:solidFill>
            <a:schemeClr val="bg1"/>
          </a:solidFill>
          <a:ln>
            <a:solidFill>
              <a:srgbClr val="278CCB"/>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endParaRPr>
          </a:p>
        </p:txBody>
      </p:sp>
      <p:sp>
        <p:nvSpPr>
          <p:cNvPr id="26" name="Oval 25">
            <a:extLst>
              <a:ext uri="{FF2B5EF4-FFF2-40B4-BE49-F238E27FC236}">
                <a16:creationId xmlns:a16="http://schemas.microsoft.com/office/drawing/2014/main" id="{554DE67E-3683-CE5B-D9EC-09A1930BF7A1}"/>
              </a:ext>
            </a:extLst>
          </p:cNvPr>
          <p:cNvSpPr/>
          <p:nvPr/>
        </p:nvSpPr>
        <p:spPr>
          <a:xfrm>
            <a:off x="1833740" y="1603079"/>
            <a:ext cx="833260" cy="833260"/>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97FEC90D-2ABB-446D-D115-858FA6F9409E}"/>
              </a:ext>
            </a:extLst>
          </p:cNvPr>
          <p:cNvSpPr/>
          <p:nvPr/>
        </p:nvSpPr>
        <p:spPr>
          <a:xfrm>
            <a:off x="5573908" y="1603079"/>
            <a:ext cx="833260" cy="833260"/>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2EAD18A4-7394-3026-2D77-2EB856E932BA}"/>
              </a:ext>
            </a:extLst>
          </p:cNvPr>
          <p:cNvSpPr/>
          <p:nvPr/>
        </p:nvSpPr>
        <p:spPr>
          <a:xfrm>
            <a:off x="9314076" y="1603079"/>
            <a:ext cx="833260" cy="833260"/>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itle 1"/>
          <p:cNvSpPr txBox="1">
            <a:spLocks/>
          </p:cNvSpPr>
          <p:nvPr/>
        </p:nvSpPr>
        <p:spPr>
          <a:xfrm>
            <a:off x="387350" y="475648"/>
            <a:ext cx="6968790" cy="44319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chemeClr val="bg1"/>
                </a:solidFill>
                <a:latin typeface="Arial Black" pitchFamily="34" charset="0"/>
              </a:rPr>
              <a:t>Hospitality industry trends </a:t>
            </a:r>
            <a:r>
              <a:rPr lang="en-US" sz="2400" dirty="0">
                <a:solidFill>
                  <a:schemeClr val="bg1"/>
                </a:solidFill>
                <a:latin typeface="+mn-lt"/>
              </a:rPr>
              <a:t>in 2024</a:t>
            </a:r>
          </a:p>
        </p:txBody>
      </p:sp>
      <p:sp>
        <p:nvSpPr>
          <p:cNvPr id="17" name="Rectangle 16"/>
          <p:cNvSpPr/>
          <p:nvPr/>
        </p:nvSpPr>
        <p:spPr>
          <a:xfrm>
            <a:off x="990230" y="2626835"/>
            <a:ext cx="2520280" cy="646331"/>
          </a:xfrm>
          <a:prstGeom prst="rect">
            <a:avLst/>
          </a:prstGeom>
        </p:spPr>
        <p:txBody>
          <a:bodyPr wrap="square" lIns="0" tIns="0" rIns="0" bIns="0" anchor="ctr">
            <a:noAutofit/>
          </a:bodyPr>
          <a:lstStyle/>
          <a:p>
            <a:pPr algn="ctr"/>
            <a:r>
              <a:rPr lang="en-AU" dirty="0"/>
              <a:t>Catering to millennials</a:t>
            </a:r>
          </a:p>
        </p:txBody>
      </p:sp>
      <p:sp>
        <p:nvSpPr>
          <p:cNvPr id="19" name="Rectangle 18"/>
          <p:cNvSpPr/>
          <p:nvPr/>
        </p:nvSpPr>
        <p:spPr>
          <a:xfrm>
            <a:off x="4730398" y="2673001"/>
            <a:ext cx="2520280" cy="553998"/>
          </a:xfrm>
          <a:prstGeom prst="rect">
            <a:avLst/>
          </a:prstGeom>
        </p:spPr>
        <p:txBody>
          <a:bodyPr wrap="square" lIns="0" tIns="0" rIns="0" bIns="0" anchor="t">
            <a:noAutofit/>
          </a:bodyPr>
          <a:lstStyle/>
          <a:p>
            <a:pPr algn="ctr"/>
            <a:r>
              <a:rPr lang="en-AU" dirty="0"/>
              <a:t>Need for seamless technology</a:t>
            </a:r>
            <a:endParaRPr lang="en-AU" sz="1100" dirty="0"/>
          </a:p>
        </p:txBody>
      </p:sp>
      <p:sp>
        <p:nvSpPr>
          <p:cNvPr id="20" name="Rectangle 19"/>
          <p:cNvSpPr/>
          <p:nvPr/>
        </p:nvSpPr>
        <p:spPr>
          <a:xfrm>
            <a:off x="8470566" y="2673001"/>
            <a:ext cx="2520280" cy="553998"/>
          </a:xfrm>
          <a:prstGeom prst="rect">
            <a:avLst/>
          </a:prstGeom>
        </p:spPr>
        <p:txBody>
          <a:bodyPr wrap="square" lIns="0" tIns="0" rIns="0" bIns="0" anchor="ctr">
            <a:noAutofit/>
          </a:bodyPr>
          <a:lstStyle/>
          <a:p>
            <a:pPr algn="ctr"/>
            <a:r>
              <a:rPr lang="en-SG" dirty="0"/>
              <a:t>Delivering a frictionless guest experience</a:t>
            </a:r>
            <a:endParaRPr lang="en-AU" sz="1100" dirty="0"/>
          </a:p>
        </p:txBody>
      </p:sp>
      <p:sp>
        <p:nvSpPr>
          <p:cNvPr id="21" name="Rectangle 20"/>
          <p:cNvSpPr/>
          <p:nvPr/>
        </p:nvSpPr>
        <p:spPr>
          <a:xfrm>
            <a:off x="990230" y="4618884"/>
            <a:ext cx="2520280" cy="646331"/>
          </a:xfrm>
          <a:prstGeom prst="rect">
            <a:avLst/>
          </a:prstGeom>
        </p:spPr>
        <p:txBody>
          <a:bodyPr wrap="square" anchor="ctr">
            <a:spAutoFit/>
          </a:bodyPr>
          <a:lstStyle/>
          <a:p>
            <a:pPr lvl="0">
              <a:buClr>
                <a:srgbClr val="0072CE"/>
              </a:buClr>
            </a:pPr>
            <a:r>
              <a:rPr lang="en-SG" dirty="0">
                <a:solidFill>
                  <a:srgbClr val="0072CE"/>
                </a:solidFill>
              </a:rPr>
              <a:t>Augmented reality (AR) and virtual reality (VR)</a:t>
            </a:r>
            <a:endParaRPr lang="en-AU" sz="1100" dirty="0">
              <a:solidFill>
                <a:srgbClr val="000000"/>
              </a:solidFill>
            </a:endParaRPr>
          </a:p>
        </p:txBody>
      </p:sp>
      <p:sp>
        <p:nvSpPr>
          <p:cNvPr id="22" name="Rectangle 21"/>
          <p:cNvSpPr/>
          <p:nvPr/>
        </p:nvSpPr>
        <p:spPr>
          <a:xfrm>
            <a:off x="990230" y="3645943"/>
            <a:ext cx="2520280" cy="646331"/>
          </a:xfrm>
          <a:prstGeom prst="rect">
            <a:avLst/>
          </a:prstGeom>
        </p:spPr>
        <p:txBody>
          <a:bodyPr wrap="square" anchor="ctr">
            <a:spAutoFit/>
          </a:bodyPr>
          <a:lstStyle/>
          <a:p>
            <a:pPr algn="ctr">
              <a:spcBef>
                <a:spcPts val="600"/>
              </a:spcBef>
            </a:pPr>
            <a:r>
              <a:rPr lang="en-AU" dirty="0"/>
              <a:t>Sustainability is key</a:t>
            </a:r>
            <a:endParaRPr lang="en-AU" sz="1100" dirty="0"/>
          </a:p>
        </p:txBody>
      </p:sp>
      <p:sp>
        <p:nvSpPr>
          <p:cNvPr id="23" name="Rectangle 22"/>
          <p:cNvSpPr/>
          <p:nvPr/>
        </p:nvSpPr>
        <p:spPr>
          <a:xfrm>
            <a:off x="4730398" y="3645943"/>
            <a:ext cx="2520280" cy="646331"/>
          </a:xfrm>
          <a:prstGeom prst="rect">
            <a:avLst/>
          </a:prstGeom>
        </p:spPr>
        <p:txBody>
          <a:bodyPr wrap="square">
            <a:spAutoFit/>
          </a:bodyPr>
          <a:lstStyle/>
          <a:p>
            <a:pPr algn="ctr"/>
            <a:r>
              <a:rPr lang="en-SG" dirty="0"/>
              <a:t>Increased emphasis on health and well-being</a:t>
            </a:r>
          </a:p>
        </p:txBody>
      </p:sp>
      <p:sp>
        <p:nvSpPr>
          <p:cNvPr id="24" name="Rectangle 23"/>
          <p:cNvSpPr/>
          <p:nvPr/>
        </p:nvSpPr>
        <p:spPr>
          <a:xfrm>
            <a:off x="8490259" y="3645943"/>
            <a:ext cx="2520280" cy="646331"/>
          </a:xfrm>
          <a:prstGeom prst="rect">
            <a:avLst/>
          </a:prstGeom>
        </p:spPr>
        <p:txBody>
          <a:bodyPr wrap="square" lIns="0" tIns="0" rIns="0" bIns="0" anchor="ctr">
            <a:spAutoFit/>
          </a:bodyPr>
          <a:lstStyle/>
          <a:p>
            <a:pPr algn="ctr"/>
            <a:r>
              <a:rPr lang="en-SG" dirty="0"/>
              <a:t>Offering experiential travel</a:t>
            </a:r>
            <a:endParaRPr lang="en-AU" sz="1100" dirty="0"/>
          </a:p>
        </p:txBody>
      </p:sp>
      <p:sp>
        <p:nvSpPr>
          <p:cNvPr id="25" name="Rectangle 24"/>
          <p:cNvSpPr/>
          <p:nvPr/>
        </p:nvSpPr>
        <p:spPr>
          <a:xfrm>
            <a:off x="8490259" y="4711217"/>
            <a:ext cx="2520280" cy="553998"/>
          </a:xfrm>
          <a:prstGeom prst="rect">
            <a:avLst/>
          </a:prstGeom>
        </p:spPr>
        <p:txBody>
          <a:bodyPr wrap="square" lIns="0" tIns="0" rIns="0" bIns="0" anchor="ctr">
            <a:spAutoFit/>
          </a:bodyPr>
          <a:lstStyle/>
          <a:p>
            <a:pPr algn="ctr"/>
            <a:r>
              <a:rPr lang="en-SG" dirty="0"/>
              <a:t>Local and green design, with the comforts of home</a:t>
            </a:r>
            <a:endParaRPr lang="en-AU" sz="1100" dirty="0"/>
          </a:p>
        </p:txBody>
      </p:sp>
      <p:sp>
        <p:nvSpPr>
          <p:cNvPr id="2" name="Oval 1">
            <a:extLst>
              <a:ext uri="{FF2B5EF4-FFF2-40B4-BE49-F238E27FC236}">
                <a16:creationId xmlns:a16="http://schemas.microsoft.com/office/drawing/2014/main" id="{2DD57727-73CE-90B0-ABEF-B2679AC310BA}"/>
              </a:ext>
            </a:extLst>
          </p:cNvPr>
          <p:cNvSpPr/>
          <p:nvPr/>
        </p:nvSpPr>
        <p:spPr>
          <a:xfrm>
            <a:off x="7748587" y="918846"/>
            <a:ext cx="295275" cy="295275"/>
          </a:xfrm>
          <a:prstGeom prst="ellipse">
            <a:avLst/>
          </a:prstGeom>
          <a:gradFill flip="none" rotWithShape="1">
            <a:gsLst>
              <a:gs pos="0">
                <a:schemeClr val="bg1"/>
              </a:gs>
              <a:gs pos="50000">
                <a:srgbClr val="7FBBE0"/>
              </a:gs>
              <a:gs pos="100000">
                <a:srgbClr val="278CCB">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D22648E0-B8DE-F613-B9EC-63E34F73E48A}"/>
              </a:ext>
            </a:extLst>
          </p:cNvPr>
          <p:cNvSpPr/>
          <p:nvPr/>
        </p:nvSpPr>
        <p:spPr>
          <a:xfrm>
            <a:off x="8079014" y="918846"/>
            <a:ext cx="228643" cy="228643"/>
          </a:xfrm>
          <a:prstGeom prst="ellipse">
            <a:avLst/>
          </a:prstGeom>
          <a:gradFill flip="none" rotWithShape="1">
            <a:gsLst>
              <a:gs pos="0">
                <a:schemeClr val="bg1"/>
              </a:gs>
              <a:gs pos="50000">
                <a:srgbClr val="7FBBE0"/>
              </a:gs>
              <a:gs pos="100000">
                <a:srgbClr val="278CCB">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1FB2F26C-5E87-D7DA-4A42-BF0E0843CA6E}"/>
              </a:ext>
            </a:extLst>
          </p:cNvPr>
          <p:cNvSpPr/>
          <p:nvPr/>
        </p:nvSpPr>
        <p:spPr>
          <a:xfrm>
            <a:off x="9170336" y="5773261"/>
            <a:ext cx="1120740" cy="105025"/>
          </a:xfrm>
          <a:prstGeom prst="roundRect">
            <a:avLst>
              <a:gd name="adj" fmla="val 50000"/>
            </a:avLst>
          </a:prstGeom>
          <a:solidFill>
            <a:srgbClr val="278CCB"/>
          </a:solidFill>
          <a:ln>
            <a:solidFill>
              <a:srgbClr val="278CC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endParaRPr>
          </a:p>
        </p:txBody>
      </p:sp>
      <p:sp>
        <p:nvSpPr>
          <p:cNvPr id="5" name="Rectangle: Rounded Corners 4">
            <a:extLst>
              <a:ext uri="{FF2B5EF4-FFF2-40B4-BE49-F238E27FC236}">
                <a16:creationId xmlns:a16="http://schemas.microsoft.com/office/drawing/2014/main" id="{215C5BE6-0810-3E89-478D-C9073D73DA1E}"/>
              </a:ext>
            </a:extLst>
          </p:cNvPr>
          <p:cNvSpPr/>
          <p:nvPr/>
        </p:nvSpPr>
        <p:spPr>
          <a:xfrm>
            <a:off x="5430169" y="5773261"/>
            <a:ext cx="1120740" cy="105025"/>
          </a:xfrm>
          <a:prstGeom prst="roundRect">
            <a:avLst>
              <a:gd name="adj" fmla="val 50000"/>
            </a:avLst>
          </a:prstGeom>
          <a:solidFill>
            <a:srgbClr val="278CCB"/>
          </a:solidFill>
          <a:ln>
            <a:solidFill>
              <a:srgbClr val="278CC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endParaRPr>
          </a:p>
        </p:txBody>
      </p:sp>
      <p:sp>
        <p:nvSpPr>
          <p:cNvPr id="7" name="Rectangle: Rounded Corners 6">
            <a:extLst>
              <a:ext uri="{FF2B5EF4-FFF2-40B4-BE49-F238E27FC236}">
                <a16:creationId xmlns:a16="http://schemas.microsoft.com/office/drawing/2014/main" id="{CE139775-1EE1-6745-BA9B-B7CD0FD22217}"/>
              </a:ext>
            </a:extLst>
          </p:cNvPr>
          <p:cNvSpPr/>
          <p:nvPr/>
        </p:nvSpPr>
        <p:spPr>
          <a:xfrm>
            <a:off x="1690000" y="5773261"/>
            <a:ext cx="1120740" cy="105025"/>
          </a:xfrm>
          <a:prstGeom prst="roundRect">
            <a:avLst>
              <a:gd name="adj" fmla="val 50000"/>
            </a:avLst>
          </a:prstGeom>
          <a:solidFill>
            <a:srgbClr val="278CCB"/>
          </a:solidFill>
          <a:ln>
            <a:solidFill>
              <a:srgbClr val="278CC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endParaRPr>
          </a:p>
        </p:txBody>
      </p:sp>
      <p:cxnSp>
        <p:nvCxnSpPr>
          <p:cNvPr id="9" name="Straight Connector 8">
            <a:extLst>
              <a:ext uri="{FF2B5EF4-FFF2-40B4-BE49-F238E27FC236}">
                <a16:creationId xmlns:a16="http://schemas.microsoft.com/office/drawing/2014/main" id="{DB2847FE-9149-C73D-E7BF-7BD41D2D0D4D}"/>
              </a:ext>
            </a:extLst>
          </p:cNvPr>
          <p:cNvCxnSpPr/>
          <p:nvPr/>
        </p:nvCxnSpPr>
        <p:spPr>
          <a:xfrm>
            <a:off x="990230" y="3429000"/>
            <a:ext cx="252028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01BA6DE-753D-605A-5285-20BF071CB022}"/>
              </a:ext>
            </a:extLst>
          </p:cNvPr>
          <p:cNvCxnSpPr/>
          <p:nvPr/>
        </p:nvCxnSpPr>
        <p:spPr>
          <a:xfrm>
            <a:off x="990230" y="4457700"/>
            <a:ext cx="252028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71DED0C-C483-C861-2641-BC0DC10D4522}"/>
              </a:ext>
            </a:extLst>
          </p:cNvPr>
          <p:cNvCxnSpPr/>
          <p:nvPr/>
        </p:nvCxnSpPr>
        <p:spPr>
          <a:xfrm>
            <a:off x="4730398" y="3429000"/>
            <a:ext cx="252028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9B35310-4611-B395-9455-0C3E1198E9E7}"/>
              </a:ext>
            </a:extLst>
          </p:cNvPr>
          <p:cNvCxnSpPr/>
          <p:nvPr/>
        </p:nvCxnSpPr>
        <p:spPr>
          <a:xfrm>
            <a:off x="4730398" y="4457700"/>
            <a:ext cx="252028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3FCA84A-2648-58E1-D936-40ACF83D5B82}"/>
              </a:ext>
            </a:extLst>
          </p:cNvPr>
          <p:cNvCxnSpPr/>
          <p:nvPr/>
        </p:nvCxnSpPr>
        <p:spPr>
          <a:xfrm>
            <a:off x="8470567" y="3429000"/>
            <a:ext cx="252028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CB855D-AA2F-A151-A623-62F377B9AD30}"/>
              </a:ext>
            </a:extLst>
          </p:cNvPr>
          <p:cNvCxnSpPr/>
          <p:nvPr/>
        </p:nvCxnSpPr>
        <p:spPr>
          <a:xfrm>
            <a:off x="8470567" y="4457700"/>
            <a:ext cx="2520280"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7623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a:extLst>
              <a:ext uri="{FF2B5EF4-FFF2-40B4-BE49-F238E27FC236}">
                <a16:creationId xmlns:a16="http://schemas.microsoft.com/office/drawing/2014/main" id="{F818FFE1-44C3-8F21-FDFF-8926530B298F}"/>
              </a:ext>
            </a:extLst>
          </p:cNvPr>
          <p:cNvSpPr/>
          <p:nvPr/>
        </p:nvSpPr>
        <p:spPr>
          <a:xfrm>
            <a:off x="993790" y="3099650"/>
            <a:ext cx="3738170" cy="3055916"/>
          </a:xfrm>
          <a:custGeom>
            <a:avLst/>
            <a:gdLst/>
            <a:ahLst/>
            <a:cxnLst>
              <a:cxn ang="0">
                <a:pos x="wd2" y="hd2"/>
              </a:cxn>
              <a:cxn ang="5400000">
                <a:pos x="wd2" y="hd2"/>
              </a:cxn>
              <a:cxn ang="10800000">
                <a:pos x="wd2" y="hd2"/>
              </a:cxn>
              <a:cxn ang="16200000">
                <a:pos x="wd2" y="hd2"/>
              </a:cxn>
            </a:cxnLst>
            <a:rect l="0" t="0" r="r" b="b"/>
            <a:pathLst>
              <a:path w="19551" h="20594" extrusionOk="0">
                <a:moveTo>
                  <a:pt x="17291" y="5825"/>
                </a:moveTo>
                <a:cubicBezTo>
                  <a:pt x="16775" y="4427"/>
                  <a:pt x="16203" y="3011"/>
                  <a:pt x="15255" y="2050"/>
                </a:cubicBezTo>
                <a:cubicBezTo>
                  <a:pt x="12731" y="-554"/>
                  <a:pt x="8227" y="-257"/>
                  <a:pt x="5229" y="652"/>
                </a:cubicBezTo>
                <a:cubicBezTo>
                  <a:pt x="2078" y="1613"/>
                  <a:pt x="0" y="4392"/>
                  <a:pt x="0" y="8586"/>
                </a:cubicBezTo>
                <a:cubicBezTo>
                  <a:pt x="0" y="10805"/>
                  <a:pt x="502" y="13129"/>
                  <a:pt x="1924" y="14580"/>
                </a:cubicBezTo>
                <a:cubicBezTo>
                  <a:pt x="3179" y="15838"/>
                  <a:pt x="4797" y="16293"/>
                  <a:pt x="6136" y="17394"/>
                </a:cubicBezTo>
                <a:cubicBezTo>
                  <a:pt x="7446" y="18477"/>
                  <a:pt x="8576" y="20120"/>
                  <a:pt x="10193" y="20487"/>
                </a:cubicBezTo>
                <a:cubicBezTo>
                  <a:pt x="12592" y="21046"/>
                  <a:pt x="14990" y="19298"/>
                  <a:pt x="17110" y="18128"/>
                </a:cubicBezTo>
                <a:cubicBezTo>
                  <a:pt x="21600" y="15611"/>
                  <a:pt x="18811" y="9966"/>
                  <a:pt x="17291" y="5825"/>
                </a:cubicBezTo>
                <a:close/>
              </a:path>
            </a:pathLst>
          </a:custGeom>
          <a:solidFill>
            <a:srgbClr val="278CCB"/>
          </a:solidFill>
          <a:ln w="12700">
            <a:miter lim="400000"/>
          </a:ln>
        </p:spPr>
        <p:txBody>
          <a:bodyPr lIns="38100" tIns="38100" rIns="38100" bIns="38100" anchor="ctr"/>
          <a:lstStyle/>
          <a:p>
            <a:pPr>
              <a:defRPr sz="3000">
                <a:solidFill>
                  <a:srgbClr val="FFFFFF"/>
                </a:solidFill>
              </a:defRPr>
            </a:pPr>
            <a:endParaRPr/>
          </a:p>
        </p:txBody>
      </p:sp>
      <p:sp>
        <p:nvSpPr>
          <p:cNvPr id="24" name="Shape">
            <a:extLst>
              <a:ext uri="{FF2B5EF4-FFF2-40B4-BE49-F238E27FC236}">
                <a16:creationId xmlns:a16="http://schemas.microsoft.com/office/drawing/2014/main" id="{05E6D4EF-4A61-08DB-B335-4F68965E67E8}"/>
              </a:ext>
            </a:extLst>
          </p:cNvPr>
          <p:cNvSpPr/>
          <p:nvPr/>
        </p:nvSpPr>
        <p:spPr>
          <a:xfrm>
            <a:off x="1149380" y="3047788"/>
            <a:ext cx="3568240" cy="3180306"/>
          </a:xfrm>
          <a:custGeom>
            <a:avLst/>
            <a:gdLst/>
            <a:ahLst/>
            <a:cxnLst>
              <a:cxn ang="0">
                <a:pos x="wd2" y="hd2"/>
              </a:cxn>
              <a:cxn ang="5400000">
                <a:pos x="wd2" y="hd2"/>
              </a:cxn>
              <a:cxn ang="10800000">
                <a:pos x="wd2" y="hd2"/>
              </a:cxn>
              <a:cxn ang="16200000">
                <a:pos x="wd2" y="hd2"/>
              </a:cxn>
            </a:cxnLst>
            <a:rect l="0" t="0" r="r" b="b"/>
            <a:pathLst>
              <a:path w="21570" h="21520" extrusionOk="0">
                <a:moveTo>
                  <a:pt x="20516" y="8520"/>
                </a:moveTo>
                <a:cubicBezTo>
                  <a:pt x="20241" y="7134"/>
                  <a:pt x="19933" y="5713"/>
                  <a:pt x="19189" y="4520"/>
                </a:cubicBezTo>
                <a:cubicBezTo>
                  <a:pt x="18606" y="3590"/>
                  <a:pt x="17796" y="2853"/>
                  <a:pt x="16922" y="2256"/>
                </a:cubicBezTo>
                <a:cubicBezTo>
                  <a:pt x="15999" y="1642"/>
                  <a:pt x="14995" y="1203"/>
                  <a:pt x="13959" y="870"/>
                </a:cubicBezTo>
                <a:cubicBezTo>
                  <a:pt x="12906" y="536"/>
                  <a:pt x="11821" y="308"/>
                  <a:pt x="10736" y="168"/>
                </a:cubicBezTo>
                <a:cubicBezTo>
                  <a:pt x="9716" y="28"/>
                  <a:pt x="8696" y="-25"/>
                  <a:pt x="7660" y="10"/>
                </a:cubicBezTo>
                <a:cubicBezTo>
                  <a:pt x="6624" y="45"/>
                  <a:pt x="5587" y="238"/>
                  <a:pt x="4632" y="659"/>
                </a:cubicBezTo>
                <a:cubicBezTo>
                  <a:pt x="3742" y="1045"/>
                  <a:pt x="2916" y="1607"/>
                  <a:pt x="2236" y="2344"/>
                </a:cubicBezTo>
                <a:cubicBezTo>
                  <a:pt x="1523" y="3098"/>
                  <a:pt x="989" y="4028"/>
                  <a:pt x="633" y="5028"/>
                </a:cubicBezTo>
                <a:cubicBezTo>
                  <a:pt x="196" y="6222"/>
                  <a:pt x="-15" y="7538"/>
                  <a:pt x="1" y="8801"/>
                </a:cubicBezTo>
                <a:cubicBezTo>
                  <a:pt x="17" y="10117"/>
                  <a:pt x="325" y="11451"/>
                  <a:pt x="1037" y="12556"/>
                </a:cubicBezTo>
                <a:cubicBezTo>
                  <a:pt x="1766" y="13679"/>
                  <a:pt x="2819" y="14469"/>
                  <a:pt x="3806" y="15276"/>
                </a:cubicBezTo>
                <a:cubicBezTo>
                  <a:pt x="4324" y="15697"/>
                  <a:pt x="4826" y="16136"/>
                  <a:pt x="5280" y="16627"/>
                </a:cubicBezTo>
                <a:cubicBezTo>
                  <a:pt x="5685" y="17083"/>
                  <a:pt x="6057" y="17574"/>
                  <a:pt x="6413" y="18066"/>
                </a:cubicBezTo>
                <a:cubicBezTo>
                  <a:pt x="7142" y="19048"/>
                  <a:pt x="7870" y="20066"/>
                  <a:pt x="8891" y="20698"/>
                </a:cubicBezTo>
                <a:cubicBezTo>
                  <a:pt x="10024" y="21400"/>
                  <a:pt x="11384" y="21575"/>
                  <a:pt x="12663" y="21505"/>
                </a:cubicBezTo>
                <a:cubicBezTo>
                  <a:pt x="14023" y="21435"/>
                  <a:pt x="15351" y="21119"/>
                  <a:pt x="16679" y="20803"/>
                </a:cubicBezTo>
                <a:cubicBezTo>
                  <a:pt x="17699" y="20575"/>
                  <a:pt x="18751" y="20399"/>
                  <a:pt x="19658" y="19785"/>
                </a:cubicBezTo>
                <a:cubicBezTo>
                  <a:pt x="20306" y="19347"/>
                  <a:pt x="20824" y="18697"/>
                  <a:pt x="21132" y="17943"/>
                </a:cubicBezTo>
                <a:cubicBezTo>
                  <a:pt x="21439" y="17171"/>
                  <a:pt x="21553" y="16329"/>
                  <a:pt x="21569" y="15486"/>
                </a:cubicBezTo>
                <a:cubicBezTo>
                  <a:pt x="21585" y="14556"/>
                  <a:pt x="21472" y="13609"/>
                  <a:pt x="21326" y="12679"/>
                </a:cubicBezTo>
                <a:cubicBezTo>
                  <a:pt x="21180" y="11714"/>
                  <a:pt x="20970" y="10766"/>
                  <a:pt x="20775" y="9819"/>
                </a:cubicBezTo>
                <a:cubicBezTo>
                  <a:pt x="20678" y="9380"/>
                  <a:pt x="20597" y="8941"/>
                  <a:pt x="20516" y="8520"/>
                </a:cubicBezTo>
                <a:cubicBezTo>
                  <a:pt x="20500" y="8450"/>
                  <a:pt x="20387" y="8468"/>
                  <a:pt x="20403" y="8555"/>
                </a:cubicBezTo>
                <a:cubicBezTo>
                  <a:pt x="20581" y="9450"/>
                  <a:pt x="20775" y="10363"/>
                  <a:pt x="20953" y="11258"/>
                </a:cubicBezTo>
                <a:cubicBezTo>
                  <a:pt x="21132" y="12188"/>
                  <a:pt x="21293" y="13117"/>
                  <a:pt x="21391" y="14065"/>
                </a:cubicBezTo>
                <a:cubicBezTo>
                  <a:pt x="21472" y="14942"/>
                  <a:pt x="21488" y="15837"/>
                  <a:pt x="21342" y="16715"/>
                </a:cubicBezTo>
                <a:cubicBezTo>
                  <a:pt x="21212" y="17504"/>
                  <a:pt x="20937" y="18259"/>
                  <a:pt x="20451" y="18873"/>
                </a:cubicBezTo>
                <a:cubicBezTo>
                  <a:pt x="19901" y="19575"/>
                  <a:pt x="19140" y="20013"/>
                  <a:pt x="18330" y="20277"/>
                </a:cubicBezTo>
                <a:cubicBezTo>
                  <a:pt x="17780" y="20452"/>
                  <a:pt x="17197" y="20557"/>
                  <a:pt x="16614" y="20680"/>
                </a:cubicBezTo>
                <a:cubicBezTo>
                  <a:pt x="15966" y="20838"/>
                  <a:pt x="15302" y="20978"/>
                  <a:pt x="14639" y="21119"/>
                </a:cubicBezTo>
                <a:cubicBezTo>
                  <a:pt x="13327" y="21364"/>
                  <a:pt x="11967" y="21522"/>
                  <a:pt x="10655" y="21242"/>
                </a:cubicBezTo>
                <a:cubicBezTo>
                  <a:pt x="10040" y="21119"/>
                  <a:pt x="9425" y="20891"/>
                  <a:pt x="8874" y="20540"/>
                </a:cubicBezTo>
                <a:cubicBezTo>
                  <a:pt x="8372" y="20224"/>
                  <a:pt x="7935" y="19803"/>
                  <a:pt x="7547" y="19347"/>
                </a:cubicBezTo>
                <a:cubicBezTo>
                  <a:pt x="6769" y="18452"/>
                  <a:pt x="6138" y="17399"/>
                  <a:pt x="5328" y="16522"/>
                </a:cubicBezTo>
                <a:cubicBezTo>
                  <a:pt x="4454" y="15556"/>
                  <a:pt x="3385" y="14837"/>
                  <a:pt x="2430" y="13977"/>
                </a:cubicBezTo>
                <a:cubicBezTo>
                  <a:pt x="1960" y="13539"/>
                  <a:pt x="1507" y="13065"/>
                  <a:pt x="1135" y="12521"/>
                </a:cubicBezTo>
                <a:cubicBezTo>
                  <a:pt x="778" y="11977"/>
                  <a:pt x="519" y="11380"/>
                  <a:pt x="341" y="10731"/>
                </a:cubicBezTo>
                <a:cubicBezTo>
                  <a:pt x="1" y="9450"/>
                  <a:pt x="34" y="8064"/>
                  <a:pt x="260" y="6766"/>
                </a:cubicBezTo>
                <a:cubicBezTo>
                  <a:pt x="471" y="5643"/>
                  <a:pt x="827" y="4537"/>
                  <a:pt x="1410" y="3572"/>
                </a:cubicBezTo>
                <a:cubicBezTo>
                  <a:pt x="1928" y="2712"/>
                  <a:pt x="2624" y="1975"/>
                  <a:pt x="3434" y="1414"/>
                </a:cubicBezTo>
                <a:cubicBezTo>
                  <a:pt x="4260" y="852"/>
                  <a:pt x="5199" y="484"/>
                  <a:pt x="6154" y="291"/>
                </a:cubicBezTo>
                <a:cubicBezTo>
                  <a:pt x="7142" y="98"/>
                  <a:pt x="8162" y="98"/>
                  <a:pt x="9182" y="150"/>
                </a:cubicBezTo>
                <a:cubicBezTo>
                  <a:pt x="10234" y="203"/>
                  <a:pt x="11303" y="343"/>
                  <a:pt x="12339" y="572"/>
                </a:cubicBezTo>
                <a:cubicBezTo>
                  <a:pt x="13408" y="800"/>
                  <a:pt x="14461" y="1133"/>
                  <a:pt x="15448" y="1589"/>
                </a:cubicBezTo>
                <a:cubicBezTo>
                  <a:pt x="16387" y="2028"/>
                  <a:pt x="17294" y="2589"/>
                  <a:pt x="18055" y="3344"/>
                </a:cubicBezTo>
                <a:cubicBezTo>
                  <a:pt x="18444" y="3730"/>
                  <a:pt x="18800" y="4151"/>
                  <a:pt x="19091" y="4625"/>
                </a:cubicBezTo>
                <a:cubicBezTo>
                  <a:pt x="19448" y="5221"/>
                  <a:pt x="19707" y="5888"/>
                  <a:pt x="19917" y="6555"/>
                </a:cubicBezTo>
                <a:cubicBezTo>
                  <a:pt x="20111" y="7204"/>
                  <a:pt x="20257" y="7871"/>
                  <a:pt x="20371" y="8538"/>
                </a:cubicBezTo>
                <a:cubicBezTo>
                  <a:pt x="20419" y="8626"/>
                  <a:pt x="20532" y="8590"/>
                  <a:pt x="20516" y="8520"/>
                </a:cubicBez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defRPr>
            </a:pPr>
            <a:endParaRPr dirty="0"/>
          </a:p>
        </p:txBody>
      </p:sp>
      <p:sp>
        <p:nvSpPr>
          <p:cNvPr id="25" name="Shape">
            <a:extLst>
              <a:ext uri="{FF2B5EF4-FFF2-40B4-BE49-F238E27FC236}">
                <a16:creationId xmlns:a16="http://schemas.microsoft.com/office/drawing/2014/main" id="{1D627289-8726-89B8-A20C-D23CC830F0C6}"/>
              </a:ext>
            </a:extLst>
          </p:cNvPr>
          <p:cNvSpPr/>
          <p:nvPr/>
        </p:nvSpPr>
        <p:spPr>
          <a:xfrm>
            <a:off x="1823603" y="5459434"/>
            <a:ext cx="525979" cy="443799"/>
          </a:xfrm>
          <a:custGeom>
            <a:avLst/>
            <a:gdLst/>
            <a:ahLst/>
            <a:cxnLst>
              <a:cxn ang="0">
                <a:pos x="wd2" y="hd2"/>
              </a:cxn>
              <a:cxn ang="5400000">
                <a:pos x="wd2" y="hd2"/>
              </a:cxn>
              <a:cxn ang="10800000">
                <a:pos x="wd2" y="hd2"/>
              </a:cxn>
              <a:cxn ang="16200000">
                <a:pos x="wd2" y="hd2"/>
              </a:cxn>
            </a:cxnLst>
            <a:rect l="0" t="0" r="r" b="b"/>
            <a:pathLst>
              <a:path w="19559" h="20537" extrusionOk="0">
                <a:moveTo>
                  <a:pt x="17261" y="5778"/>
                </a:moveTo>
                <a:cubicBezTo>
                  <a:pt x="16779" y="4338"/>
                  <a:pt x="16200" y="3018"/>
                  <a:pt x="15236" y="2058"/>
                </a:cubicBezTo>
                <a:cubicBezTo>
                  <a:pt x="12728" y="-582"/>
                  <a:pt x="8196" y="-222"/>
                  <a:pt x="5207" y="618"/>
                </a:cubicBezTo>
                <a:cubicBezTo>
                  <a:pt x="2025" y="1578"/>
                  <a:pt x="0" y="4338"/>
                  <a:pt x="0" y="8538"/>
                </a:cubicBezTo>
                <a:cubicBezTo>
                  <a:pt x="0" y="10698"/>
                  <a:pt x="482" y="13098"/>
                  <a:pt x="1929" y="14538"/>
                </a:cubicBezTo>
                <a:cubicBezTo>
                  <a:pt x="3182" y="15738"/>
                  <a:pt x="4821" y="16218"/>
                  <a:pt x="6171" y="17298"/>
                </a:cubicBezTo>
                <a:cubicBezTo>
                  <a:pt x="7521" y="18378"/>
                  <a:pt x="8582" y="20058"/>
                  <a:pt x="10221" y="20418"/>
                </a:cubicBezTo>
                <a:cubicBezTo>
                  <a:pt x="12632" y="21018"/>
                  <a:pt x="15043" y="19218"/>
                  <a:pt x="17164" y="18018"/>
                </a:cubicBezTo>
                <a:cubicBezTo>
                  <a:pt x="21600" y="15618"/>
                  <a:pt x="18804" y="9978"/>
                  <a:pt x="17261" y="5778"/>
                </a:cubicBezTo>
                <a:close/>
              </a:path>
            </a:pathLst>
          </a:custGeom>
          <a:solidFill>
            <a:srgbClr val="7FBBE0"/>
          </a:solidFill>
          <a:ln w="12700">
            <a:miter lim="400000"/>
          </a:ln>
        </p:spPr>
        <p:txBody>
          <a:bodyPr lIns="38100" tIns="38100" rIns="38100" bIns="38100" anchor="ctr"/>
          <a:lstStyle/>
          <a:p>
            <a:pPr>
              <a:defRPr sz="3000">
                <a:solidFill>
                  <a:srgbClr val="FFFFFF"/>
                </a:solidFill>
              </a:defRPr>
            </a:pPr>
            <a:endParaRPr/>
          </a:p>
        </p:txBody>
      </p:sp>
      <p:sp>
        <p:nvSpPr>
          <p:cNvPr id="26" name="Circle">
            <a:extLst>
              <a:ext uri="{FF2B5EF4-FFF2-40B4-BE49-F238E27FC236}">
                <a16:creationId xmlns:a16="http://schemas.microsoft.com/office/drawing/2014/main" id="{08F514AA-725A-B3F8-F4D8-617A201EF6CD}"/>
              </a:ext>
            </a:extLst>
          </p:cNvPr>
          <p:cNvSpPr/>
          <p:nvPr/>
        </p:nvSpPr>
        <p:spPr>
          <a:xfrm>
            <a:off x="575938" y="3384899"/>
            <a:ext cx="1509231" cy="1509228"/>
          </a:xfrm>
          <a:prstGeom prst="ellipse">
            <a:avLst/>
          </a:prstGeom>
          <a:solidFill>
            <a:schemeClr val="bg1"/>
          </a:solidFill>
          <a:ln w="12700">
            <a:miter lim="400000"/>
          </a:ln>
          <a:effectLst>
            <a:outerShdw blurRad="139700" dist="38100" dir="2700000" sx="102000" sy="102000" algn="tl" rotWithShape="0">
              <a:prstClr val="black">
                <a:alpha val="27000"/>
              </a:prstClr>
            </a:outerShdw>
          </a:effectLst>
        </p:spPr>
        <p:txBody>
          <a:bodyPr lIns="38100" tIns="38100" rIns="38100" bIns="38100" anchor="ctr"/>
          <a:lstStyle/>
          <a:p>
            <a:pPr>
              <a:defRPr sz="3000">
                <a:solidFill>
                  <a:srgbClr val="FFFFFF"/>
                </a:solidFill>
              </a:defRPr>
            </a:pPr>
            <a:endParaRPr dirty="0"/>
          </a:p>
        </p:txBody>
      </p:sp>
      <p:grpSp>
        <p:nvGrpSpPr>
          <p:cNvPr id="46" name="Graphic 14" descr="Clock">
            <a:extLst>
              <a:ext uri="{FF2B5EF4-FFF2-40B4-BE49-F238E27FC236}">
                <a16:creationId xmlns:a16="http://schemas.microsoft.com/office/drawing/2014/main" id="{317F0352-ED0D-52AD-1AF5-741CB9682E7D}"/>
              </a:ext>
            </a:extLst>
          </p:cNvPr>
          <p:cNvGrpSpPr/>
          <p:nvPr/>
        </p:nvGrpSpPr>
        <p:grpSpPr>
          <a:xfrm>
            <a:off x="833653" y="3682313"/>
            <a:ext cx="914400" cy="914400"/>
            <a:chOff x="1095915" y="3148913"/>
            <a:chExt cx="914400" cy="914400"/>
          </a:xfrm>
          <a:solidFill>
            <a:srgbClr val="278CCB"/>
          </a:solidFill>
        </p:grpSpPr>
        <p:sp>
          <p:nvSpPr>
            <p:cNvPr id="47" name="Freeform: Shape 46">
              <a:extLst>
                <a:ext uri="{FF2B5EF4-FFF2-40B4-BE49-F238E27FC236}">
                  <a16:creationId xmlns:a16="http://schemas.microsoft.com/office/drawing/2014/main" id="{7392A64C-ADA1-353B-C780-5EDFD226A8B3}"/>
                </a:ext>
              </a:extLst>
            </p:cNvPr>
            <p:cNvSpPr/>
            <p:nvPr/>
          </p:nvSpPr>
          <p:spPr>
            <a:xfrm>
              <a:off x="1191165" y="3244163"/>
              <a:ext cx="723900" cy="723900"/>
            </a:xfrm>
            <a:custGeom>
              <a:avLst/>
              <a:gdLst>
                <a:gd name="connsiteX0" fmla="*/ 361950 w 723900"/>
                <a:gd name="connsiteY0" fmla="*/ 666750 h 723900"/>
                <a:gd name="connsiteX1" fmla="*/ 57150 w 723900"/>
                <a:gd name="connsiteY1" fmla="*/ 361950 h 723900"/>
                <a:gd name="connsiteX2" fmla="*/ 361950 w 723900"/>
                <a:gd name="connsiteY2" fmla="*/ 57150 h 723900"/>
                <a:gd name="connsiteX3" fmla="*/ 666750 w 723900"/>
                <a:gd name="connsiteY3" fmla="*/ 361950 h 723900"/>
                <a:gd name="connsiteX4" fmla="*/ 361950 w 723900"/>
                <a:gd name="connsiteY4" fmla="*/ 666750 h 723900"/>
                <a:gd name="connsiteX5" fmla="*/ 361950 w 723900"/>
                <a:gd name="connsiteY5" fmla="*/ 0 h 723900"/>
                <a:gd name="connsiteX6" fmla="*/ 0 w 723900"/>
                <a:gd name="connsiteY6" fmla="*/ 361950 h 723900"/>
                <a:gd name="connsiteX7" fmla="*/ 361950 w 723900"/>
                <a:gd name="connsiteY7" fmla="*/ 723900 h 723900"/>
                <a:gd name="connsiteX8" fmla="*/ 723900 w 723900"/>
                <a:gd name="connsiteY8" fmla="*/ 361950 h 723900"/>
                <a:gd name="connsiteX9" fmla="*/ 361950 w 723900"/>
                <a:gd name="connsiteY9" fmla="*/ 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3900" h="723900">
                  <a:moveTo>
                    <a:pt x="361950" y="666750"/>
                  </a:moveTo>
                  <a:cubicBezTo>
                    <a:pt x="194310" y="666750"/>
                    <a:pt x="57150" y="529590"/>
                    <a:pt x="57150" y="361950"/>
                  </a:cubicBezTo>
                  <a:cubicBezTo>
                    <a:pt x="57150" y="194310"/>
                    <a:pt x="194310" y="57150"/>
                    <a:pt x="361950" y="57150"/>
                  </a:cubicBezTo>
                  <a:cubicBezTo>
                    <a:pt x="529590" y="57150"/>
                    <a:pt x="666750" y="194310"/>
                    <a:pt x="666750" y="361950"/>
                  </a:cubicBezTo>
                  <a:cubicBezTo>
                    <a:pt x="666750" y="529590"/>
                    <a:pt x="529590" y="666750"/>
                    <a:pt x="361950" y="666750"/>
                  </a:cubicBezTo>
                  <a:close/>
                  <a:moveTo>
                    <a:pt x="361950" y="0"/>
                  </a:moveTo>
                  <a:cubicBezTo>
                    <a:pt x="161925" y="0"/>
                    <a:pt x="0" y="161925"/>
                    <a:pt x="0" y="361950"/>
                  </a:cubicBezTo>
                  <a:cubicBezTo>
                    <a:pt x="0" y="561975"/>
                    <a:pt x="161925" y="723900"/>
                    <a:pt x="361950" y="723900"/>
                  </a:cubicBezTo>
                  <a:cubicBezTo>
                    <a:pt x="561975" y="723900"/>
                    <a:pt x="723900" y="561975"/>
                    <a:pt x="723900" y="361950"/>
                  </a:cubicBezTo>
                  <a:cubicBezTo>
                    <a:pt x="723900" y="161925"/>
                    <a:pt x="561975" y="0"/>
                    <a:pt x="361950" y="0"/>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951D283-ABCB-391A-536A-7F4D14E861D4}"/>
                </a:ext>
              </a:extLst>
            </p:cNvPr>
            <p:cNvSpPr/>
            <p:nvPr/>
          </p:nvSpPr>
          <p:spPr>
            <a:xfrm>
              <a:off x="1534065" y="3415613"/>
              <a:ext cx="166687" cy="338137"/>
            </a:xfrm>
            <a:custGeom>
              <a:avLst/>
              <a:gdLst>
                <a:gd name="connsiteX0" fmla="*/ 38100 w 166687"/>
                <a:gd name="connsiteY0" fmla="*/ 0 h 338137"/>
                <a:gd name="connsiteX1" fmla="*/ 0 w 166687"/>
                <a:gd name="connsiteY1" fmla="*/ 0 h 338137"/>
                <a:gd name="connsiteX2" fmla="*/ 0 w 166687"/>
                <a:gd name="connsiteY2" fmla="*/ 190500 h 338137"/>
                <a:gd name="connsiteX3" fmla="*/ 5715 w 166687"/>
                <a:gd name="connsiteY3" fmla="*/ 203835 h 338137"/>
                <a:gd name="connsiteX4" fmla="*/ 140018 w 166687"/>
                <a:gd name="connsiteY4" fmla="*/ 338138 h 338137"/>
                <a:gd name="connsiteX5" fmla="*/ 166688 w 166687"/>
                <a:gd name="connsiteY5" fmla="*/ 311468 h 338137"/>
                <a:gd name="connsiteX6" fmla="*/ 38100 w 166687"/>
                <a:gd name="connsiteY6" fmla="*/ 182880 h 338137"/>
                <a:gd name="connsiteX7" fmla="*/ 38100 w 166687"/>
                <a:gd name="connsiteY7" fmla="*/ 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87" h="338137">
                  <a:moveTo>
                    <a:pt x="38100" y="0"/>
                  </a:moveTo>
                  <a:lnTo>
                    <a:pt x="0" y="0"/>
                  </a:lnTo>
                  <a:lnTo>
                    <a:pt x="0" y="190500"/>
                  </a:lnTo>
                  <a:cubicBezTo>
                    <a:pt x="0" y="196215"/>
                    <a:pt x="1905" y="200977"/>
                    <a:pt x="5715" y="203835"/>
                  </a:cubicBezTo>
                  <a:lnTo>
                    <a:pt x="140018" y="338138"/>
                  </a:lnTo>
                  <a:lnTo>
                    <a:pt x="166688" y="311468"/>
                  </a:lnTo>
                  <a:lnTo>
                    <a:pt x="38100" y="182880"/>
                  </a:lnTo>
                  <a:lnTo>
                    <a:pt x="38100" y="0"/>
                  </a:ln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26BD85C-CCEE-2410-3233-0219826B3CD8}"/>
                </a:ext>
              </a:extLst>
            </p:cNvPr>
            <p:cNvSpPr/>
            <p:nvPr/>
          </p:nvSpPr>
          <p:spPr>
            <a:xfrm>
              <a:off x="1534065" y="3339413"/>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10FC2A33-551B-9BA9-3A80-693E4935FCBD}"/>
                </a:ext>
              </a:extLst>
            </p:cNvPr>
            <p:cNvSpPr/>
            <p:nvPr/>
          </p:nvSpPr>
          <p:spPr>
            <a:xfrm>
              <a:off x="1534065" y="3834713"/>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AEA53037-0906-EE35-D3A0-1DE60972297C}"/>
                </a:ext>
              </a:extLst>
            </p:cNvPr>
            <p:cNvSpPr/>
            <p:nvPr/>
          </p:nvSpPr>
          <p:spPr>
            <a:xfrm>
              <a:off x="1286415" y="3587063"/>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70BCADBC-0CAB-9D2A-290B-126784596303}"/>
                </a:ext>
              </a:extLst>
            </p:cNvPr>
            <p:cNvSpPr/>
            <p:nvPr/>
          </p:nvSpPr>
          <p:spPr>
            <a:xfrm>
              <a:off x="1781715" y="3587063"/>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grpFill/>
            <a:ln w="9525" cap="flat">
              <a:noFill/>
              <a:prstDash val="solid"/>
              <a:miter/>
            </a:ln>
          </p:spPr>
          <p:txBody>
            <a:bodyPr rtlCol="0" anchor="ctr"/>
            <a:lstStyle/>
            <a:p>
              <a:endParaRPr lang="en-US"/>
            </a:p>
          </p:txBody>
        </p:sp>
      </p:grpSp>
      <p:sp>
        <p:nvSpPr>
          <p:cNvPr id="55" name="Rectangle 54">
            <a:extLst>
              <a:ext uri="{FF2B5EF4-FFF2-40B4-BE49-F238E27FC236}">
                <a16:creationId xmlns:a16="http://schemas.microsoft.com/office/drawing/2014/main" id="{287C0E08-38C2-4ACE-EDEA-E27ADB0A8950}"/>
              </a:ext>
            </a:extLst>
          </p:cNvPr>
          <p:cNvSpPr/>
          <p:nvPr/>
        </p:nvSpPr>
        <p:spPr>
          <a:xfrm>
            <a:off x="2229950" y="3777563"/>
            <a:ext cx="1943204" cy="276999"/>
          </a:xfrm>
          <a:prstGeom prst="rect">
            <a:avLst/>
          </a:prstGeom>
        </p:spPr>
        <p:txBody>
          <a:bodyPr wrap="square" lIns="0" tIns="0" rIns="0" bIns="0" anchor="ctr">
            <a:noAutofit/>
          </a:bodyPr>
          <a:lstStyle/>
          <a:p>
            <a:pPr marL="285750" indent="-285750">
              <a:buFont typeface="Wingdings" panose="05000000000000000000" pitchFamily="2" charset="2"/>
              <a:buChar char="Ø"/>
            </a:pPr>
            <a:r>
              <a:rPr lang="en-AU" sz="1400" dirty="0">
                <a:solidFill>
                  <a:schemeClr val="bg2"/>
                </a:solidFill>
              </a:rPr>
              <a:t>Catering to millennials</a:t>
            </a:r>
          </a:p>
        </p:txBody>
      </p:sp>
      <p:sp>
        <p:nvSpPr>
          <p:cNvPr id="56" name="Rectangle 55">
            <a:extLst>
              <a:ext uri="{FF2B5EF4-FFF2-40B4-BE49-F238E27FC236}">
                <a16:creationId xmlns:a16="http://schemas.microsoft.com/office/drawing/2014/main" id="{D1DED8FD-A17F-C4D9-50BA-0E727EF4F1D4}"/>
              </a:ext>
            </a:extLst>
          </p:cNvPr>
          <p:cNvSpPr/>
          <p:nvPr/>
        </p:nvSpPr>
        <p:spPr>
          <a:xfrm>
            <a:off x="2349582" y="4914433"/>
            <a:ext cx="1943204" cy="646331"/>
          </a:xfrm>
          <a:prstGeom prst="rect">
            <a:avLst/>
          </a:prstGeom>
        </p:spPr>
        <p:txBody>
          <a:bodyPr wrap="square" lIns="0" tIns="0" rIns="0" bIns="0" anchor="ctr">
            <a:noAutofit/>
          </a:bodyPr>
          <a:lstStyle/>
          <a:p>
            <a:pPr marL="285750" lvl="0" indent="-285750">
              <a:buClr>
                <a:schemeClr val="bg1"/>
              </a:buClr>
              <a:buFont typeface="Wingdings" panose="05000000000000000000" pitchFamily="2" charset="2"/>
              <a:buChar char="Ø"/>
            </a:pPr>
            <a:r>
              <a:rPr lang="en-SG" sz="1400" dirty="0">
                <a:solidFill>
                  <a:schemeClr val="bg2"/>
                </a:solidFill>
              </a:rPr>
              <a:t>Augmented reality (AR) and virtual</a:t>
            </a:r>
            <a:br>
              <a:rPr lang="en-SG" sz="1400" dirty="0">
                <a:solidFill>
                  <a:schemeClr val="bg2"/>
                </a:solidFill>
              </a:rPr>
            </a:br>
            <a:r>
              <a:rPr lang="en-SG" sz="1400" dirty="0">
                <a:solidFill>
                  <a:schemeClr val="bg2"/>
                </a:solidFill>
              </a:rPr>
              <a:t>reality (VR)</a:t>
            </a:r>
            <a:endParaRPr lang="en-AU" sz="1400" dirty="0">
              <a:solidFill>
                <a:schemeClr val="bg2"/>
              </a:solidFill>
            </a:endParaRPr>
          </a:p>
        </p:txBody>
      </p:sp>
      <p:sp>
        <p:nvSpPr>
          <p:cNvPr id="57" name="Rectangle 56">
            <a:extLst>
              <a:ext uri="{FF2B5EF4-FFF2-40B4-BE49-F238E27FC236}">
                <a16:creationId xmlns:a16="http://schemas.microsoft.com/office/drawing/2014/main" id="{077AAA45-B585-6691-08AF-2DFE5D53D1DC}"/>
              </a:ext>
            </a:extLst>
          </p:cNvPr>
          <p:cNvSpPr/>
          <p:nvPr/>
        </p:nvSpPr>
        <p:spPr>
          <a:xfrm>
            <a:off x="2349582" y="4301139"/>
            <a:ext cx="1943204" cy="369332"/>
          </a:xfrm>
          <a:prstGeom prst="rect">
            <a:avLst/>
          </a:prstGeom>
        </p:spPr>
        <p:txBody>
          <a:bodyPr wrap="square" lIns="0" tIns="0" rIns="0" bIns="0" anchor="ctr">
            <a:noAutofit/>
          </a:bodyPr>
          <a:lstStyle/>
          <a:p>
            <a:pPr marL="285750" indent="-285750">
              <a:spcBef>
                <a:spcPts val="600"/>
              </a:spcBef>
              <a:buFont typeface="Wingdings" panose="05000000000000000000" pitchFamily="2" charset="2"/>
              <a:buChar char="Ø"/>
            </a:pPr>
            <a:r>
              <a:rPr lang="en-AU" sz="1400" dirty="0">
                <a:solidFill>
                  <a:schemeClr val="bg2"/>
                </a:solidFill>
              </a:rPr>
              <a:t>Sustainability is key</a:t>
            </a:r>
          </a:p>
        </p:txBody>
      </p:sp>
      <p:sp>
        <p:nvSpPr>
          <p:cNvPr id="58" name="Rectangle: Top Corners Rounded 57">
            <a:extLst>
              <a:ext uri="{FF2B5EF4-FFF2-40B4-BE49-F238E27FC236}">
                <a16:creationId xmlns:a16="http://schemas.microsoft.com/office/drawing/2014/main" id="{AEF1B42D-BAC2-306C-4987-BBE333D1AA33}"/>
              </a:ext>
            </a:extLst>
          </p:cNvPr>
          <p:cNvSpPr/>
          <p:nvPr/>
        </p:nvSpPr>
        <p:spPr>
          <a:xfrm rot="5400000">
            <a:off x="3681349" y="-3399420"/>
            <a:ext cx="830637" cy="8193338"/>
          </a:xfrm>
          <a:prstGeom prst="round2SameRect">
            <a:avLst>
              <a:gd name="adj1" fmla="val 50000"/>
              <a:gd name="adj2" fmla="val 0"/>
            </a:avLst>
          </a:prstGeom>
          <a:solidFill>
            <a:srgbClr val="278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itle 1">
            <a:extLst>
              <a:ext uri="{FF2B5EF4-FFF2-40B4-BE49-F238E27FC236}">
                <a16:creationId xmlns:a16="http://schemas.microsoft.com/office/drawing/2014/main" id="{54034C6F-AFC2-E2B5-7122-0FC51263E3E1}"/>
              </a:ext>
            </a:extLst>
          </p:cNvPr>
          <p:cNvSpPr txBox="1">
            <a:spLocks/>
          </p:cNvSpPr>
          <p:nvPr/>
        </p:nvSpPr>
        <p:spPr>
          <a:xfrm>
            <a:off x="387350" y="475648"/>
            <a:ext cx="6968790" cy="44319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chemeClr val="bg1"/>
                </a:solidFill>
                <a:latin typeface="Arial Black" pitchFamily="34" charset="0"/>
              </a:rPr>
              <a:t>Hospitality industry trends </a:t>
            </a:r>
            <a:r>
              <a:rPr lang="en-US" sz="2400" dirty="0">
                <a:solidFill>
                  <a:schemeClr val="bg1"/>
                </a:solidFill>
                <a:latin typeface="+mn-lt"/>
              </a:rPr>
              <a:t>in 2024</a:t>
            </a:r>
          </a:p>
        </p:txBody>
      </p:sp>
      <p:sp>
        <p:nvSpPr>
          <p:cNvPr id="60" name="Oval 59">
            <a:extLst>
              <a:ext uri="{FF2B5EF4-FFF2-40B4-BE49-F238E27FC236}">
                <a16:creationId xmlns:a16="http://schemas.microsoft.com/office/drawing/2014/main" id="{ACE6E9AC-BBB1-6F4E-313F-88CD292EC4A0}"/>
              </a:ext>
            </a:extLst>
          </p:cNvPr>
          <p:cNvSpPr/>
          <p:nvPr/>
        </p:nvSpPr>
        <p:spPr>
          <a:xfrm>
            <a:off x="7748587" y="918846"/>
            <a:ext cx="295275" cy="295275"/>
          </a:xfrm>
          <a:prstGeom prst="ellipse">
            <a:avLst/>
          </a:prstGeom>
          <a:gradFill flip="none" rotWithShape="1">
            <a:gsLst>
              <a:gs pos="0">
                <a:schemeClr val="bg1"/>
              </a:gs>
              <a:gs pos="50000">
                <a:srgbClr val="7FBBE0"/>
              </a:gs>
              <a:gs pos="100000">
                <a:srgbClr val="278CCB">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9FF1E412-7C5F-A1E1-DC8F-D18DAF74840C}"/>
              </a:ext>
            </a:extLst>
          </p:cNvPr>
          <p:cNvSpPr/>
          <p:nvPr/>
        </p:nvSpPr>
        <p:spPr>
          <a:xfrm>
            <a:off x="8079014" y="918846"/>
            <a:ext cx="228643" cy="228643"/>
          </a:xfrm>
          <a:prstGeom prst="ellipse">
            <a:avLst/>
          </a:prstGeom>
          <a:gradFill flip="none" rotWithShape="1">
            <a:gsLst>
              <a:gs pos="0">
                <a:schemeClr val="bg1"/>
              </a:gs>
              <a:gs pos="50000">
                <a:srgbClr val="7FBBE0"/>
              </a:gs>
              <a:gs pos="100000">
                <a:srgbClr val="278CCB">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9" name="Group 68">
            <a:extLst>
              <a:ext uri="{FF2B5EF4-FFF2-40B4-BE49-F238E27FC236}">
                <a16:creationId xmlns:a16="http://schemas.microsoft.com/office/drawing/2014/main" id="{F2481A9F-A537-F5EF-B0E3-ACA1E28592F4}"/>
              </a:ext>
            </a:extLst>
          </p:cNvPr>
          <p:cNvGrpSpPr/>
          <p:nvPr/>
        </p:nvGrpSpPr>
        <p:grpSpPr>
          <a:xfrm>
            <a:off x="4023632" y="1559767"/>
            <a:ext cx="3744403" cy="2964386"/>
            <a:chOff x="3881720" y="1559767"/>
            <a:chExt cx="3744403" cy="2964386"/>
          </a:xfrm>
        </p:grpSpPr>
        <p:sp>
          <p:nvSpPr>
            <p:cNvPr id="31" name="Shape">
              <a:extLst>
                <a:ext uri="{FF2B5EF4-FFF2-40B4-BE49-F238E27FC236}">
                  <a16:creationId xmlns:a16="http://schemas.microsoft.com/office/drawing/2014/main" id="{FFE08C46-CF2F-7194-AC4F-D06BE587C4AC}"/>
                </a:ext>
              </a:extLst>
            </p:cNvPr>
            <p:cNvSpPr/>
            <p:nvPr/>
          </p:nvSpPr>
          <p:spPr>
            <a:xfrm>
              <a:off x="4392057" y="1559767"/>
              <a:ext cx="3034400" cy="2934707"/>
            </a:xfrm>
            <a:custGeom>
              <a:avLst/>
              <a:gdLst/>
              <a:ahLst/>
              <a:cxnLst>
                <a:cxn ang="0">
                  <a:pos x="wd2" y="hd2"/>
                </a:cxn>
                <a:cxn ang="5400000">
                  <a:pos x="wd2" y="hd2"/>
                </a:cxn>
                <a:cxn ang="10800000">
                  <a:pos x="wd2" y="hd2"/>
                </a:cxn>
                <a:cxn ang="16200000">
                  <a:pos x="wd2" y="hd2"/>
                </a:cxn>
              </a:cxnLst>
              <a:rect l="0" t="0" r="r" b="b"/>
              <a:pathLst>
                <a:path w="20599" h="20734" extrusionOk="0">
                  <a:moveTo>
                    <a:pt x="19728" y="14171"/>
                  </a:moveTo>
                  <a:cubicBezTo>
                    <a:pt x="20467" y="12119"/>
                    <a:pt x="20643" y="9976"/>
                    <a:pt x="20590" y="7814"/>
                  </a:cubicBezTo>
                  <a:cubicBezTo>
                    <a:pt x="20555" y="5780"/>
                    <a:pt x="20643" y="3289"/>
                    <a:pt x="19182" y="1695"/>
                  </a:cubicBezTo>
                  <a:cubicBezTo>
                    <a:pt x="17210" y="-467"/>
                    <a:pt x="13461" y="-156"/>
                    <a:pt x="10873" y="431"/>
                  </a:cubicBezTo>
                  <a:cubicBezTo>
                    <a:pt x="8602" y="944"/>
                    <a:pt x="6419" y="1786"/>
                    <a:pt x="4342" y="2794"/>
                  </a:cubicBezTo>
                  <a:cubicBezTo>
                    <a:pt x="2969" y="3454"/>
                    <a:pt x="1296" y="4131"/>
                    <a:pt x="522" y="5506"/>
                  </a:cubicBezTo>
                  <a:cubicBezTo>
                    <a:pt x="-957" y="8089"/>
                    <a:pt x="1032" y="10360"/>
                    <a:pt x="2441" y="12412"/>
                  </a:cubicBezTo>
                  <a:cubicBezTo>
                    <a:pt x="3409" y="13841"/>
                    <a:pt x="4166" y="15399"/>
                    <a:pt x="5134" y="16809"/>
                  </a:cubicBezTo>
                  <a:cubicBezTo>
                    <a:pt x="6102" y="18238"/>
                    <a:pt x="7334" y="19557"/>
                    <a:pt x="8936" y="20235"/>
                  </a:cubicBezTo>
                  <a:cubicBezTo>
                    <a:pt x="11049" y="21133"/>
                    <a:pt x="13619" y="20767"/>
                    <a:pt x="15591" y="19539"/>
                  </a:cubicBezTo>
                  <a:cubicBezTo>
                    <a:pt x="17562" y="18312"/>
                    <a:pt x="18953" y="16333"/>
                    <a:pt x="19728" y="14171"/>
                  </a:cubicBezTo>
                  <a:close/>
                </a:path>
              </a:pathLst>
            </a:custGeom>
            <a:solidFill>
              <a:srgbClr val="FFC000"/>
            </a:solidFill>
            <a:ln w="12700">
              <a:miter lim="400000"/>
            </a:ln>
          </p:spPr>
          <p:txBody>
            <a:bodyPr lIns="38100" tIns="38100" rIns="38100" bIns="38100" anchor="ctr"/>
            <a:lstStyle/>
            <a:p>
              <a:pPr>
                <a:defRPr sz="3000">
                  <a:solidFill>
                    <a:srgbClr val="FFFFFF"/>
                  </a:solidFill>
                </a:defRPr>
              </a:pPr>
              <a:endParaRPr/>
            </a:p>
          </p:txBody>
        </p:sp>
        <p:sp>
          <p:nvSpPr>
            <p:cNvPr id="32" name="Shape">
              <a:extLst>
                <a:ext uri="{FF2B5EF4-FFF2-40B4-BE49-F238E27FC236}">
                  <a16:creationId xmlns:a16="http://schemas.microsoft.com/office/drawing/2014/main" id="{7D073500-8819-94ED-C38A-FEEFA55678FB}"/>
                </a:ext>
              </a:extLst>
            </p:cNvPr>
            <p:cNvSpPr/>
            <p:nvPr/>
          </p:nvSpPr>
          <p:spPr>
            <a:xfrm>
              <a:off x="4573579" y="1637560"/>
              <a:ext cx="3052544" cy="2886593"/>
            </a:xfrm>
            <a:custGeom>
              <a:avLst/>
              <a:gdLst/>
              <a:ahLst/>
              <a:cxnLst>
                <a:cxn ang="0">
                  <a:pos x="wd2" y="hd2"/>
                </a:cxn>
                <a:cxn ang="5400000">
                  <a:pos x="wd2" y="hd2"/>
                </a:cxn>
                <a:cxn ang="10800000">
                  <a:pos x="wd2" y="hd2"/>
                </a:cxn>
                <a:cxn ang="16200000">
                  <a:pos x="wd2" y="hd2"/>
                </a:cxn>
              </a:cxnLst>
              <a:rect l="0" t="0" r="r" b="b"/>
              <a:pathLst>
                <a:path w="21153" h="21184" extrusionOk="0">
                  <a:moveTo>
                    <a:pt x="18922" y="15774"/>
                  </a:moveTo>
                  <a:cubicBezTo>
                    <a:pt x="19515" y="14670"/>
                    <a:pt x="19964" y="13471"/>
                    <a:pt x="20270" y="12234"/>
                  </a:cubicBezTo>
                  <a:cubicBezTo>
                    <a:pt x="20575" y="11054"/>
                    <a:pt x="20755" y="9836"/>
                    <a:pt x="20917" y="8618"/>
                  </a:cubicBezTo>
                  <a:cubicBezTo>
                    <a:pt x="21222" y="6506"/>
                    <a:pt x="21474" y="4108"/>
                    <a:pt x="20036" y="2376"/>
                  </a:cubicBezTo>
                  <a:cubicBezTo>
                    <a:pt x="18868" y="949"/>
                    <a:pt x="17035" y="378"/>
                    <a:pt x="15328" y="149"/>
                  </a:cubicBezTo>
                  <a:cubicBezTo>
                    <a:pt x="13280" y="-136"/>
                    <a:pt x="11159" y="16"/>
                    <a:pt x="9129" y="359"/>
                  </a:cubicBezTo>
                  <a:cubicBezTo>
                    <a:pt x="7853" y="568"/>
                    <a:pt x="6577" y="892"/>
                    <a:pt x="5337" y="1253"/>
                  </a:cubicBezTo>
                  <a:cubicBezTo>
                    <a:pt x="4367" y="1539"/>
                    <a:pt x="3360" y="1786"/>
                    <a:pt x="2444" y="2224"/>
                  </a:cubicBezTo>
                  <a:cubicBezTo>
                    <a:pt x="1509" y="2681"/>
                    <a:pt x="701" y="3385"/>
                    <a:pt x="287" y="4393"/>
                  </a:cubicBezTo>
                  <a:cubicBezTo>
                    <a:pt x="-126" y="5402"/>
                    <a:pt x="-54" y="6487"/>
                    <a:pt x="251" y="7514"/>
                  </a:cubicBezTo>
                  <a:cubicBezTo>
                    <a:pt x="575" y="8599"/>
                    <a:pt x="1096" y="9608"/>
                    <a:pt x="1581" y="10635"/>
                  </a:cubicBezTo>
                  <a:cubicBezTo>
                    <a:pt x="2156" y="11834"/>
                    <a:pt x="2587" y="13090"/>
                    <a:pt x="3073" y="14346"/>
                  </a:cubicBezTo>
                  <a:cubicBezTo>
                    <a:pt x="3917" y="16497"/>
                    <a:pt x="4978" y="18685"/>
                    <a:pt x="6864" y="19999"/>
                  </a:cubicBezTo>
                  <a:cubicBezTo>
                    <a:pt x="8679" y="21255"/>
                    <a:pt x="11015" y="21464"/>
                    <a:pt x="13064" y="20855"/>
                  </a:cubicBezTo>
                  <a:cubicBezTo>
                    <a:pt x="15095" y="20265"/>
                    <a:pt x="16820" y="18857"/>
                    <a:pt x="18096" y="17106"/>
                  </a:cubicBezTo>
                  <a:cubicBezTo>
                    <a:pt x="18401" y="16687"/>
                    <a:pt x="18671" y="16231"/>
                    <a:pt x="18922" y="15774"/>
                  </a:cubicBezTo>
                  <a:cubicBezTo>
                    <a:pt x="18958" y="15698"/>
                    <a:pt x="18850" y="15641"/>
                    <a:pt x="18814" y="15698"/>
                  </a:cubicBezTo>
                  <a:cubicBezTo>
                    <a:pt x="17790" y="17582"/>
                    <a:pt x="16299" y="19199"/>
                    <a:pt x="14448" y="20170"/>
                  </a:cubicBezTo>
                  <a:cubicBezTo>
                    <a:pt x="12543" y="21160"/>
                    <a:pt x="10243" y="21369"/>
                    <a:pt x="8248" y="20589"/>
                  </a:cubicBezTo>
                  <a:cubicBezTo>
                    <a:pt x="6199" y="19789"/>
                    <a:pt x="4816" y="17962"/>
                    <a:pt x="3881" y="15945"/>
                  </a:cubicBezTo>
                  <a:cubicBezTo>
                    <a:pt x="3324" y="14765"/>
                    <a:pt x="2893" y="13509"/>
                    <a:pt x="2426" y="12291"/>
                  </a:cubicBezTo>
                  <a:cubicBezTo>
                    <a:pt x="2192" y="11701"/>
                    <a:pt x="1958" y="11130"/>
                    <a:pt x="1689" y="10578"/>
                  </a:cubicBezTo>
                  <a:cubicBezTo>
                    <a:pt x="1455" y="10084"/>
                    <a:pt x="1204" y="9570"/>
                    <a:pt x="970" y="9075"/>
                  </a:cubicBezTo>
                  <a:cubicBezTo>
                    <a:pt x="521" y="8085"/>
                    <a:pt x="126" y="7039"/>
                    <a:pt x="126" y="5935"/>
                  </a:cubicBezTo>
                  <a:cubicBezTo>
                    <a:pt x="126" y="4812"/>
                    <a:pt x="629" y="3746"/>
                    <a:pt x="1437" y="3042"/>
                  </a:cubicBezTo>
                  <a:cubicBezTo>
                    <a:pt x="2210" y="2376"/>
                    <a:pt x="3180" y="2034"/>
                    <a:pt x="4115" y="1748"/>
                  </a:cubicBezTo>
                  <a:cubicBezTo>
                    <a:pt x="5211" y="1425"/>
                    <a:pt x="6307" y="1101"/>
                    <a:pt x="7421" y="835"/>
                  </a:cubicBezTo>
                  <a:cubicBezTo>
                    <a:pt x="9578" y="340"/>
                    <a:pt x="11788" y="35"/>
                    <a:pt x="13998" y="149"/>
                  </a:cubicBezTo>
                  <a:cubicBezTo>
                    <a:pt x="15724" y="226"/>
                    <a:pt x="17592" y="549"/>
                    <a:pt x="19048" y="1615"/>
                  </a:cubicBezTo>
                  <a:cubicBezTo>
                    <a:pt x="19803" y="2167"/>
                    <a:pt x="20414" y="2928"/>
                    <a:pt x="20719" y="3841"/>
                  </a:cubicBezTo>
                  <a:cubicBezTo>
                    <a:pt x="21079" y="4869"/>
                    <a:pt x="21079" y="6011"/>
                    <a:pt x="20971" y="7096"/>
                  </a:cubicBezTo>
                  <a:cubicBezTo>
                    <a:pt x="20917" y="7648"/>
                    <a:pt x="20845" y="8200"/>
                    <a:pt x="20773" y="8751"/>
                  </a:cubicBezTo>
                  <a:cubicBezTo>
                    <a:pt x="20701" y="9322"/>
                    <a:pt x="20611" y="9893"/>
                    <a:pt x="20521" y="10464"/>
                  </a:cubicBezTo>
                  <a:cubicBezTo>
                    <a:pt x="20306" y="11682"/>
                    <a:pt x="20018" y="12900"/>
                    <a:pt x="19569" y="14042"/>
                  </a:cubicBezTo>
                  <a:cubicBezTo>
                    <a:pt x="19353" y="14613"/>
                    <a:pt x="19102" y="15184"/>
                    <a:pt x="18796" y="15717"/>
                  </a:cubicBezTo>
                  <a:cubicBezTo>
                    <a:pt x="18778" y="15774"/>
                    <a:pt x="18886" y="15850"/>
                    <a:pt x="18922" y="15774"/>
                  </a:cubicBezTo>
                  <a:close/>
                </a:path>
              </a:pathLst>
            </a:custGeom>
            <a:solidFill>
              <a:schemeClr val="accent2">
                <a:lumMod val="75000"/>
              </a:schemeClr>
            </a:solidFill>
            <a:ln w="12700">
              <a:solidFill>
                <a:schemeClr val="accent4">
                  <a:lumMod val="75000"/>
                </a:schemeClr>
              </a:solidFill>
              <a:miter lim="400000"/>
            </a:ln>
          </p:spPr>
          <p:txBody>
            <a:bodyPr lIns="38100" tIns="38100" rIns="38100" bIns="38100" anchor="ctr"/>
            <a:lstStyle/>
            <a:p>
              <a:pPr>
                <a:defRPr sz="3000">
                  <a:solidFill>
                    <a:srgbClr val="FFFFFF"/>
                  </a:solidFill>
                </a:defRPr>
              </a:pPr>
              <a:endParaRPr/>
            </a:p>
          </p:txBody>
        </p:sp>
        <p:sp>
          <p:nvSpPr>
            <p:cNvPr id="33" name="Shape">
              <a:extLst>
                <a:ext uri="{FF2B5EF4-FFF2-40B4-BE49-F238E27FC236}">
                  <a16:creationId xmlns:a16="http://schemas.microsoft.com/office/drawing/2014/main" id="{B1FDE329-7C90-224D-1123-ECEEBD08BDE4}"/>
                </a:ext>
              </a:extLst>
            </p:cNvPr>
            <p:cNvSpPr/>
            <p:nvPr/>
          </p:nvSpPr>
          <p:spPr>
            <a:xfrm>
              <a:off x="4910693" y="3789892"/>
              <a:ext cx="444073" cy="428922"/>
            </a:xfrm>
            <a:custGeom>
              <a:avLst/>
              <a:gdLst/>
              <a:ahLst/>
              <a:cxnLst>
                <a:cxn ang="0">
                  <a:pos x="wd2" y="hd2"/>
                </a:cxn>
                <a:cxn ang="5400000">
                  <a:pos x="wd2" y="hd2"/>
                </a:cxn>
                <a:cxn ang="10800000">
                  <a:pos x="wd2" y="hd2"/>
                </a:cxn>
                <a:cxn ang="16200000">
                  <a:pos x="wd2" y="hd2"/>
                </a:cxn>
              </a:cxnLst>
              <a:rect l="0" t="0" r="r" b="b"/>
              <a:pathLst>
                <a:path w="20665" h="20772" extrusionOk="0">
                  <a:moveTo>
                    <a:pt x="19820" y="14132"/>
                  </a:moveTo>
                  <a:cubicBezTo>
                    <a:pt x="20545" y="12123"/>
                    <a:pt x="20665" y="9988"/>
                    <a:pt x="20665" y="7853"/>
                  </a:cubicBezTo>
                  <a:cubicBezTo>
                    <a:pt x="20665" y="5844"/>
                    <a:pt x="20665" y="3332"/>
                    <a:pt x="19217" y="1700"/>
                  </a:cubicBezTo>
                  <a:cubicBezTo>
                    <a:pt x="17286" y="-435"/>
                    <a:pt x="13545" y="-184"/>
                    <a:pt x="10891" y="444"/>
                  </a:cubicBezTo>
                  <a:cubicBezTo>
                    <a:pt x="8598" y="946"/>
                    <a:pt x="6426" y="1825"/>
                    <a:pt x="4374" y="2830"/>
                  </a:cubicBezTo>
                  <a:cubicBezTo>
                    <a:pt x="3047" y="3458"/>
                    <a:pt x="1358" y="4212"/>
                    <a:pt x="513" y="5593"/>
                  </a:cubicBezTo>
                  <a:cubicBezTo>
                    <a:pt x="-935" y="8105"/>
                    <a:pt x="996" y="10365"/>
                    <a:pt x="2444" y="12500"/>
                  </a:cubicBezTo>
                  <a:cubicBezTo>
                    <a:pt x="3409" y="13881"/>
                    <a:pt x="4133" y="15514"/>
                    <a:pt x="5099" y="16895"/>
                  </a:cubicBezTo>
                  <a:cubicBezTo>
                    <a:pt x="6064" y="18277"/>
                    <a:pt x="7271" y="19658"/>
                    <a:pt x="8840" y="20286"/>
                  </a:cubicBezTo>
                  <a:cubicBezTo>
                    <a:pt x="10891" y="21165"/>
                    <a:pt x="13546" y="20788"/>
                    <a:pt x="15477" y="19658"/>
                  </a:cubicBezTo>
                  <a:cubicBezTo>
                    <a:pt x="17407" y="18528"/>
                    <a:pt x="18975" y="16267"/>
                    <a:pt x="19820" y="14132"/>
                  </a:cubicBezTo>
                  <a:close/>
                </a:path>
              </a:pathLst>
            </a:custGeom>
            <a:solidFill>
              <a:srgbClr val="FFD966"/>
            </a:solidFill>
            <a:ln w="12700">
              <a:miter lim="400000"/>
            </a:ln>
          </p:spPr>
          <p:txBody>
            <a:bodyPr lIns="38100" tIns="38100" rIns="38100" bIns="38100" anchor="ctr"/>
            <a:lstStyle/>
            <a:p>
              <a:pPr>
                <a:defRPr sz="3000">
                  <a:solidFill>
                    <a:srgbClr val="FFFFFF"/>
                  </a:solidFill>
                </a:defRPr>
              </a:pPr>
              <a:endParaRPr/>
            </a:p>
          </p:txBody>
        </p:sp>
        <p:sp>
          <p:nvSpPr>
            <p:cNvPr id="34" name="Circle">
              <a:extLst>
                <a:ext uri="{FF2B5EF4-FFF2-40B4-BE49-F238E27FC236}">
                  <a16:creationId xmlns:a16="http://schemas.microsoft.com/office/drawing/2014/main" id="{A6CC41DC-DAC6-7289-6AD1-0ABE0028BA88}"/>
                </a:ext>
              </a:extLst>
            </p:cNvPr>
            <p:cNvSpPr/>
            <p:nvPr/>
          </p:nvSpPr>
          <p:spPr>
            <a:xfrm>
              <a:off x="3881720" y="1741289"/>
              <a:ext cx="1509231" cy="1509228"/>
            </a:xfrm>
            <a:prstGeom prst="ellipse">
              <a:avLst/>
            </a:prstGeom>
            <a:solidFill>
              <a:schemeClr val="bg1"/>
            </a:solidFill>
            <a:ln w="12700">
              <a:miter lim="400000"/>
            </a:ln>
            <a:effectLst>
              <a:outerShdw blurRad="139700" dist="38100" dir="2700000" sx="102000" sy="102000" algn="tl" rotWithShape="0">
                <a:prstClr val="black">
                  <a:alpha val="27000"/>
                </a:prstClr>
              </a:outerShdw>
            </a:effectLst>
          </p:spPr>
          <p:txBody>
            <a:bodyPr lIns="38100" tIns="38100" rIns="38100" bIns="38100" anchor="ctr"/>
            <a:lstStyle/>
            <a:p>
              <a:pPr>
                <a:defRPr sz="3000">
                  <a:solidFill>
                    <a:srgbClr val="FFFFFF"/>
                  </a:solidFill>
                </a:defRPr>
              </a:pPr>
              <a:endParaRPr/>
            </a:p>
          </p:txBody>
        </p:sp>
        <p:sp>
          <p:nvSpPr>
            <p:cNvPr id="53" name="Graphic 15" descr="Books">
              <a:extLst>
                <a:ext uri="{FF2B5EF4-FFF2-40B4-BE49-F238E27FC236}">
                  <a16:creationId xmlns:a16="http://schemas.microsoft.com/office/drawing/2014/main" id="{86F379F0-EACC-B8E4-4276-DCE1B967454A}"/>
                </a:ext>
              </a:extLst>
            </p:cNvPr>
            <p:cNvSpPr/>
            <p:nvPr/>
          </p:nvSpPr>
          <p:spPr>
            <a:xfrm>
              <a:off x="4230091" y="2112464"/>
              <a:ext cx="811529" cy="757237"/>
            </a:xfrm>
            <a:custGeom>
              <a:avLst/>
              <a:gdLst>
                <a:gd name="connsiteX0" fmla="*/ 811530 w 811529"/>
                <a:gd name="connsiteY0" fmla="*/ 266700 h 757237"/>
                <a:gd name="connsiteX1" fmla="*/ 762000 w 811529"/>
                <a:gd name="connsiteY1" fmla="*/ 248603 h 757237"/>
                <a:gd name="connsiteX2" fmla="*/ 762000 w 811529"/>
                <a:gd name="connsiteY2" fmla="*/ 144780 h 757237"/>
                <a:gd name="connsiteX3" fmla="*/ 811530 w 811529"/>
                <a:gd name="connsiteY3" fmla="*/ 123825 h 757237"/>
                <a:gd name="connsiteX4" fmla="*/ 476250 w 811529"/>
                <a:gd name="connsiteY4" fmla="*/ 0 h 757237"/>
                <a:gd name="connsiteX5" fmla="*/ 68580 w 811529"/>
                <a:gd name="connsiteY5" fmla="*/ 142875 h 757237"/>
                <a:gd name="connsiteX6" fmla="*/ 28575 w 811529"/>
                <a:gd name="connsiteY6" fmla="*/ 257175 h 757237"/>
                <a:gd name="connsiteX7" fmla="*/ 33337 w 811529"/>
                <a:gd name="connsiteY7" fmla="*/ 299085 h 757237"/>
                <a:gd name="connsiteX8" fmla="*/ 0 w 811529"/>
                <a:gd name="connsiteY8" fmla="*/ 409575 h 757237"/>
                <a:gd name="connsiteX9" fmla="*/ 28575 w 811529"/>
                <a:gd name="connsiteY9" fmla="*/ 492443 h 757237"/>
                <a:gd name="connsiteX10" fmla="*/ 26670 w 811529"/>
                <a:gd name="connsiteY10" fmla="*/ 552450 h 757237"/>
                <a:gd name="connsiteX11" fmla="*/ 76200 w 811529"/>
                <a:gd name="connsiteY11" fmla="*/ 647700 h 757237"/>
                <a:gd name="connsiteX12" fmla="*/ 340995 w 811529"/>
                <a:gd name="connsiteY12" fmla="*/ 757238 h 757237"/>
                <a:gd name="connsiteX13" fmla="*/ 809625 w 811529"/>
                <a:gd name="connsiteY13" fmla="*/ 562928 h 757237"/>
                <a:gd name="connsiteX14" fmla="*/ 760095 w 811529"/>
                <a:gd name="connsiteY14" fmla="*/ 544830 h 757237"/>
                <a:gd name="connsiteX15" fmla="*/ 760095 w 811529"/>
                <a:gd name="connsiteY15" fmla="*/ 440055 h 757237"/>
                <a:gd name="connsiteX16" fmla="*/ 809625 w 811529"/>
                <a:gd name="connsiteY16" fmla="*/ 419100 h 757237"/>
                <a:gd name="connsiteX17" fmla="*/ 733425 w 811529"/>
                <a:gd name="connsiteY17" fmla="*/ 390525 h 757237"/>
                <a:gd name="connsiteX18" fmla="*/ 733425 w 811529"/>
                <a:gd name="connsiteY18" fmla="*/ 299085 h 757237"/>
                <a:gd name="connsiteX19" fmla="*/ 811530 w 811529"/>
                <a:gd name="connsiteY19" fmla="*/ 266700 h 757237"/>
                <a:gd name="connsiteX20" fmla="*/ 80010 w 811529"/>
                <a:gd name="connsiteY20" fmla="*/ 209550 h 757237"/>
                <a:gd name="connsiteX21" fmla="*/ 344805 w 811529"/>
                <a:gd name="connsiteY21" fmla="*/ 313373 h 757237"/>
                <a:gd name="connsiteX22" fmla="*/ 724853 w 811529"/>
                <a:gd name="connsiteY22" fmla="*/ 160020 h 757237"/>
                <a:gd name="connsiteX23" fmla="*/ 724853 w 811529"/>
                <a:gd name="connsiteY23" fmla="*/ 241935 h 757237"/>
                <a:gd name="connsiteX24" fmla="*/ 344805 w 811529"/>
                <a:gd name="connsiteY24" fmla="*/ 400050 h 757237"/>
                <a:gd name="connsiteX25" fmla="*/ 80010 w 811529"/>
                <a:gd name="connsiteY25" fmla="*/ 295275 h 757237"/>
                <a:gd name="connsiteX26" fmla="*/ 80010 w 811529"/>
                <a:gd name="connsiteY26" fmla="*/ 209550 h 757237"/>
                <a:gd name="connsiteX27" fmla="*/ 722948 w 811529"/>
                <a:gd name="connsiteY27" fmla="*/ 538163 h 757237"/>
                <a:gd name="connsiteX28" fmla="*/ 342900 w 811529"/>
                <a:gd name="connsiteY28" fmla="*/ 695325 h 757237"/>
                <a:gd name="connsiteX29" fmla="*/ 77153 w 811529"/>
                <a:gd name="connsiteY29" fmla="*/ 590550 h 757237"/>
                <a:gd name="connsiteX30" fmla="*/ 77153 w 811529"/>
                <a:gd name="connsiteY30" fmla="*/ 516255 h 757237"/>
                <a:gd name="connsiteX31" fmla="*/ 314325 w 811529"/>
                <a:gd name="connsiteY31" fmla="*/ 613410 h 757237"/>
                <a:gd name="connsiteX32" fmla="*/ 723900 w 811529"/>
                <a:gd name="connsiteY32" fmla="*/ 451485 h 757237"/>
                <a:gd name="connsiteX33" fmla="*/ 722948 w 811529"/>
                <a:gd name="connsiteY33" fmla="*/ 538163 h 757237"/>
                <a:gd name="connsiteX34" fmla="*/ 696278 w 811529"/>
                <a:gd name="connsiteY34" fmla="*/ 395288 h 757237"/>
                <a:gd name="connsiteX35" fmla="*/ 316230 w 811529"/>
                <a:gd name="connsiteY35" fmla="*/ 552450 h 757237"/>
                <a:gd name="connsiteX36" fmla="*/ 51435 w 811529"/>
                <a:gd name="connsiteY36" fmla="*/ 447675 h 757237"/>
                <a:gd name="connsiteX37" fmla="*/ 51435 w 811529"/>
                <a:gd name="connsiteY37" fmla="*/ 361950 h 757237"/>
                <a:gd name="connsiteX38" fmla="*/ 323850 w 811529"/>
                <a:gd name="connsiteY38" fmla="*/ 470535 h 757237"/>
                <a:gd name="connsiteX39" fmla="*/ 697230 w 811529"/>
                <a:gd name="connsiteY39" fmla="*/ 314325 h 757237"/>
                <a:gd name="connsiteX40" fmla="*/ 697230 w 811529"/>
                <a:gd name="connsiteY40" fmla="*/ 395288 h 757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11529" h="757237">
                  <a:moveTo>
                    <a:pt x="811530" y="266700"/>
                  </a:moveTo>
                  <a:lnTo>
                    <a:pt x="762000" y="248603"/>
                  </a:lnTo>
                  <a:lnTo>
                    <a:pt x="762000" y="144780"/>
                  </a:lnTo>
                  <a:lnTo>
                    <a:pt x="811530" y="123825"/>
                  </a:lnTo>
                  <a:lnTo>
                    <a:pt x="476250" y="0"/>
                  </a:lnTo>
                  <a:lnTo>
                    <a:pt x="68580" y="142875"/>
                  </a:lnTo>
                  <a:cubicBezTo>
                    <a:pt x="29528" y="161925"/>
                    <a:pt x="28575" y="214312"/>
                    <a:pt x="28575" y="257175"/>
                  </a:cubicBezTo>
                  <a:cubicBezTo>
                    <a:pt x="28575" y="271463"/>
                    <a:pt x="30480" y="285750"/>
                    <a:pt x="33337" y="299085"/>
                  </a:cubicBezTo>
                  <a:cubicBezTo>
                    <a:pt x="952" y="320040"/>
                    <a:pt x="0" y="368618"/>
                    <a:pt x="0" y="409575"/>
                  </a:cubicBezTo>
                  <a:cubicBezTo>
                    <a:pt x="0" y="442913"/>
                    <a:pt x="7620" y="473393"/>
                    <a:pt x="28575" y="492443"/>
                  </a:cubicBezTo>
                  <a:cubicBezTo>
                    <a:pt x="23813" y="508635"/>
                    <a:pt x="26670" y="528638"/>
                    <a:pt x="26670" y="552450"/>
                  </a:cubicBezTo>
                  <a:cubicBezTo>
                    <a:pt x="26670" y="595313"/>
                    <a:pt x="38100" y="634365"/>
                    <a:pt x="76200" y="647700"/>
                  </a:cubicBezTo>
                  <a:lnTo>
                    <a:pt x="340995" y="757238"/>
                  </a:lnTo>
                  <a:lnTo>
                    <a:pt x="809625" y="562928"/>
                  </a:lnTo>
                  <a:lnTo>
                    <a:pt x="760095" y="544830"/>
                  </a:lnTo>
                  <a:lnTo>
                    <a:pt x="760095" y="440055"/>
                  </a:lnTo>
                  <a:lnTo>
                    <a:pt x="809625" y="419100"/>
                  </a:lnTo>
                  <a:lnTo>
                    <a:pt x="733425" y="390525"/>
                  </a:lnTo>
                  <a:lnTo>
                    <a:pt x="733425" y="299085"/>
                  </a:lnTo>
                  <a:lnTo>
                    <a:pt x="811530" y="266700"/>
                  </a:lnTo>
                  <a:close/>
                  <a:moveTo>
                    <a:pt x="80010" y="209550"/>
                  </a:moveTo>
                  <a:lnTo>
                    <a:pt x="344805" y="313373"/>
                  </a:lnTo>
                  <a:lnTo>
                    <a:pt x="724853" y="160020"/>
                  </a:lnTo>
                  <a:lnTo>
                    <a:pt x="724853" y="241935"/>
                  </a:lnTo>
                  <a:lnTo>
                    <a:pt x="344805" y="400050"/>
                  </a:lnTo>
                  <a:lnTo>
                    <a:pt x="80010" y="295275"/>
                  </a:lnTo>
                  <a:lnTo>
                    <a:pt x="80010" y="209550"/>
                  </a:lnTo>
                  <a:close/>
                  <a:moveTo>
                    <a:pt x="722948" y="538163"/>
                  </a:moveTo>
                  <a:lnTo>
                    <a:pt x="342900" y="695325"/>
                  </a:lnTo>
                  <a:lnTo>
                    <a:pt x="77153" y="590550"/>
                  </a:lnTo>
                  <a:lnTo>
                    <a:pt x="77153" y="516255"/>
                  </a:lnTo>
                  <a:lnTo>
                    <a:pt x="314325" y="613410"/>
                  </a:lnTo>
                  <a:lnTo>
                    <a:pt x="723900" y="451485"/>
                  </a:lnTo>
                  <a:lnTo>
                    <a:pt x="722948" y="538163"/>
                  </a:lnTo>
                  <a:close/>
                  <a:moveTo>
                    <a:pt x="696278" y="395288"/>
                  </a:moveTo>
                  <a:lnTo>
                    <a:pt x="316230" y="552450"/>
                  </a:lnTo>
                  <a:lnTo>
                    <a:pt x="51435" y="447675"/>
                  </a:lnTo>
                  <a:lnTo>
                    <a:pt x="51435" y="361950"/>
                  </a:lnTo>
                  <a:lnTo>
                    <a:pt x="323850" y="470535"/>
                  </a:lnTo>
                  <a:lnTo>
                    <a:pt x="697230" y="314325"/>
                  </a:lnTo>
                  <a:lnTo>
                    <a:pt x="697230" y="395288"/>
                  </a:lnTo>
                  <a:close/>
                </a:path>
              </a:pathLst>
            </a:custGeom>
            <a:solidFill>
              <a:srgbClr val="FFC000"/>
            </a:solidFill>
            <a:ln w="9525" cap="flat">
              <a:noFill/>
              <a:prstDash val="solid"/>
              <a:miter/>
            </a:ln>
          </p:spPr>
          <p:txBody>
            <a:bodyPr rtlCol="0" anchor="ctr"/>
            <a:lstStyle/>
            <a:p>
              <a:endParaRPr lang="en-US" dirty="0"/>
            </a:p>
          </p:txBody>
        </p:sp>
        <p:sp>
          <p:nvSpPr>
            <p:cNvPr id="63" name="Rectangle 62">
              <a:extLst>
                <a:ext uri="{FF2B5EF4-FFF2-40B4-BE49-F238E27FC236}">
                  <a16:creationId xmlns:a16="http://schemas.microsoft.com/office/drawing/2014/main" id="{52EC77FF-B8E3-805A-B212-6AD0EDAE9E82}"/>
                </a:ext>
              </a:extLst>
            </p:cNvPr>
            <p:cNvSpPr/>
            <p:nvPr/>
          </p:nvSpPr>
          <p:spPr>
            <a:xfrm>
              <a:off x="5551957" y="2226060"/>
              <a:ext cx="1783667" cy="553998"/>
            </a:xfrm>
            <a:prstGeom prst="rect">
              <a:avLst/>
            </a:prstGeom>
          </p:spPr>
          <p:txBody>
            <a:bodyPr wrap="square" lIns="0" tIns="0" rIns="0" bIns="0" anchor="t">
              <a:noAutofit/>
            </a:bodyPr>
            <a:lstStyle/>
            <a:p>
              <a:pPr marL="285750" indent="-285750">
                <a:buFont typeface="Wingdings" panose="05000000000000000000" pitchFamily="2" charset="2"/>
                <a:buChar char="Ø"/>
              </a:pPr>
              <a:r>
                <a:rPr lang="en-AU" sz="1400" dirty="0"/>
                <a:t>Need for seamless technology</a:t>
              </a:r>
            </a:p>
          </p:txBody>
        </p:sp>
        <p:sp>
          <p:nvSpPr>
            <p:cNvPr id="64" name="Rectangle 63">
              <a:extLst>
                <a:ext uri="{FF2B5EF4-FFF2-40B4-BE49-F238E27FC236}">
                  <a16:creationId xmlns:a16="http://schemas.microsoft.com/office/drawing/2014/main" id="{A487E0FD-4BE2-4EBD-EA43-16D199757D30}"/>
                </a:ext>
              </a:extLst>
            </p:cNvPr>
            <p:cNvSpPr/>
            <p:nvPr/>
          </p:nvSpPr>
          <p:spPr>
            <a:xfrm>
              <a:off x="5551957" y="2934869"/>
              <a:ext cx="1803223" cy="954107"/>
            </a:xfrm>
            <a:prstGeom prst="rect">
              <a:avLst/>
            </a:prstGeom>
          </p:spPr>
          <p:txBody>
            <a:bodyPr wrap="square" lIns="36000">
              <a:spAutoFit/>
            </a:bodyPr>
            <a:lstStyle/>
            <a:p>
              <a:pPr marL="285750" indent="-285750">
                <a:buFont typeface="Wingdings" panose="05000000000000000000" pitchFamily="2" charset="2"/>
                <a:buChar char="Ø"/>
              </a:pPr>
              <a:r>
                <a:rPr lang="en-SG" sz="1400" dirty="0"/>
                <a:t>Increased emphasis on health and well-being</a:t>
              </a:r>
            </a:p>
          </p:txBody>
        </p:sp>
      </p:grpSp>
      <p:grpSp>
        <p:nvGrpSpPr>
          <p:cNvPr id="68" name="Group 67">
            <a:extLst>
              <a:ext uri="{FF2B5EF4-FFF2-40B4-BE49-F238E27FC236}">
                <a16:creationId xmlns:a16="http://schemas.microsoft.com/office/drawing/2014/main" id="{6F3719C9-5CAC-DDB6-5EAC-309C7565EF61}"/>
              </a:ext>
            </a:extLst>
          </p:cNvPr>
          <p:cNvGrpSpPr/>
          <p:nvPr/>
        </p:nvGrpSpPr>
        <p:grpSpPr>
          <a:xfrm>
            <a:off x="7535364" y="3276558"/>
            <a:ext cx="4128012" cy="2818105"/>
            <a:chOff x="7535364" y="3276558"/>
            <a:chExt cx="4128012" cy="2818105"/>
          </a:xfrm>
        </p:grpSpPr>
        <p:sp>
          <p:nvSpPr>
            <p:cNvPr id="39" name="Shape">
              <a:extLst>
                <a:ext uri="{FF2B5EF4-FFF2-40B4-BE49-F238E27FC236}">
                  <a16:creationId xmlns:a16="http://schemas.microsoft.com/office/drawing/2014/main" id="{338CB23C-5E4C-16D9-1A70-8287FC282060}"/>
                </a:ext>
              </a:extLst>
            </p:cNvPr>
            <p:cNvSpPr/>
            <p:nvPr/>
          </p:nvSpPr>
          <p:spPr>
            <a:xfrm>
              <a:off x="7898406" y="3561805"/>
              <a:ext cx="3634599" cy="2532858"/>
            </a:xfrm>
            <a:custGeom>
              <a:avLst/>
              <a:gdLst/>
              <a:ahLst/>
              <a:cxnLst>
                <a:cxn ang="0">
                  <a:pos x="wd2" y="hd2"/>
                </a:cxn>
                <a:cxn ang="5400000">
                  <a:pos x="wd2" y="hd2"/>
                </a:cxn>
                <a:cxn ang="10800000">
                  <a:pos x="wd2" y="hd2"/>
                </a:cxn>
                <a:cxn ang="16200000">
                  <a:pos x="wd2" y="hd2"/>
                </a:cxn>
              </a:cxnLst>
              <a:rect l="0" t="0" r="r" b="b"/>
              <a:pathLst>
                <a:path w="21039" h="20345" extrusionOk="0">
                  <a:moveTo>
                    <a:pt x="14967" y="1408"/>
                  </a:moveTo>
                  <a:cubicBezTo>
                    <a:pt x="12925" y="533"/>
                    <a:pt x="10749" y="221"/>
                    <a:pt x="8542" y="96"/>
                  </a:cubicBezTo>
                  <a:cubicBezTo>
                    <a:pt x="6471" y="-8"/>
                    <a:pt x="3934" y="-279"/>
                    <a:pt x="2163" y="1033"/>
                  </a:cubicBezTo>
                  <a:cubicBezTo>
                    <a:pt x="-209" y="2804"/>
                    <a:pt x="-194" y="6532"/>
                    <a:pt x="196" y="9136"/>
                  </a:cubicBezTo>
                  <a:cubicBezTo>
                    <a:pt x="526" y="11406"/>
                    <a:pt x="1217" y="13614"/>
                    <a:pt x="2088" y="15739"/>
                  </a:cubicBezTo>
                  <a:cubicBezTo>
                    <a:pt x="2658" y="17134"/>
                    <a:pt x="3213" y="18821"/>
                    <a:pt x="4549" y="19696"/>
                  </a:cubicBezTo>
                  <a:cubicBezTo>
                    <a:pt x="7071" y="21321"/>
                    <a:pt x="9548" y="19530"/>
                    <a:pt x="11754" y="18301"/>
                  </a:cubicBezTo>
                  <a:cubicBezTo>
                    <a:pt x="13285" y="17447"/>
                    <a:pt x="14937" y="16822"/>
                    <a:pt x="16483" y="15968"/>
                  </a:cubicBezTo>
                  <a:cubicBezTo>
                    <a:pt x="18014" y="15114"/>
                    <a:pt x="19470" y="13989"/>
                    <a:pt x="20295" y="12469"/>
                  </a:cubicBezTo>
                  <a:cubicBezTo>
                    <a:pt x="21391" y="10448"/>
                    <a:pt x="21226" y="7886"/>
                    <a:pt x="20130" y="5866"/>
                  </a:cubicBezTo>
                  <a:cubicBezTo>
                    <a:pt x="19034" y="3824"/>
                    <a:pt x="17113" y="2325"/>
                    <a:pt x="14967" y="1408"/>
                  </a:cubicBezTo>
                  <a:close/>
                </a:path>
              </a:pathLst>
            </a:custGeom>
            <a:solidFill>
              <a:srgbClr val="4C4C4D"/>
            </a:solidFill>
            <a:ln w="12700">
              <a:miter lim="400000"/>
            </a:ln>
          </p:spPr>
          <p:txBody>
            <a:bodyPr lIns="38100" tIns="38100" rIns="38100" bIns="38100" anchor="ctr"/>
            <a:lstStyle/>
            <a:p>
              <a:pPr>
                <a:defRPr sz="3000">
                  <a:solidFill>
                    <a:srgbClr val="FFFFFF"/>
                  </a:solidFill>
                </a:defRPr>
              </a:pPr>
              <a:endParaRPr dirty="0"/>
            </a:p>
          </p:txBody>
        </p:sp>
        <p:sp>
          <p:nvSpPr>
            <p:cNvPr id="40" name="Shape">
              <a:extLst>
                <a:ext uri="{FF2B5EF4-FFF2-40B4-BE49-F238E27FC236}">
                  <a16:creationId xmlns:a16="http://schemas.microsoft.com/office/drawing/2014/main" id="{199AA2E6-7786-CCDF-0142-2F0459D4B62E}"/>
                </a:ext>
              </a:extLst>
            </p:cNvPr>
            <p:cNvSpPr/>
            <p:nvPr/>
          </p:nvSpPr>
          <p:spPr>
            <a:xfrm>
              <a:off x="8079929" y="3432148"/>
              <a:ext cx="3583447" cy="2580488"/>
            </a:xfrm>
            <a:custGeom>
              <a:avLst/>
              <a:gdLst/>
              <a:ahLst/>
              <a:cxnLst>
                <a:cxn ang="0">
                  <a:pos x="wd2" y="hd2"/>
                </a:cxn>
                <a:cxn ang="5400000">
                  <a:pos x="wd2" y="hd2"/>
                </a:cxn>
                <a:cxn ang="10800000">
                  <a:pos x="wd2" y="hd2"/>
                </a:cxn>
                <a:cxn ang="16200000">
                  <a:pos x="wd2" y="hd2"/>
                </a:cxn>
              </a:cxnLst>
              <a:rect l="0" t="0" r="r" b="b"/>
              <a:pathLst>
                <a:path w="21351" h="21451" extrusionOk="0">
                  <a:moveTo>
                    <a:pt x="15976" y="3565"/>
                  </a:moveTo>
                  <a:cubicBezTo>
                    <a:pt x="13968" y="2229"/>
                    <a:pt x="11789" y="1453"/>
                    <a:pt x="9611" y="871"/>
                  </a:cubicBezTo>
                  <a:cubicBezTo>
                    <a:pt x="8607" y="612"/>
                    <a:pt x="7587" y="310"/>
                    <a:pt x="6567" y="138"/>
                  </a:cubicBezTo>
                  <a:cubicBezTo>
                    <a:pt x="5578" y="-35"/>
                    <a:pt x="4574" y="-78"/>
                    <a:pt x="3601" y="202"/>
                  </a:cubicBezTo>
                  <a:cubicBezTo>
                    <a:pt x="2782" y="439"/>
                    <a:pt x="2025" y="957"/>
                    <a:pt x="1422" y="1797"/>
                  </a:cubicBezTo>
                  <a:cubicBezTo>
                    <a:pt x="912" y="2509"/>
                    <a:pt x="557" y="3414"/>
                    <a:pt x="340" y="4363"/>
                  </a:cubicBezTo>
                  <a:cubicBezTo>
                    <a:pt x="-154" y="6518"/>
                    <a:pt x="-46" y="8890"/>
                    <a:pt x="263" y="11067"/>
                  </a:cubicBezTo>
                  <a:cubicBezTo>
                    <a:pt x="479" y="12662"/>
                    <a:pt x="850" y="14193"/>
                    <a:pt x="1252" y="15702"/>
                  </a:cubicBezTo>
                  <a:cubicBezTo>
                    <a:pt x="1546" y="16779"/>
                    <a:pt x="1824" y="17900"/>
                    <a:pt x="2303" y="18849"/>
                  </a:cubicBezTo>
                  <a:cubicBezTo>
                    <a:pt x="2874" y="19948"/>
                    <a:pt x="3709" y="20681"/>
                    <a:pt x="4620" y="21091"/>
                  </a:cubicBezTo>
                  <a:cubicBezTo>
                    <a:pt x="5547" y="21500"/>
                    <a:pt x="6552" y="21522"/>
                    <a:pt x="7510" y="21350"/>
                  </a:cubicBezTo>
                  <a:cubicBezTo>
                    <a:pt x="8483" y="21177"/>
                    <a:pt x="9425" y="20832"/>
                    <a:pt x="10383" y="20487"/>
                  </a:cubicBezTo>
                  <a:cubicBezTo>
                    <a:pt x="11480" y="20099"/>
                    <a:pt x="12577" y="19841"/>
                    <a:pt x="13690" y="19560"/>
                  </a:cubicBezTo>
                  <a:cubicBezTo>
                    <a:pt x="14787" y="19280"/>
                    <a:pt x="15884" y="19000"/>
                    <a:pt x="16965" y="18547"/>
                  </a:cubicBezTo>
                  <a:cubicBezTo>
                    <a:pt x="17908" y="18159"/>
                    <a:pt x="18835" y="17620"/>
                    <a:pt x="19623" y="16823"/>
                  </a:cubicBezTo>
                  <a:cubicBezTo>
                    <a:pt x="20349" y="16090"/>
                    <a:pt x="20936" y="15076"/>
                    <a:pt x="21199" y="13869"/>
                  </a:cubicBezTo>
                  <a:cubicBezTo>
                    <a:pt x="21446" y="12662"/>
                    <a:pt x="21384" y="11369"/>
                    <a:pt x="21075" y="10205"/>
                  </a:cubicBezTo>
                  <a:cubicBezTo>
                    <a:pt x="20426" y="7769"/>
                    <a:pt x="18881" y="5915"/>
                    <a:pt x="17336" y="4600"/>
                  </a:cubicBezTo>
                  <a:cubicBezTo>
                    <a:pt x="16873" y="4212"/>
                    <a:pt x="16425" y="3867"/>
                    <a:pt x="15976" y="3565"/>
                  </a:cubicBezTo>
                  <a:cubicBezTo>
                    <a:pt x="15915" y="3522"/>
                    <a:pt x="15853" y="3651"/>
                    <a:pt x="15915" y="3694"/>
                  </a:cubicBezTo>
                  <a:cubicBezTo>
                    <a:pt x="17614" y="4837"/>
                    <a:pt x="19298" y="6389"/>
                    <a:pt x="20349" y="8609"/>
                  </a:cubicBezTo>
                  <a:cubicBezTo>
                    <a:pt x="20859" y="9666"/>
                    <a:pt x="21199" y="10873"/>
                    <a:pt x="21214" y="12123"/>
                  </a:cubicBezTo>
                  <a:cubicBezTo>
                    <a:pt x="21245" y="13373"/>
                    <a:pt x="20952" y="14602"/>
                    <a:pt x="20380" y="15572"/>
                  </a:cubicBezTo>
                  <a:cubicBezTo>
                    <a:pt x="19793" y="16564"/>
                    <a:pt x="18974" y="17254"/>
                    <a:pt x="18124" y="17750"/>
                  </a:cubicBezTo>
                  <a:cubicBezTo>
                    <a:pt x="17151" y="18332"/>
                    <a:pt x="16131" y="18698"/>
                    <a:pt x="15096" y="19000"/>
                  </a:cubicBezTo>
                  <a:cubicBezTo>
                    <a:pt x="13999" y="19323"/>
                    <a:pt x="12902" y="19560"/>
                    <a:pt x="11805" y="19862"/>
                  </a:cubicBezTo>
                  <a:cubicBezTo>
                    <a:pt x="10831" y="20142"/>
                    <a:pt x="9873" y="20509"/>
                    <a:pt x="8900" y="20811"/>
                  </a:cubicBezTo>
                  <a:cubicBezTo>
                    <a:pt x="7958" y="21112"/>
                    <a:pt x="7000" y="21328"/>
                    <a:pt x="6026" y="21263"/>
                  </a:cubicBezTo>
                  <a:cubicBezTo>
                    <a:pt x="5037" y="21199"/>
                    <a:pt x="4049" y="20768"/>
                    <a:pt x="3245" y="19948"/>
                  </a:cubicBezTo>
                  <a:cubicBezTo>
                    <a:pt x="2519" y="19215"/>
                    <a:pt x="2055" y="18138"/>
                    <a:pt x="1716" y="16995"/>
                  </a:cubicBezTo>
                  <a:cubicBezTo>
                    <a:pt x="1561" y="16478"/>
                    <a:pt x="1437" y="15960"/>
                    <a:pt x="1283" y="15443"/>
                  </a:cubicBezTo>
                  <a:cubicBezTo>
                    <a:pt x="1082" y="14710"/>
                    <a:pt x="897" y="13956"/>
                    <a:pt x="727" y="13201"/>
                  </a:cubicBezTo>
                  <a:cubicBezTo>
                    <a:pt x="217" y="10808"/>
                    <a:pt x="-92" y="8243"/>
                    <a:pt x="186" y="5742"/>
                  </a:cubicBezTo>
                  <a:cubicBezTo>
                    <a:pt x="294" y="4772"/>
                    <a:pt x="510" y="3845"/>
                    <a:pt x="866" y="3005"/>
                  </a:cubicBezTo>
                  <a:cubicBezTo>
                    <a:pt x="1252" y="2099"/>
                    <a:pt x="1808" y="1366"/>
                    <a:pt x="2488" y="892"/>
                  </a:cubicBezTo>
                  <a:cubicBezTo>
                    <a:pt x="3322" y="310"/>
                    <a:pt x="4280" y="138"/>
                    <a:pt x="5207" y="159"/>
                  </a:cubicBezTo>
                  <a:cubicBezTo>
                    <a:pt x="6243" y="181"/>
                    <a:pt x="7262" y="418"/>
                    <a:pt x="8267" y="676"/>
                  </a:cubicBezTo>
                  <a:cubicBezTo>
                    <a:pt x="10352" y="1215"/>
                    <a:pt x="12438" y="1776"/>
                    <a:pt x="14447" y="2832"/>
                  </a:cubicBezTo>
                  <a:cubicBezTo>
                    <a:pt x="14941" y="3091"/>
                    <a:pt x="15420" y="3371"/>
                    <a:pt x="15899" y="3694"/>
                  </a:cubicBezTo>
                  <a:cubicBezTo>
                    <a:pt x="15976" y="3738"/>
                    <a:pt x="16038" y="3608"/>
                    <a:pt x="15976" y="3565"/>
                  </a:cubicBezTo>
                  <a:close/>
                </a:path>
              </a:pathLst>
            </a:custGeom>
            <a:solidFill>
              <a:srgbClr val="302F2F"/>
            </a:solidFill>
            <a:ln w="12700">
              <a:miter lim="400000"/>
            </a:ln>
          </p:spPr>
          <p:txBody>
            <a:bodyPr lIns="38100" tIns="38100" rIns="38100" bIns="38100" anchor="ctr"/>
            <a:lstStyle/>
            <a:p>
              <a:pPr>
                <a:defRPr sz="3000">
                  <a:solidFill>
                    <a:srgbClr val="FFFFFF"/>
                  </a:solidFill>
                </a:defRPr>
              </a:pPr>
              <a:endParaRPr dirty="0"/>
            </a:p>
          </p:txBody>
        </p:sp>
        <p:sp>
          <p:nvSpPr>
            <p:cNvPr id="41" name="Shape">
              <a:extLst>
                <a:ext uri="{FF2B5EF4-FFF2-40B4-BE49-F238E27FC236}">
                  <a16:creationId xmlns:a16="http://schemas.microsoft.com/office/drawing/2014/main" id="{C4AF1295-B67E-1A74-82A9-CD9EDBD053A9}"/>
                </a:ext>
              </a:extLst>
            </p:cNvPr>
            <p:cNvSpPr/>
            <p:nvPr/>
          </p:nvSpPr>
          <p:spPr>
            <a:xfrm>
              <a:off x="9869216" y="5688207"/>
              <a:ext cx="529858" cy="368919"/>
            </a:xfrm>
            <a:custGeom>
              <a:avLst/>
              <a:gdLst/>
              <a:ahLst/>
              <a:cxnLst>
                <a:cxn ang="0">
                  <a:pos x="wd2" y="hd2"/>
                </a:cxn>
                <a:cxn ang="5400000">
                  <a:pos x="wd2" y="hd2"/>
                </a:cxn>
                <a:cxn ang="10800000">
                  <a:pos x="wd2" y="hd2"/>
                </a:cxn>
                <a:cxn ang="16200000">
                  <a:pos x="wd2" y="hd2"/>
                </a:cxn>
              </a:cxnLst>
              <a:rect l="0" t="0" r="r" b="b"/>
              <a:pathLst>
                <a:path w="21016" h="20350" extrusionOk="0">
                  <a:moveTo>
                    <a:pt x="14915" y="1411"/>
                  </a:moveTo>
                  <a:cubicBezTo>
                    <a:pt x="12858" y="552"/>
                    <a:pt x="10698" y="266"/>
                    <a:pt x="8538" y="123"/>
                  </a:cubicBezTo>
                  <a:cubicBezTo>
                    <a:pt x="6481" y="-20"/>
                    <a:pt x="3909" y="-306"/>
                    <a:pt x="2161" y="1124"/>
                  </a:cubicBezTo>
                  <a:cubicBezTo>
                    <a:pt x="-205" y="2841"/>
                    <a:pt x="-205" y="6560"/>
                    <a:pt x="207" y="9135"/>
                  </a:cubicBezTo>
                  <a:cubicBezTo>
                    <a:pt x="515" y="11424"/>
                    <a:pt x="1235" y="13570"/>
                    <a:pt x="2058" y="15715"/>
                  </a:cubicBezTo>
                  <a:cubicBezTo>
                    <a:pt x="2675" y="17146"/>
                    <a:pt x="3190" y="18862"/>
                    <a:pt x="4526" y="19721"/>
                  </a:cubicBezTo>
                  <a:cubicBezTo>
                    <a:pt x="6995" y="21294"/>
                    <a:pt x="9464" y="19578"/>
                    <a:pt x="11726" y="18290"/>
                  </a:cubicBezTo>
                  <a:cubicBezTo>
                    <a:pt x="13269" y="17432"/>
                    <a:pt x="14915" y="16860"/>
                    <a:pt x="16458" y="16001"/>
                  </a:cubicBezTo>
                  <a:cubicBezTo>
                    <a:pt x="18001" y="15143"/>
                    <a:pt x="19441" y="13999"/>
                    <a:pt x="20263" y="12568"/>
                  </a:cubicBezTo>
                  <a:cubicBezTo>
                    <a:pt x="21395" y="10565"/>
                    <a:pt x="21189" y="7991"/>
                    <a:pt x="20058" y="5988"/>
                  </a:cubicBezTo>
                  <a:cubicBezTo>
                    <a:pt x="18926" y="3842"/>
                    <a:pt x="17075" y="2412"/>
                    <a:pt x="14915" y="1411"/>
                  </a:cubicBezTo>
                  <a:close/>
                </a:path>
              </a:pathLst>
            </a:custGeom>
            <a:solidFill>
              <a:schemeClr val="bg2">
                <a:lumMod val="50000"/>
              </a:schemeClr>
            </a:solidFill>
            <a:ln w="12700">
              <a:miter lim="400000"/>
            </a:ln>
          </p:spPr>
          <p:txBody>
            <a:bodyPr lIns="38100" tIns="38100" rIns="38100" bIns="38100" anchor="ctr"/>
            <a:lstStyle/>
            <a:p>
              <a:pPr>
                <a:defRPr sz="3000">
                  <a:solidFill>
                    <a:srgbClr val="FFFFFF"/>
                  </a:solidFill>
                </a:defRPr>
              </a:pPr>
              <a:endParaRPr/>
            </a:p>
          </p:txBody>
        </p:sp>
        <p:sp>
          <p:nvSpPr>
            <p:cNvPr id="42" name="Circle">
              <a:extLst>
                <a:ext uri="{FF2B5EF4-FFF2-40B4-BE49-F238E27FC236}">
                  <a16:creationId xmlns:a16="http://schemas.microsoft.com/office/drawing/2014/main" id="{89A0D195-1C08-DA18-849D-C2308D636109}"/>
                </a:ext>
              </a:extLst>
            </p:cNvPr>
            <p:cNvSpPr/>
            <p:nvPr/>
          </p:nvSpPr>
          <p:spPr>
            <a:xfrm>
              <a:off x="7535364" y="3276558"/>
              <a:ext cx="1509231" cy="1509228"/>
            </a:xfrm>
            <a:prstGeom prst="ellipse">
              <a:avLst/>
            </a:prstGeom>
            <a:solidFill>
              <a:schemeClr val="bg1"/>
            </a:solidFill>
            <a:ln w="12700">
              <a:miter lim="400000"/>
            </a:ln>
            <a:effectLst>
              <a:outerShdw blurRad="139700" dist="38100" dir="2700000" sx="102000" sy="102000" algn="tl" rotWithShape="0">
                <a:prstClr val="black">
                  <a:alpha val="27000"/>
                </a:prstClr>
              </a:outerShdw>
            </a:effectLst>
          </p:spPr>
          <p:txBody>
            <a:bodyPr lIns="38100" tIns="38100" rIns="38100" bIns="38100" anchor="ctr"/>
            <a:lstStyle/>
            <a:p>
              <a:pPr>
                <a:defRPr sz="3000">
                  <a:solidFill>
                    <a:srgbClr val="FFFFFF"/>
                  </a:solidFill>
                </a:defRPr>
              </a:pPr>
              <a:endParaRPr/>
            </a:p>
          </p:txBody>
        </p:sp>
        <p:sp>
          <p:nvSpPr>
            <p:cNvPr id="54" name="Graphic 16" descr="Trophy">
              <a:extLst>
                <a:ext uri="{FF2B5EF4-FFF2-40B4-BE49-F238E27FC236}">
                  <a16:creationId xmlns:a16="http://schemas.microsoft.com/office/drawing/2014/main" id="{C0D04380-5B2D-4672-BB8A-36FB9F1AFC4C}"/>
                </a:ext>
              </a:extLst>
            </p:cNvPr>
            <p:cNvSpPr/>
            <p:nvPr/>
          </p:nvSpPr>
          <p:spPr>
            <a:xfrm>
              <a:off x="7934257" y="3663238"/>
              <a:ext cx="666750" cy="751522"/>
            </a:xfrm>
            <a:custGeom>
              <a:avLst/>
              <a:gdLst>
                <a:gd name="connsiteX0" fmla="*/ 570548 w 666750"/>
                <a:gd name="connsiteY0" fmla="*/ 361950 h 751522"/>
                <a:gd name="connsiteX1" fmla="*/ 437198 w 666750"/>
                <a:gd name="connsiteY1" fmla="*/ 425768 h 751522"/>
                <a:gd name="connsiteX2" fmla="*/ 494348 w 666750"/>
                <a:gd name="connsiteY2" fmla="*/ 367665 h 751522"/>
                <a:gd name="connsiteX3" fmla="*/ 516255 w 666750"/>
                <a:gd name="connsiteY3" fmla="*/ 339090 h 751522"/>
                <a:gd name="connsiteX4" fmla="*/ 541973 w 666750"/>
                <a:gd name="connsiteY4" fmla="*/ 248602 h 751522"/>
                <a:gd name="connsiteX5" fmla="*/ 541973 w 666750"/>
                <a:gd name="connsiteY5" fmla="*/ 124778 h 751522"/>
                <a:gd name="connsiteX6" fmla="*/ 608648 w 666750"/>
                <a:gd name="connsiteY6" fmla="*/ 124778 h 751522"/>
                <a:gd name="connsiteX7" fmla="*/ 608648 w 666750"/>
                <a:gd name="connsiteY7" fmla="*/ 269558 h 751522"/>
                <a:gd name="connsiteX8" fmla="*/ 570548 w 666750"/>
                <a:gd name="connsiteY8" fmla="*/ 361950 h 751522"/>
                <a:gd name="connsiteX9" fmla="*/ 97155 w 666750"/>
                <a:gd name="connsiteY9" fmla="*/ 361950 h 751522"/>
                <a:gd name="connsiteX10" fmla="*/ 57150 w 666750"/>
                <a:gd name="connsiteY10" fmla="*/ 269558 h 751522"/>
                <a:gd name="connsiteX11" fmla="*/ 57150 w 666750"/>
                <a:gd name="connsiteY11" fmla="*/ 123825 h 751522"/>
                <a:gd name="connsiteX12" fmla="*/ 123825 w 666750"/>
                <a:gd name="connsiteY12" fmla="*/ 123825 h 751522"/>
                <a:gd name="connsiteX13" fmla="*/ 123825 w 666750"/>
                <a:gd name="connsiteY13" fmla="*/ 247650 h 751522"/>
                <a:gd name="connsiteX14" fmla="*/ 149543 w 666750"/>
                <a:gd name="connsiteY14" fmla="*/ 338138 h 751522"/>
                <a:gd name="connsiteX15" fmla="*/ 171450 w 666750"/>
                <a:gd name="connsiteY15" fmla="*/ 366713 h 751522"/>
                <a:gd name="connsiteX16" fmla="*/ 228600 w 666750"/>
                <a:gd name="connsiteY16" fmla="*/ 424815 h 751522"/>
                <a:gd name="connsiteX17" fmla="*/ 97155 w 666750"/>
                <a:gd name="connsiteY17" fmla="*/ 361950 h 751522"/>
                <a:gd name="connsiteX18" fmla="*/ 666750 w 666750"/>
                <a:gd name="connsiteY18" fmla="*/ 266700 h 751522"/>
                <a:gd name="connsiteX19" fmla="*/ 666750 w 666750"/>
                <a:gd name="connsiteY19" fmla="*/ 66675 h 751522"/>
                <a:gd name="connsiteX20" fmla="*/ 542925 w 666750"/>
                <a:gd name="connsiteY20" fmla="*/ 66675 h 751522"/>
                <a:gd name="connsiteX21" fmla="*/ 542925 w 666750"/>
                <a:gd name="connsiteY21" fmla="*/ 0 h 751522"/>
                <a:gd name="connsiteX22" fmla="*/ 333375 w 666750"/>
                <a:gd name="connsiteY22" fmla="*/ 0 h 751522"/>
                <a:gd name="connsiteX23" fmla="*/ 123825 w 666750"/>
                <a:gd name="connsiteY23" fmla="*/ 0 h 751522"/>
                <a:gd name="connsiteX24" fmla="*/ 123825 w 666750"/>
                <a:gd name="connsiteY24" fmla="*/ 66675 h 751522"/>
                <a:gd name="connsiteX25" fmla="*/ 0 w 666750"/>
                <a:gd name="connsiteY25" fmla="*/ 66675 h 751522"/>
                <a:gd name="connsiteX26" fmla="*/ 0 w 666750"/>
                <a:gd name="connsiteY26" fmla="*/ 265748 h 751522"/>
                <a:gd name="connsiteX27" fmla="*/ 54293 w 666750"/>
                <a:gd name="connsiteY27" fmla="*/ 399098 h 751522"/>
                <a:gd name="connsiteX28" fmla="*/ 281940 w 666750"/>
                <a:gd name="connsiteY28" fmla="*/ 484823 h 751522"/>
                <a:gd name="connsiteX29" fmla="*/ 295275 w 666750"/>
                <a:gd name="connsiteY29" fmla="*/ 532448 h 751522"/>
                <a:gd name="connsiteX30" fmla="*/ 295275 w 666750"/>
                <a:gd name="connsiteY30" fmla="*/ 656273 h 751522"/>
                <a:gd name="connsiteX31" fmla="*/ 247650 w 666750"/>
                <a:gd name="connsiteY31" fmla="*/ 656273 h 751522"/>
                <a:gd name="connsiteX32" fmla="*/ 209550 w 666750"/>
                <a:gd name="connsiteY32" fmla="*/ 694373 h 751522"/>
                <a:gd name="connsiteX33" fmla="*/ 161925 w 666750"/>
                <a:gd name="connsiteY33" fmla="*/ 694373 h 751522"/>
                <a:gd name="connsiteX34" fmla="*/ 123825 w 666750"/>
                <a:gd name="connsiteY34" fmla="*/ 732473 h 751522"/>
                <a:gd name="connsiteX35" fmla="*/ 123825 w 666750"/>
                <a:gd name="connsiteY35" fmla="*/ 751523 h 751522"/>
                <a:gd name="connsiteX36" fmla="*/ 542925 w 666750"/>
                <a:gd name="connsiteY36" fmla="*/ 751523 h 751522"/>
                <a:gd name="connsiteX37" fmla="*/ 542925 w 666750"/>
                <a:gd name="connsiteY37" fmla="*/ 732473 h 751522"/>
                <a:gd name="connsiteX38" fmla="*/ 504825 w 666750"/>
                <a:gd name="connsiteY38" fmla="*/ 694373 h 751522"/>
                <a:gd name="connsiteX39" fmla="*/ 457200 w 666750"/>
                <a:gd name="connsiteY39" fmla="*/ 694373 h 751522"/>
                <a:gd name="connsiteX40" fmla="*/ 419100 w 666750"/>
                <a:gd name="connsiteY40" fmla="*/ 656273 h 751522"/>
                <a:gd name="connsiteX41" fmla="*/ 371475 w 666750"/>
                <a:gd name="connsiteY41" fmla="*/ 656273 h 751522"/>
                <a:gd name="connsiteX42" fmla="*/ 371475 w 666750"/>
                <a:gd name="connsiteY42" fmla="*/ 533400 h 751522"/>
                <a:gd name="connsiteX43" fmla="*/ 384810 w 666750"/>
                <a:gd name="connsiteY43" fmla="*/ 485775 h 751522"/>
                <a:gd name="connsiteX44" fmla="*/ 612458 w 666750"/>
                <a:gd name="connsiteY44" fmla="*/ 400050 h 751522"/>
                <a:gd name="connsiteX45" fmla="*/ 666750 w 666750"/>
                <a:gd name="connsiteY45" fmla="*/ 266700 h 751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66750" h="751522">
                  <a:moveTo>
                    <a:pt x="570548" y="361950"/>
                  </a:moveTo>
                  <a:cubicBezTo>
                    <a:pt x="537210" y="396240"/>
                    <a:pt x="505778" y="418148"/>
                    <a:pt x="437198" y="425768"/>
                  </a:cubicBezTo>
                  <a:cubicBezTo>
                    <a:pt x="455295" y="407670"/>
                    <a:pt x="476250" y="389573"/>
                    <a:pt x="494348" y="367665"/>
                  </a:cubicBezTo>
                  <a:cubicBezTo>
                    <a:pt x="501967" y="359093"/>
                    <a:pt x="516255" y="340043"/>
                    <a:pt x="516255" y="339090"/>
                  </a:cubicBezTo>
                  <a:cubicBezTo>
                    <a:pt x="532448" y="312420"/>
                    <a:pt x="541973" y="281940"/>
                    <a:pt x="541973" y="248602"/>
                  </a:cubicBezTo>
                  <a:lnTo>
                    <a:pt x="541973" y="124778"/>
                  </a:lnTo>
                  <a:lnTo>
                    <a:pt x="608648" y="124778"/>
                  </a:lnTo>
                  <a:lnTo>
                    <a:pt x="608648" y="269558"/>
                  </a:lnTo>
                  <a:cubicBezTo>
                    <a:pt x="609600" y="271463"/>
                    <a:pt x="611505" y="319088"/>
                    <a:pt x="570548" y="361950"/>
                  </a:cubicBezTo>
                  <a:close/>
                  <a:moveTo>
                    <a:pt x="97155" y="361950"/>
                  </a:moveTo>
                  <a:cubicBezTo>
                    <a:pt x="55245" y="319088"/>
                    <a:pt x="57150" y="271463"/>
                    <a:pt x="57150" y="269558"/>
                  </a:cubicBezTo>
                  <a:lnTo>
                    <a:pt x="57150" y="123825"/>
                  </a:lnTo>
                  <a:lnTo>
                    <a:pt x="123825" y="123825"/>
                  </a:lnTo>
                  <a:lnTo>
                    <a:pt x="123825" y="247650"/>
                  </a:lnTo>
                  <a:cubicBezTo>
                    <a:pt x="123825" y="280988"/>
                    <a:pt x="133350" y="311468"/>
                    <a:pt x="149543" y="338138"/>
                  </a:cubicBezTo>
                  <a:cubicBezTo>
                    <a:pt x="149543" y="339090"/>
                    <a:pt x="163830" y="359093"/>
                    <a:pt x="171450" y="366713"/>
                  </a:cubicBezTo>
                  <a:cubicBezTo>
                    <a:pt x="190500" y="388620"/>
                    <a:pt x="210502" y="406718"/>
                    <a:pt x="228600" y="424815"/>
                  </a:cubicBezTo>
                  <a:cubicBezTo>
                    <a:pt x="161925" y="417195"/>
                    <a:pt x="129540" y="395288"/>
                    <a:pt x="97155" y="361950"/>
                  </a:cubicBezTo>
                  <a:close/>
                  <a:moveTo>
                    <a:pt x="666750" y="266700"/>
                  </a:moveTo>
                  <a:lnTo>
                    <a:pt x="666750" y="66675"/>
                  </a:lnTo>
                  <a:lnTo>
                    <a:pt x="542925" y="66675"/>
                  </a:lnTo>
                  <a:lnTo>
                    <a:pt x="542925" y="0"/>
                  </a:lnTo>
                  <a:lnTo>
                    <a:pt x="333375" y="0"/>
                  </a:lnTo>
                  <a:lnTo>
                    <a:pt x="123825" y="0"/>
                  </a:lnTo>
                  <a:lnTo>
                    <a:pt x="123825" y="66675"/>
                  </a:lnTo>
                  <a:lnTo>
                    <a:pt x="0" y="66675"/>
                  </a:lnTo>
                  <a:lnTo>
                    <a:pt x="0" y="265748"/>
                  </a:lnTo>
                  <a:cubicBezTo>
                    <a:pt x="0" y="275273"/>
                    <a:pt x="0" y="340995"/>
                    <a:pt x="54293" y="399098"/>
                  </a:cubicBezTo>
                  <a:cubicBezTo>
                    <a:pt x="106680" y="454343"/>
                    <a:pt x="170498" y="482918"/>
                    <a:pt x="281940" y="484823"/>
                  </a:cubicBezTo>
                  <a:cubicBezTo>
                    <a:pt x="290513" y="499110"/>
                    <a:pt x="295275" y="515303"/>
                    <a:pt x="295275" y="532448"/>
                  </a:cubicBezTo>
                  <a:lnTo>
                    <a:pt x="295275" y="656273"/>
                  </a:lnTo>
                  <a:lnTo>
                    <a:pt x="247650" y="656273"/>
                  </a:lnTo>
                  <a:cubicBezTo>
                    <a:pt x="226695" y="656273"/>
                    <a:pt x="209550" y="673418"/>
                    <a:pt x="209550" y="694373"/>
                  </a:cubicBezTo>
                  <a:lnTo>
                    <a:pt x="161925" y="694373"/>
                  </a:lnTo>
                  <a:cubicBezTo>
                    <a:pt x="140970" y="694373"/>
                    <a:pt x="123825" y="711518"/>
                    <a:pt x="123825" y="732473"/>
                  </a:cubicBezTo>
                  <a:lnTo>
                    <a:pt x="123825" y="751523"/>
                  </a:lnTo>
                  <a:lnTo>
                    <a:pt x="542925" y="751523"/>
                  </a:lnTo>
                  <a:lnTo>
                    <a:pt x="542925" y="732473"/>
                  </a:lnTo>
                  <a:cubicBezTo>
                    <a:pt x="542925" y="711518"/>
                    <a:pt x="525780" y="694373"/>
                    <a:pt x="504825" y="694373"/>
                  </a:cubicBezTo>
                  <a:lnTo>
                    <a:pt x="457200" y="694373"/>
                  </a:lnTo>
                  <a:cubicBezTo>
                    <a:pt x="457200" y="673418"/>
                    <a:pt x="440055" y="656273"/>
                    <a:pt x="419100" y="656273"/>
                  </a:cubicBezTo>
                  <a:lnTo>
                    <a:pt x="371475" y="656273"/>
                  </a:lnTo>
                  <a:lnTo>
                    <a:pt x="371475" y="533400"/>
                  </a:lnTo>
                  <a:cubicBezTo>
                    <a:pt x="371475" y="516255"/>
                    <a:pt x="376238" y="500063"/>
                    <a:pt x="384810" y="485775"/>
                  </a:cubicBezTo>
                  <a:cubicBezTo>
                    <a:pt x="496253" y="483870"/>
                    <a:pt x="560070" y="454343"/>
                    <a:pt x="612458" y="400050"/>
                  </a:cubicBezTo>
                  <a:cubicBezTo>
                    <a:pt x="666750" y="342900"/>
                    <a:pt x="666750" y="276225"/>
                    <a:pt x="666750" y="266700"/>
                  </a:cubicBezTo>
                  <a:close/>
                </a:path>
              </a:pathLst>
            </a:custGeom>
            <a:solidFill>
              <a:srgbClr val="4C4C4D"/>
            </a:solidFill>
            <a:ln w="9525" cap="flat">
              <a:noFill/>
              <a:prstDash val="solid"/>
              <a:miter/>
            </a:ln>
          </p:spPr>
          <p:txBody>
            <a:bodyPr rtlCol="0" anchor="ctr"/>
            <a:lstStyle/>
            <a:p>
              <a:endParaRPr lang="en-US" dirty="0"/>
            </a:p>
          </p:txBody>
        </p:sp>
        <p:sp>
          <p:nvSpPr>
            <p:cNvPr id="65" name="Rectangle 64">
              <a:extLst>
                <a:ext uri="{FF2B5EF4-FFF2-40B4-BE49-F238E27FC236}">
                  <a16:creationId xmlns:a16="http://schemas.microsoft.com/office/drawing/2014/main" id="{DE887962-5430-6A24-C672-79FEACD73626}"/>
                </a:ext>
              </a:extLst>
            </p:cNvPr>
            <p:cNvSpPr/>
            <p:nvPr/>
          </p:nvSpPr>
          <p:spPr>
            <a:xfrm>
              <a:off x="9189376" y="3926101"/>
              <a:ext cx="1898269" cy="553998"/>
            </a:xfrm>
            <a:prstGeom prst="rect">
              <a:avLst/>
            </a:prstGeom>
          </p:spPr>
          <p:txBody>
            <a:bodyPr wrap="square" lIns="0" tIns="0" rIns="0" bIns="0" anchor="ctr">
              <a:noAutofit/>
            </a:bodyPr>
            <a:lstStyle/>
            <a:p>
              <a:pPr marL="285750" indent="-285750">
                <a:buFont typeface="Wingdings" panose="05000000000000000000" pitchFamily="2" charset="2"/>
                <a:buChar char="Ø"/>
              </a:pPr>
              <a:r>
                <a:rPr lang="en-SG" sz="1400" dirty="0">
                  <a:solidFill>
                    <a:schemeClr val="bg2"/>
                  </a:solidFill>
                </a:rPr>
                <a:t>Delivering a frictionless guest experience</a:t>
              </a:r>
              <a:endParaRPr lang="en-AU" sz="1400" dirty="0">
                <a:solidFill>
                  <a:schemeClr val="bg2"/>
                </a:solidFill>
              </a:endParaRPr>
            </a:p>
          </p:txBody>
        </p:sp>
        <p:sp>
          <p:nvSpPr>
            <p:cNvPr id="66" name="Rectangle 65">
              <a:extLst>
                <a:ext uri="{FF2B5EF4-FFF2-40B4-BE49-F238E27FC236}">
                  <a16:creationId xmlns:a16="http://schemas.microsoft.com/office/drawing/2014/main" id="{5618090C-45EF-99E6-7F23-792A4C0A8AA9}"/>
                </a:ext>
              </a:extLst>
            </p:cNvPr>
            <p:cNvSpPr/>
            <p:nvPr/>
          </p:nvSpPr>
          <p:spPr>
            <a:xfrm>
              <a:off x="9189376" y="4667034"/>
              <a:ext cx="2231541" cy="215444"/>
            </a:xfrm>
            <a:prstGeom prst="rect">
              <a:avLst/>
            </a:prstGeom>
          </p:spPr>
          <p:txBody>
            <a:bodyPr wrap="square" lIns="0" tIns="0" rIns="0" bIns="0" anchor="ctr">
              <a:spAutoFit/>
            </a:bodyPr>
            <a:lstStyle/>
            <a:p>
              <a:pPr marL="285750" indent="-285750">
                <a:buFont typeface="Wingdings" panose="05000000000000000000" pitchFamily="2" charset="2"/>
                <a:buChar char="Ø"/>
              </a:pPr>
              <a:r>
                <a:rPr lang="en-SG" sz="1400" dirty="0">
                  <a:solidFill>
                    <a:schemeClr val="bg2"/>
                  </a:solidFill>
                </a:rPr>
                <a:t>Offering experiential travel</a:t>
              </a:r>
              <a:endParaRPr lang="en-AU" sz="1400" dirty="0">
                <a:solidFill>
                  <a:schemeClr val="bg2"/>
                </a:solidFill>
              </a:endParaRPr>
            </a:p>
          </p:txBody>
        </p:sp>
        <p:sp>
          <p:nvSpPr>
            <p:cNvPr id="67" name="Rectangle 66">
              <a:extLst>
                <a:ext uri="{FF2B5EF4-FFF2-40B4-BE49-F238E27FC236}">
                  <a16:creationId xmlns:a16="http://schemas.microsoft.com/office/drawing/2014/main" id="{2C4D29D4-BC52-D23B-6D7F-95E4CFB6445E}"/>
                </a:ext>
              </a:extLst>
            </p:cNvPr>
            <p:cNvSpPr/>
            <p:nvPr/>
          </p:nvSpPr>
          <p:spPr>
            <a:xfrm>
              <a:off x="8601007" y="5126173"/>
              <a:ext cx="2012814" cy="646331"/>
            </a:xfrm>
            <a:prstGeom prst="rect">
              <a:avLst/>
            </a:prstGeom>
          </p:spPr>
          <p:txBody>
            <a:bodyPr wrap="square" lIns="0" tIns="0" rIns="0" bIns="0" anchor="ctr">
              <a:spAutoFit/>
            </a:bodyPr>
            <a:lstStyle/>
            <a:p>
              <a:pPr marL="285750" indent="-285750">
                <a:buFont typeface="Wingdings" panose="05000000000000000000" pitchFamily="2" charset="2"/>
                <a:buChar char="Ø"/>
              </a:pPr>
              <a:r>
                <a:rPr lang="en-SG" sz="1400" dirty="0">
                  <a:solidFill>
                    <a:schemeClr val="bg2"/>
                  </a:solidFill>
                </a:rPr>
                <a:t>Local and green design, with the comforts of home</a:t>
              </a:r>
              <a:endParaRPr lang="en-AU" sz="1400" dirty="0">
                <a:solidFill>
                  <a:schemeClr val="bg2"/>
                </a:solidFill>
              </a:endParaRPr>
            </a:p>
          </p:txBody>
        </p:sp>
      </p:grpSp>
    </p:spTree>
    <p:extLst>
      <p:ext uri="{BB962C8B-B14F-4D97-AF65-F5344CB8AC3E}">
        <p14:creationId xmlns:p14="http://schemas.microsoft.com/office/powerpoint/2010/main" val="3546991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A4064B55-7865-AC32-241F-20A6E94EB15B}"/>
              </a:ext>
            </a:extLst>
          </p:cNvPr>
          <p:cNvSpPr/>
          <p:nvPr/>
        </p:nvSpPr>
        <p:spPr>
          <a:xfrm>
            <a:off x="0" y="1784480"/>
            <a:ext cx="12191999" cy="758952"/>
          </a:xfrm>
          <a:prstGeom prst="rect">
            <a:avLst/>
          </a:prstGeom>
          <a:solidFill>
            <a:schemeClr val="bg1">
              <a:lumMod val="85000"/>
            </a:schemeClr>
          </a:solidFill>
          <a:ln w="12700">
            <a:miter lim="400000"/>
          </a:ln>
        </p:spPr>
        <p:txBody>
          <a:bodyPr lIns="38100" tIns="38100" rIns="38100" bIns="38100" anchor="ctr"/>
          <a:lstStyle/>
          <a:p>
            <a:pPr>
              <a:defRPr sz="3000">
                <a:solidFill>
                  <a:srgbClr val="FFFFFF"/>
                </a:solidFill>
              </a:defRPr>
            </a:pPr>
            <a:endParaRPr dirty="0"/>
          </a:p>
        </p:txBody>
      </p:sp>
      <p:sp>
        <p:nvSpPr>
          <p:cNvPr id="5" name="Freeform: Shape 4">
            <a:extLst>
              <a:ext uri="{FF2B5EF4-FFF2-40B4-BE49-F238E27FC236}">
                <a16:creationId xmlns:a16="http://schemas.microsoft.com/office/drawing/2014/main" id="{76536F22-F584-1203-0D15-CA8B9375A9B4}"/>
              </a:ext>
            </a:extLst>
          </p:cNvPr>
          <p:cNvSpPr/>
          <p:nvPr/>
        </p:nvSpPr>
        <p:spPr>
          <a:xfrm>
            <a:off x="1701931" y="1784480"/>
            <a:ext cx="999492" cy="758952"/>
          </a:xfrm>
          <a:custGeom>
            <a:avLst/>
            <a:gdLst>
              <a:gd name="connsiteX0" fmla="*/ 0 w 999492"/>
              <a:gd name="connsiteY0" fmla="*/ 0 h 754388"/>
              <a:gd name="connsiteX1" fmla="*/ 999492 w 999492"/>
              <a:gd name="connsiteY1" fmla="*/ 0 h 754388"/>
              <a:gd name="connsiteX2" fmla="*/ 318651 w 999492"/>
              <a:gd name="connsiteY2" fmla="*/ 754339 h 754388"/>
              <a:gd name="connsiteX3" fmla="*/ 317688 w 999492"/>
              <a:gd name="connsiteY3" fmla="*/ 754388 h 754388"/>
              <a:gd name="connsiteX4" fmla="*/ 0 w 999492"/>
              <a:gd name="connsiteY4" fmla="*/ 754388 h 754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492" h="754388">
                <a:moveTo>
                  <a:pt x="0" y="0"/>
                </a:moveTo>
                <a:lnTo>
                  <a:pt x="999492" y="0"/>
                </a:lnTo>
                <a:cubicBezTo>
                  <a:pt x="999492" y="392903"/>
                  <a:pt x="700384" y="715544"/>
                  <a:pt x="318651" y="754339"/>
                </a:cubicBezTo>
                <a:lnTo>
                  <a:pt x="317688" y="754388"/>
                </a:lnTo>
                <a:lnTo>
                  <a:pt x="0" y="754388"/>
                </a:lnTo>
                <a:close/>
              </a:path>
            </a:pathLst>
          </a:custGeom>
          <a:solidFill>
            <a:schemeClr val="tx1">
              <a:lumMod val="95000"/>
              <a:lumOff val="5000"/>
              <a:alpha val="43000"/>
            </a:schemeClr>
          </a:solidFill>
          <a:ln w="12700">
            <a:miter lim="400000"/>
          </a:ln>
        </p:spPr>
        <p:txBody>
          <a:bodyPr wrap="square" lIns="38100" tIns="38100" rIns="38100" bIns="38100" anchor="ctr">
            <a:noAutofit/>
          </a:bodyPr>
          <a:lstStyle/>
          <a:p>
            <a:endParaRPr sz="3000" dirty="0">
              <a:solidFill>
                <a:srgbClr val="FFFFFF"/>
              </a:solidFill>
            </a:endParaRPr>
          </a:p>
        </p:txBody>
      </p:sp>
      <p:sp>
        <p:nvSpPr>
          <p:cNvPr id="9" name="Freeform: Shape 8">
            <a:extLst>
              <a:ext uri="{FF2B5EF4-FFF2-40B4-BE49-F238E27FC236}">
                <a16:creationId xmlns:a16="http://schemas.microsoft.com/office/drawing/2014/main" id="{ABC2DC4D-69C9-3880-D9B7-3C37107552F8}"/>
              </a:ext>
            </a:extLst>
          </p:cNvPr>
          <p:cNvSpPr/>
          <p:nvPr/>
        </p:nvSpPr>
        <p:spPr>
          <a:xfrm>
            <a:off x="481103" y="1361574"/>
            <a:ext cx="2166631" cy="2491741"/>
          </a:xfrm>
          <a:custGeom>
            <a:avLst/>
            <a:gdLst>
              <a:gd name="connsiteX0" fmla="*/ 86342 w 2166631"/>
              <a:gd name="connsiteY0" fmla="*/ 0 h 2491741"/>
              <a:gd name="connsiteX1" fmla="*/ 172742 w 2166631"/>
              <a:gd name="connsiteY1" fmla="*/ 86463 h 2491741"/>
              <a:gd name="connsiteX2" fmla="*/ 105445 w 2166631"/>
              <a:gd name="connsiteY2" fmla="*/ 171432 h 2491741"/>
              <a:gd name="connsiteX3" fmla="*/ 105612 w 2166631"/>
              <a:gd name="connsiteY3" fmla="*/ 422906 h 2491741"/>
              <a:gd name="connsiteX4" fmla="*/ 2166631 w 2166631"/>
              <a:gd name="connsiteY4" fmla="*/ 422906 h 2491741"/>
              <a:gd name="connsiteX5" fmla="*/ 1485790 w 2166631"/>
              <a:gd name="connsiteY5" fmla="*/ 1181809 h 2491741"/>
              <a:gd name="connsiteX6" fmla="*/ 1484827 w 2166631"/>
              <a:gd name="connsiteY6" fmla="*/ 1181858 h 2491741"/>
              <a:gd name="connsiteX7" fmla="*/ 106117 w 2166631"/>
              <a:gd name="connsiteY7" fmla="*/ 1181858 h 2491741"/>
              <a:gd name="connsiteX8" fmla="*/ 106672 w 2166631"/>
              <a:gd name="connsiteY8" fmla="*/ 2014324 h 2491741"/>
              <a:gd name="connsiteX9" fmla="*/ 415294 w 2166631"/>
              <a:gd name="connsiteY9" fmla="*/ 2379862 h 2491741"/>
              <a:gd name="connsiteX10" fmla="*/ 497839 w 2166631"/>
              <a:gd name="connsiteY10" fmla="*/ 2319063 h 2491741"/>
              <a:gd name="connsiteX11" fmla="*/ 584181 w 2166631"/>
              <a:gd name="connsiteY11" fmla="*/ 2405278 h 2491741"/>
              <a:gd name="connsiteX12" fmla="*/ 497839 w 2166631"/>
              <a:gd name="connsiteY12" fmla="*/ 2491741 h 2491741"/>
              <a:gd name="connsiteX13" fmla="*/ 412782 w 2166631"/>
              <a:gd name="connsiteY13" fmla="*/ 2419231 h 2491741"/>
              <a:gd name="connsiteX14" fmla="*/ 67298 w 2166631"/>
              <a:gd name="connsiteY14" fmla="*/ 2011832 h 2491741"/>
              <a:gd name="connsiteX15" fmla="*/ 67298 w 2166631"/>
              <a:gd name="connsiteY15" fmla="*/ 171432 h 2491741"/>
              <a:gd name="connsiteX16" fmla="*/ 0 w 2166631"/>
              <a:gd name="connsiteY16" fmla="*/ 86463 h 2491741"/>
              <a:gd name="connsiteX17" fmla="*/ 86342 w 2166631"/>
              <a:gd name="connsiteY17" fmla="*/ 0 h 249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6631" h="2491741">
                <a:moveTo>
                  <a:pt x="86342" y="0"/>
                </a:moveTo>
                <a:cubicBezTo>
                  <a:pt x="133369" y="0"/>
                  <a:pt x="172742" y="38124"/>
                  <a:pt x="172742" y="86463"/>
                </a:cubicBezTo>
                <a:cubicBezTo>
                  <a:pt x="172742" y="128325"/>
                  <a:pt x="143475" y="162461"/>
                  <a:pt x="105445" y="171432"/>
                </a:cubicBezTo>
                <a:lnTo>
                  <a:pt x="105612" y="422906"/>
                </a:lnTo>
                <a:lnTo>
                  <a:pt x="2166631" y="422906"/>
                </a:lnTo>
                <a:cubicBezTo>
                  <a:pt x="2166631" y="818186"/>
                  <a:pt x="1867523" y="1142779"/>
                  <a:pt x="1485790" y="1181809"/>
                </a:cubicBezTo>
                <a:lnTo>
                  <a:pt x="1484827" y="1181858"/>
                </a:lnTo>
                <a:lnTo>
                  <a:pt x="106117" y="1181858"/>
                </a:lnTo>
                <a:lnTo>
                  <a:pt x="106672" y="2014324"/>
                </a:lnTo>
                <a:cubicBezTo>
                  <a:pt x="106672" y="2197217"/>
                  <a:pt x="240040" y="2349463"/>
                  <a:pt x="415294" y="2379862"/>
                </a:cubicBezTo>
                <a:cubicBezTo>
                  <a:pt x="425459" y="2344479"/>
                  <a:pt x="458465" y="2319063"/>
                  <a:pt x="497839" y="2319063"/>
                </a:cubicBezTo>
                <a:cubicBezTo>
                  <a:pt x="544807" y="2319063"/>
                  <a:pt x="584181" y="2357187"/>
                  <a:pt x="584181" y="2405278"/>
                </a:cubicBezTo>
                <a:cubicBezTo>
                  <a:pt x="584181" y="2452372"/>
                  <a:pt x="546151" y="2491741"/>
                  <a:pt x="497839" y="2491741"/>
                </a:cubicBezTo>
                <a:cubicBezTo>
                  <a:pt x="455953" y="2491741"/>
                  <a:pt x="420318" y="2460096"/>
                  <a:pt x="412782" y="2419231"/>
                </a:cubicBezTo>
                <a:cubicBezTo>
                  <a:pt x="217140" y="2386340"/>
                  <a:pt x="67298" y="2216155"/>
                  <a:pt x="67298" y="2011832"/>
                </a:cubicBezTo>
                <a:lnTo>
                  <a:pt x="67298" y="171432"/>
                </a:lnTo>
                <a:cubicBezTo>
                  <a:pt x="27924" y="161216"/>
                  <a:pt x="0" y="127079"/>
                  <a:pt x="0" y="86463"/>
                </a:cubicBezTo>
                <a:cubicBezTo>
                  <a:pt x="0" y="39369"/>
                  <a:pt x="38147" y="0"/>
                  <a:pt x="86342" y="0"/>
                </a:cubicBezTo>
                <a:close/>
              </a:path>
            </a:pathLst>
          </a:custGeom>
          <a:solidFill>
            <a:schemeClr val="accent3"/>
          </a:solidFill>
          <a:ln w="12700">
            <a:miter lim="400000"/>
          </a:ln>
        </p:spPr>
        <p:txBody>
          <a:bodyPr wrap="square" lIns="38100" tIns="38100" rIns="38100" bIns="38100" anchor="ctr">
            <a:noAutofit/>
          </a:bodyPr>
          <a:lstStyle/>
          <a:p>
            <a:pPr>
              <a:defRPr sz="3000">
                <a:solidFill>
                  <a:srgbClr val="FFFFFF"/>
                </a:solidFill>
              </a:defRPr>
            </a:pPr>
            <a:endParaRPr dirty="0"/>
          </a:p>
        </p:txBody>
      </p:sp>
      <p:sp>
        <p:nvSpPr>
          <p:cNvPr id="13" name="Shape">
            <a:extLst>
              <a:ext uri="{FF2B5EF4-FFF2-40B4-BE49-F238E27FC236}">
                <a16:creationId xmlns:a16="http://schemas.microsoft.com/office/drawing/2014/main" id="{E98D08C4-FE3A-0CA4-F595-F30DC4EB9181}"/>
              </a:ext>
            </a:extLst>
          </p:cNvPr>
          <p:cNvSpPr/>
          <p:nvPr/>
        </p:nvSpPr>
        <p:spPr>
          <a:xfrm>
            <a:off x="1103405" y="3685675"/>
            <a:ext cx="918208" cy="918208"/>
          </a:xfrm>
          <a:custGeom>
            <a:avLst/>
            <a:gdLst/>
            <a:ahLst/>
            <a:cxnLst>
              <a:cxn ang="0">
                <a:pos x="wd2" y="hd2"/>
              </a:cxn>
              <a:cxn ang="5400000">
                <a:pos x="wd2" y="hd2"/>
              </a:cxn>
              <a:cxn ang="10800000">
                <a:pos x="wd2" y="hd2"/>
              </a:cxn>
              <a:cxn ang="16200000">
                <a:pos x="wd2" y="hd2"/>
              </a:cxn>
            </a:cxnLst>
            <a:rect l="0" t="0" r="r" b="b"/>
            <a:pathLst>
              <a:path w="21600" h="21600" extrusionOk="0">
                <a:moveTo>
                  <a:pt x="21152" y="0"/>
                </a:moveTo>
                <a:lnTo>
                  <a:pt x="7558" y="0"/>
                </a:lnTo>
                <a:cubicBezTo>
                  <a:pt x="3406" y="0"/>
                  <a:pt x="0" y="3376"/>
                  <a:pt x="0" y="7558"/>
                </a:cubicBezTo>
                <a:lnTo>
                  <a:pt x="0" y="21152"/>
                </a:lnTo>
                <a:cubicBezTo>
                  <a:pt x="0" y="21391"/>
                  <a:pt x="209" y="21600"/>
                  <a:pt x="448" y="21600"/>
                </a:cubicBezTo>
                <a:lnTo>
                  <a:pt x="14042" y="21600"/>
                </a:lnTo>
                <a:cubicBezTo>
                  <a:pt x="18194" y="21600"/>
                  <a:pt x="21600" y="18224"/>
                  <a:pt x="21600" y="14042"/>
                </a:cubicBezTo>
                <a:lnTo>
                  <a:pt x="21600" y="448"/>
                </a:lnTo>
                <a:cubicBezTo>
                  <a:pt x="21600" y="209"/>
                  <a:pt x="21391" y="0"/>
                  <a:pt x="21152" y="0"/>
                </a:cubicBezTo>
                <a:close/>
                <a:moveTo>
                  <a:pt x="20704" y="14042"/>
                </a:moveTo>
                <a:cubicBezTo>
                  <a:pt x="20704" y="17716"/>
                  <a:pt x="17716" y="20704"/>
                  <a:pt x="14042" y="20704"/>
                </a:cubicBezTo>
                <a:lnTo>
                  <a:pt x="896" y="20704"/>
                </a:lnTo>
                <a:lnTo>
                  <a:pt x="896" y="7558"/>
                </a:lnTo>
                <a:cubicBezTo>
                  <a:pt x="896" y="3884"/>
                  <a:pt x="3884" y="896"/>
                  <a:pt x="7558" y="896"/>
                </a:cubicBezTo>
                <a:lnTo>
                  <a:pt x="20704" y="896"/>
                </a:lnTo>
                <a:lnTo>
                  <a:pt x="20704" y="14042"/>
                </a:lnTo>
                <a:close/>
              </a:path>
            </a:pathLst>
          </a:custGeom>
          <a:solidFill>
            <a:schemeClr val="accent3">
              <a:lumMod val="75000"/>
            </a:schemeClr>
          </a:solidFill>
          <a:ln w="12700">
            <a:miter lim="400000"/>
          </a:ln>
        </p:spPr>
        <p:txBody>
          <a:bodyPr lIns="38100" tIns="38100" rIns="38100" bIns="38100" anchor="ctr"/>
          <a:lstStyle/>
          <a:p>
            <a:pPr>
              <a:defRPr sz="3000">
                <a:solidFill>
                  <a:srgbClr val="FFFFFF"/>
                </a:solidFill>
              </a:defRPr>
            </a:pPr>
            <a:endParaRPr/>
          </a:p>
        </p:txBody>
      </p:sp>
      <p:sp>
        <p:nvSpPr>
          <p:cNvPr id="17" name="TextBox 16">
            <a:extLst>
              <a:ext uri="{FF2B5EF4-FFF2-40B4-BE49-F238E27FC236}">
                <a16:creationId xmlns:a16="http://schemas.microsoft.com/office/drawing/2014/main" id="{05A82EE9-8E2D-402A-0A08-F767CCD6BB7F}"/>
              </a:ext>
            </a:extLst>
          </p:cNvPr>
          <p:cNvSpPr txBox="1"/>
          <p:nvPr/>
        </p:nvSpPr>
        <p:spPr>
          <a:xfrm>
            <a:off x="691598" y="2634800"/>
            <a:ext cx="1857100" cy="830997"/>
          </a:xfrm>
          <a:prstGeom prst="rect">
            <a:avLst/>
          </a:prstGeom>
          <a:noFill/>
        </p:spPr>
        <p:txBody>
          <a:bodyPr wrap="square" lIns="0" rIns="0" rtlCol="0" anchor="t">
            <a:spAutoFit/>
          </a:bodyPr>
          <a:lstStyle/>
          <a:p>
            <a:r>
              <a:rPr lang="en-US" sz="1200" noProof="1">
                <a:solidFill>
                  <a:schemeClr val="tx1">
                    <a:lumMod val="65000"/>
                    <a:lumOff val="35000"/>
                  </a:schemeClr>
                </a:solidFill>
              </a:rPr>
              <a:t>Ensure that the systems used and the interface between the systems are PCI DSS compliant</a:t>
            </a:r>
          </a:p>
        </p:txBody>
      </p:sp>
      <p:sp>
        <p:nvSpPr>
          <p:cNvPr id="25" name="TextBox 24">
            <a:extLst>
              <a:ext uri="{FF2B5EF4-FFF2-40B4-BE49-F238E27FC236}">
                <a16:creationId xmlns:a16="http://schemas.microsoft.com/office/drawing/2014/main" id="{D11D1BD1-F9BD-870A-F84B-5B9A8493B2E4}"/>
              </a:ext>
            </a:extLst>
          </p:cNvPr>
          <p:cNvSpPr txBox="1"/>
          <p:nvPr/>
        </p:nvSpPr>
        <p:spPr>
          <a:xfrm>
            <a:off x="691598" y="1963768"/>
            <a:ext cx="1857101" cy="400110"/>
          </a:xfrm>
          <a:prstGeom prst="rect">
            <a:avLst/>
          </a:prstGeom>
          <a:noFill/>
        </p:spPr>
        <p:txBody>
          <a:bodyPr wrap="square" lIns="0" rIns="0" rtlCol="0" anchor="ctr">
            <a:spAutoFit/>
          </a:bodyPr>
          <a:lstStyle/>
          <a:p>
            <a:r>
              <a:rPr lang="en-US" sz="2000" b="1" noProof="1"/>
              <a:t>PCI Compliance</a:t>
            </a:r>
          </a:p>
        </p:txBody>
      </p:sp>
      <p:sp>
        <p:nvSpPr>
          <p:cNvPr id="6" name="Freeform: Shape 5">
            <a:extLst>
              <a:ext uri="{FF2B5EF4-FFF2-40B4-BE49-F238E27FC236}">
                <a16:creationId xmlns:a16="http://schemas.microsoft.com/office/drawing/2014/main" id="{63206590-1F45-A836-5389-E1574B244CA0}"/>
              </a:ext>
            </a:extLst>
          </p:cNvPr>
          <p:cNvSpPr/>
          <p:nvPr/>
        </p:nvSpPr>
        <p:spPr>
          <a:xfrm>
            <a:off x="3892606" y="1784480"/>
            <a:ext cx="999492" cy="758952"/>
          </a:xfrm>
          <a:custGeom>
            <a:avLst/>
            <a:gdLst>
              <a:gd name="connsiteX0" fmla="*/ 0 w 999492"/>
              <a:gd name="connsiteY0" fmla="*/ 0 h 754388"/>
              <a:gd name="connsiteX1" fmla="*/ 999492 w 999492"/>
              <a:gd name="connsiteY1" fmla="*/ 0 h 754388"/>
              <a:gd name="connsiteX2" fmla="*/ 318651 w 999492"/>
              <a:gd name="connsiteY2" fmla="*/ 754339 h 754388"/>
              <a:gd name="connsiteX3" fmla="*/ 317688 w 999492"/>
              <a:gd name="connsiteY3" fmla="*/ 754388 h 754388"/>
              <a:gd name="connsiteX4" fmla="*/ 0 w 999492"/>
              <a:gd name="connsiteY4" fmla="*/ 754388 h 754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492" h="754388">
                <a:moveTo>
                  <a:pt x="0" y="0"/>
                </a:moveTo>
                <a:lnTo>
                  <a:pt x="999492" y="0"/>
                </a:lnTo>
                <a:cubicBezTo>
                  <a:pt x="999492" y="392903"/>
                  <a:pt x="700384" y="715544"/>
                  <a:pt x="318651" y="754339"/>
                </a:cubicBezTo>
                <a:lnTo>
                  <a:pt x="317688" y="754388"/>
                </a:lnTo>
                <a:lnTo>
                  <a:pt x="0" y="754388"/>
                </a:lnTo>
                <a:close/>
              </a:path>
            </a:pathLst>
          </a:custGeom>
          <a:solidFill>
            <a:schemeClr val="tx1">
              <a:alpha val="25000"/>
            </a:schemeClr>
          </a:solidFill>
          <a:ln w="12700">
            <a:miter lim="400000"/>
          </a:ln>
        </p:spPr>
        <p:txBody>
          <a:bodyPr wrap="square" lIns="38100" tIns="38100" rIns="38100" bIns="38100" anchor="ctr">
            <a:noAutofit/>
          </a:bodyPr>
          <a:lstStyle/>
          <a:p>
            <a:endParaRPr sz="3000" dirty="0">
              <a:solidFill>
                <a:srgbClr val="FFFFFF"/>
              </a:solidFill>
            </a:endParaRPr>
          </a:p>
        </p:txBody>
      </p:sp>
      <p:sp>
        <p:nvSpPr>
          <p:cNvPr id="10" name="Freeform: Shape 9">
            <a:extLst>
              <a:ext uri="{FF2B5EF4-FFF2-40B4-BE49-F238E27FC236}">
                <a16:creationId xmlns:a16="http://schemas.microsoft.com/office/drawing/2014/main" id="{94EE4043-D382-2802-D50F-36A0DBCF2C72}"/>
              </a:ext>
            </a:extLst>
          </p:cNvPr>
          <p:cNvSpPr/>
          <p:nvPr/>
        </p:nvSpPr>
        <p:spPr>
          <a:xfrm>
            <a:off x="2673056" y="1361574"/>
            <a:ext cx="2165353" cy="3920497"/>
          </a:xfrm>
          <a:custGeom>
            <a:avLst/>
            <a:gdLst>
              <a:gd name="connsiteX0" fmla="*/ 86292 w 2165353"/>
              <a:gd name="connsiteY0" fmla="*/ 0 h 3920497"/>
              <a:gd name="connsiteX1" fmla="*/ 172760 w 2165353"/>
              <a:gd name="connsiteY1" fmla="*/ 86251 h 3920497"/>
              <a:gd name="connsiteX2" fmla="*/ 105397 w 2165353"/>
              <a:gd name="connsiteY2" fmla="*/ 171718 h 3920497"/>
              <a:gd name="connsiteX3" fmla="*/ 105496 w 2165353"/>
              <a:gd name="connsiteY3" fmla="*/ 422906 h 3920497"/>
              <a:gd name="connsiteX4" fmla="*/ 2165353 w 2165353"/>
              <a:gd name="connsiteY4" fmla="*/ 422906 h 3920497"/>
              <a:gd name="connsiteX5" fmla="*/ 1484546 w 2165353"/>
              <a:gd name="connsiteY5" fmla="*/ 1181705 h 3920497"/>
              <a:gd name="connsiteX6" fmla="*/ 1481533 w 2165353"/>
              <a:gd name="connsiteY6" fmla="*/ 1181858 h 3920497"/>
              <a:gd name="connsiteX7" fmla="*/ 105794 w 2165353"/>
              <a:gd name="connsiteY7" fmla="*/ 1181858 h 3920497"/>
              <a:gd name="connsiteX8" fmla="*/ 106683 w 2165353"/>
              <a:gd name="connsiteY8" fmla="*/ 3442981 h 3920497"/>
              <a:gd name="connsiteX9" fmla="*/ 415338 w 2165353"/>
              <a:gd name="connsiteY9" fmla="*/ 3808763 h 3920497"/>
              <a:gd name="connsiteX10" fmla="*/ 497833 w 2165353"/>
              <a:gd name="connsiteY10" fmla="*/ 3747603 h 3920497"/>
              <a:gd name="connsiteX11" fmla="*/ 584242 w 2165353"/>
              <a:gd name="connsiteY11" fmla="*/ 3834246 h 3920497"/>
              <a:gd name="connsiteX12" fmla="*/ 497833 w 2165353"/>
              <a:gd name="connsiteY12" fmla="*/ 3920497 h 3920497"/>
              <a:gd name="connsiteX13" fmla="*/ 412709 w 2165353"/>
              <a:gd name="connsiteY13" fmla="*/ 3847968 h 3920497"/>
              <a:gd name="connsiteX14" fmla="*/ 67246 w 2165353"/>
              <a:gd name="connsiteY14" fmla="*/ 3440236 h 3920497"/>
              <a:gd name="connsiteX15" fmla="*/ 67246 w 2165353"/>
              <a:gd name="connsiteY15" fmla="*/ 171718 h 3920497"/>
              <a:gd name="connsiteX16" fmla="*/ 0 w 2165353"/>
              <a:gd name="connsiteY16" fmla="*/ 86251 h 3920497"/>
              <a:gd name="connsiteX17" fmla="*/ 86292 w 2165353"/>
              <a:gd name="connsiteY17" fmla="*/ 0 h 3920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5353" h="3920497">
                <a:moveTo>
                  <a:pt x="86292" y="0"/>
                </a:moveTo>
                <a:cubicBezTo>
                  <a:pt x="133324" y="0"/>
                  <a:pt x="172760" y="38029"/>
                  <a:pt x="172760" y="86251"/>
                </a:cubicBezTo>
                <a:cubicBezTo>
                  <a:pt x="172760" y="128200"/>
                  <a:pt x="143490" y="162701"/>
                  <a:pt x="105397" y="171718"/>
                </a:cubicBezTo>
                <a:lnTo>
                  <a:pt x="105496" y="422906"/>
                </a:lnTo>
                <a:lnTo>
                  <a:pt x="2165353" y="422906"/>
                </a:lnTo>
                <a:cubicBezTo>
                  <a:pt x="2165353" y="818184"/>
                  <a:pt x="1866244" y="1142686"/>
                  <a:pt x="1484546" y="1181705"/>
                </a:cubicBezTo>
                <a:lnTo>
                  <a:pt x="1481533" y="1181858"/>
                </a:lnTo>
                <a:lnTo>
                  <a:pt x="105794" y="1181858"/>
                </a:lnTo>
                <a:lnTo>
                  <a:pt x="106683" y="3442981"/>
                </a:lnTo>
                <a:cubicBezTo>
                  <a:pt x="106683" y="3626068"/>
                  <a:pt x="240007" y="3778183"/>
                  <a:pt x="415338" y="3808763"/>
                </a:cubicBezTo>
                <a:cubicBezTo>
                  <a:pt x="425445" y="3773086"/>
                  <a:pt x="458513" y="3747603"/>
                  <a:pt x="497833" y="3747603"/>
                </a:cubicBezTo>
                <a:cubicBezTo>
                  <a:pt x="544806" y="3747603"/>
                  <a:pt x="584242" y="3785632"/>
                  <a:pt x="584242" y="3834246"/>
                </a:cubicBezTo>
                <a:cubicBezTo>
                  <a:pt x="584242" y="3881292"/>
                  <a:pt x="546150" y="3920497"/>
                  <a:pt x="497833" y="3920497"/>
                </a:cubicBezTo>
                <a:cubicBezTo>
                  <a:pt x="456001" y="3920497"/>
                  <a:pt x="420362" y="3888741"/>
                  <a:pt x="412709" y="3847968"/>
                </a:cubicBezTo>
                <a:cubicBezTo>
                  <a:pt x="217221" y="3815036"/>
                  <a:pt x="67246" y="3644886"/>
                  <a:pt x="67246" y="3440236"/>
                </a:cubicBezTo>
                <a:lnTo>
                  <a:pt x="67246" y="171718"/>
                </a:lnTo>
                <a:cubicBezTo>
                  <a:pt x="27927" y="161524"/>
                  <a:pt x="0" y="127024"/>
                  <a:pt x="0" y="86251"/>
                </a:cubicBezTo>
                <a:cubicBezTo>
                  <a:pt x="0" y="39205"/>
                  <a:pt x="38092" y="0"/>
                  <a:pt x="86292" y="0"/>
                </a:cubicBezTo>
                <a:close/>
              </a:path>
            </a:pathLst>
          </a:custGeom>
          <a:solidFill>
            <a:srgbClr val="278CCB"/>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14" name="Shape">
            <a:extLst>
              <a:ext uri="{FF2B5EF4-FFF2-40B4-BE49-F238E27FC236}">
                <a16:creationId xmlns:a16="http://schemas.microsoft.com/office/drawing/2014/main" id="{13323F1E-E114-32A9-74CC-84C3E3DF220F}"/>
              </a:ext>
            </a:extLst>
          </p:cNvPr>
          <p:cNvSpPr/>
          <p:nvPr/>
        </p:nvSpPr>
        <p:spPr>
          <a:xfrm>
            <a:off x="3333457" y="5095375"/>
            <a:ext cx="918208" cy="918208"/>
          </a:xfrm>
          <a:custGeom>
            <a:avLst/>
            <a:gdLst/>
            <a:ahLst/>
            <a:cxnLst>
              <a:cxn ang="0">
                <a:pos x="wd2" y="hd2"/>
              </a:cxn>
              <a:cxn ang="5400000">
                <a:pos x="wd2" y="hd2"/>
              </a:cxn>
              <a:cxn ang="10800000">
                <a:pos x="wd2" y="hd2"/>
              </a:cxn>
              <a:cxn ang="16200000">
                <a:pos x="wd2" y="hd2"/>
              </a:cxn>
            </a:cxnLst>
            <a:rect l="0" t="0" r="r" b="b"/>
            <a:pathLst>
              <a:path w="21600" h="21600" extrusionOk="0">
                <a:moveTo>
                  <a:pt x="21152" y="0"/>
                </a:moveTo>
                <a:lnTo>
                  <a:pt x="7558" y="0"/>
                </a:lnTo>
                <a:cubicBezTo>
                  <a:pt x="3406" y="0"/>
                  <a:pt x="0" y="3376"/>
                  <a:pt x="0" y="7558"/>
                </a:cubicBezTo>
                <a:lnTo>
                  <a:pt x="0" y="21152"/>
                </a:lnTo>
                <a:cubicBezTo>
                  <a:pt x="0" y="21391"/>
                  <a:pt x="209" y="21600"/>
                  <a:pt x="448" y="21600"/>
                </a:cubicBezTo>
                <a:lnTo>
                  <a:pt x="14042" y="21600"/>
                </a:lnTo>
                <a:cubicBezTo>
                  <a:pt x="18194" y="21600"/>
                  <a:pt x="21600" y="18224"/>
                  <a:pt x="21600" y="14042"/>
                </a:cubicBezTo>
                <a:lnTo>
                  <a:pt x="21600" y="448"/>
                </a:lnTo>
                <a:cubicBezTo>
                  <a:pt x="21600" y="209"/>
                  <a:pt x="21421" y="0"/>
                  <a:pt x="21152" y="0"/>
                </a:cubicBezTo>
                <a:close/>
                <a:moveTo>
                  <a:pt x="20704" y="14042"/>
                </a:moveTo>
                <a:cubicBezTo>
                  <a:pt x="20704" y="17716"/>
                  <a:pt x="17716" y="20704"/>
                  <a:pt x="14042" y="20704"/>
                </a:cubicBezTo>
                <a:lnTo>
                  <a:pt x="896" y="20704"/>
                </a:lnTo>
                <a:lnTo>
                  <a:pt x="896" y="7558"/>
                </a:lnTo>
                <a:cubicBezTo>
                  <a:pt x="896" y="3884"/>
                  <a:pt x="3884" y="896"/>
                  <a:pt x="7558" y="896"/>
                </a:cubicBezTo>
                <a:lnTo>
                  <a:pt x="20704" y="896"/>
                </a:lnTo>
                <a:lnTo>
                  <a:pt x="20704" y="14042"/>
                </a:lnTo>
                <a:close/>
              </a:path>
            </a:pathLst>
          </a:custGeom>
          <a:solidFill>
            <a:srgbClr val="278CCB"/>
          </a:solidFill>
          <a:ln w="12700">
            <a:miter lim="400000"/>
          </a:ln>
        </p:spPr>
        <p:txBody>
          <a:bodyPr lIns="38100" tIns="38100" rIns="38100" bIns="38100" anchor="ctr"/>
          <a:lstStyle/>
          <a:p>
            <a:pPr>
              <a:defRPr sz="3000">
                <a:solidFill>
                  <a:srgbClr val="FFFFFF"/>
                </a:solidFill>
              </a:defRPr>
            </a:pPr>
            <a:endParaRPr/>
          </a:p>
        </p:txBody>
      </p:sp>
      <p:sp>
        <p:nvSpPr>
          <p:cNvPr id="18" name="TextBox 17">
            <a:extLst>
              <a:ext uri="{FF2B5EF4-FFF2-40B4-BE49-F238E27FC236}">
                <a16:creationId xmlns:a16="http://schemas.microsoft.com/office/drawing/2014/main" id="{68C56A93-6A67-88EE-FC44-B4E127810096}"/>
              </a:ext>
            </a:extLst>
          </p:cNvPr>
          <p:cNvSpPr txBox="1"/>
          <p:nvPr/>
        </p:nvSpPr>
        <p:spPr>
          <a:xfrm>
            <a:off x="2902684" y="2634800"/>
            <a:ext cx="1650266" cy="646331"/>
          </a:xfrm>
          <a:prstGeom prst="rect">
            <a:avLst/>
          </a:prstGeom>
          <a:noFill/>
        </p:spPr>
        <p:txBody>
          <a:bodyPr wrap="square" lIns="0" rIns="0" rtlCol="0" anchor="t">
            <a:spAutoFit/>
          </a:bodyPr>
          <a:lstStyle/>
          <a:p>
            <a:r>
              <a:rPr lang="en-US" sz="1200" noProof="1">
                <a:solidFill>
                  <a:schemeClr val="tx1">
                    <a:lumMod val="65000"/>
                    <a:lumOff val="35000"/>
                  </a:schemeClr>
                </a:solidFill>
              </a:rPr>
              <a:t>Consolidate relationships to an efficient number of payment service providers </a:t>
            </a:r>
          </a:p>
        </p:txBody>
      </p:sp>
      <p:sp>
        <p:nvSpPr>
          <p:cNvPr id="26" name="TextBox 25">
            <a:extLst>
              <a:ext uri="{FF2B5EF4-FFF2-40B4-BE49-F238E27FC236}">
                <a16:creationId xmlns:a16="http://schemas.microsoft.com/office/drawing/2014/main" id="{3192B890-4A7D-E55D-5067-C3114F447AC0}"/>
              </a:ext>
            </a:extLst>
          </p:cNvPr>
          <p:cNvSpPr txBox="1"/>
          <p:nvPr/>
        </p:nvSpPr>
        <p:spPr>
          <a:xfrm>
            <a:off x="2902684" y="1809880"/>
            <a:ext cx="1897807" cy="707886"/>
          </a:xfrm>
          <a:prstGeom prst="rect">
            <a:avLst/>
          </a:prstGeom>
          <a:noFill/>
        </p:spPr>
        <p:txBody>
          <a:bodyPr wrap="square" lIns="0" rIns="0" rtlCol="0" anchor="b">
            <a:spAutoFit/>
          </a:bodyPr>
          <a:lstStyle/>
          <a:p>
            <a:r>
              <a:rPr lang="en-US" sz="2000" b="1" noProof="1">
                <a:solidFill>
                  <a:schemeClr val="bg1"/>
                </a:solidFill>
              </a:rPr>
              <a:t>Operational Efficiency</a:t>
            </a:r>
          </a:p>
        </p:txBody>
      </p:sp>
      <p:sp>
        <p:nvSpPr>
          <p:cNvPr id="7" name="Freeform: Shape 6">
            <a:extLst>
              <a:ext uri="{FF2B5EF4-FFF2-40B4-BE49-F238E27FC236}">
                <a16:creationId xmlns:a16="http://schemas.microsoft.com/office/drawing/2014/main" id="{91BF213C-E953-904F-629A-1A69AD9F2398}"/>
              </a:ext>
            </a:extLst>
          </p:cNvPr>
          <p:cNvSpPr/>
          <p:nvPr/>
        </p:nvSpPr>
        <p:spPr>
          <a:xfrm>
            <a:off x="6087087" y="1784480"/>
            <a:ext cx="999492" cy="758952"/>
          </a:xfrm>
          <a:custGeom>
            <a:avLst/>
            <a:gdLst>
              <a:gd name="connsiteX0" fmla="*/ 0 w 999492"/>
              <a:gd name="connsiteY0" fmla="*/ 0 h 754388"/>
              <a:gd name="connsiteX1" fmla="*/ 999492 w 999492"/>
              <a:gd name="connsiteY1" fmla="*/ 0 h 754388"/>
              <a:gd name="connsiteX2" fmla="*/ 318651 w 999492"/>
              <a:gd name="connsiteY2" fmla="*/ 754339 h 754388"/>
              <a:gd name="connsiteX3" fmla="*/ 317688 w 999492"/>
              <a:gd name="connsiteY3" fmla="*/ 754388 h 754388"/>
              <a:gd name="connsiteX4" fmla="*/ 0 w 999492"/>
              <a:gd name="connsiteY4" fmla="*/ 754388 h 754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492" h="754388">
                <a:moveTo>
                  <a:pt x="0" y="0"/>
                </a:moveTo>
                <a:lnTo>
                  <a:pt x="999492" y="0"/>
                </a:lnTo>
                <a:cubicBezTo>
                  <a:pt x="999492" y="392903"/>
                  <a:pt x="700384" y="715544"/>
                  <a:pt x="318651" y="754339"/>
                </a:cubicBezTo>
                <a:lnTo>
                  <a:pt x="317688" y="754388"/>
                </a:lnTo>
                <a:lnTo>
                  <a:pt x="0" y="754388"/>
                </a:lnTo>
                <a:close/>
              </a:path>
            </a:pathLst>
          </a:custGeom>
          <a:solidFill>
            <a:schemeClr val="tx1">
              <a:alpha val="25000"/>
            </a:schemeClr>
          </a:solidFill>
          <a:ln w="12700">
            <a:miter lim="400000"/>
          </a:ln>
        </p:spPr>
        <p:txBody>
          <a:bodyPr wrap="square" lIns="38100" tIns="38100" rIns="38100" bIns="38100" anchor="ctr">
            <a:noAutofit/>
          </a:bodyPr>
          <a:lstStyle/>
          <a:p>
            <a:endParaRPr sz="3000" dirty="0">
              <a:solidFill>
                <a:srgbClr val="FFFFFF"/>
              </a:solidFill>
            </a:endParaRPr>
          </a:p>
        </p:txBody>
      </p:sp>
      <p:sp>
        <p:nvSpPr>
          <p:cNvPr id="11" name="Freeform: Shape 10">
            <a:extLst>
              <a:ext uri="{FF2B5EF4-FFF2-40B4-BE49-F238E27FC236}">
                <a16:creationId xmlns:a16="http://schemas.microsoft.com/office/drawing/2014/main" id="{51FEAB0B-1456-E754-4E69-238F14D7E0B8}"/>
              </a:ext>
            </a:extLst>
          </p:cNvPr>
          <p:cNvSpPr/>
          <p:nvPr/>
        </p:nvSpPr>
        <p:spPr>
          <a:xfrm>
            <a:off x="4863731" y="1361574"/>
            <a:ext cx="2169159" cy="2490470"/>
          </a:xfrm>
          <a:custGeom>
            <a:avLst/>
            <a:gdLst>
              <a:gd name="connsiteX0" fmla="*/ 86374 w 2169159"/>
              <a:gd name="connsiteY0" fmla="*/ 0 h 2490470"/>
              <a:gd name="connsiteX1" fmla="*/ 172749 w 2169159"/>
              <a:gd name="connsiteY1" fmla="*/ 86419 h 2490470"/>
              <a:gd name="connsiteX2" fmla="*/ 107996 w 2169159"/>
              <a:gd name="connsiteY2" fmla="*/ 170099 h 2490470"/>
              <a:gd name="connsiteX3" fmla="*/ 107996 w 2169159"/>
              <a:gd name="connsiteY3" fmla="*/ 420391 h 2490470"/>
              <a:gd name="connsiteX4" fmla="*/ 107996 w 2169159"/>
              <a:gd name="connsiteY4" fmla="*/ 421636 h 2490470"/>
              <a:gd name="connsiteX5" fmla="*/ 107997 w 2169159"/>
              <a:gd name="connsiteY5" fmla="*/ 422906 h 2490470"/>
              <a:gd name="connsiteX6" fmla="*/ 2169159 w 2169159"/>
              <a:gd name="connsiteY6" fmla="*/ 422906 h 2490470"/>
              <a:gd name="connsiteX7" fmla="*/ 1488327 w 2169159"/>
              <a:gd name="connsiteY7" fmla="*/ 1180510 h 2490470"/>
              <a:gd name="connsiteX8" fmla="*/ 1461768 w 2169159"/>
              <a:gd name="connsiteY8" fmla="*/ 1181858 h 2490470"/>
              <a:gd name="connsiteX9" fmla="*/ 108567 w 2169159"/>
              <a:gd name="connsiteY9" fmla="*/ 1181858 h 2490470"/>
              <a:gd name="connsiteX10" fmla="*/ 109191 w 2169159"/>
              <a:gd name="connsiteY10" fmla="*/ 2012798 h 2490470"/>
              <a:gd name="connsiteX11" fmla="*/ 401316 w 2169159"/>
              <a:gd name="connsiteY11" fmla="*/ 2376158 h 2490470"/>
              <a:gd name="connsiteX12" fmla="*/ 482626 w 2169159"/>
              <a:gd name="connsiteY12" fmla="*/ 2317632 h 2490470"/>
              <a:gd name="connsiteX13" fmla="*/ 569000 w 2169159"/>
              <a:gd name="connsiteY13" fmla="*/ 2404051 h 2490470"/>
              <a:gd name="connsiteX14" fmla="*/ 482626 w 2169159"/>
              <a:gd name="connsiteY14" fmla="*/ 2490470 h 2490470"/>
              <a:gd name="connsiteX15" fmla="*/ 396252 w 2169159"/>
              <a:gd name="connsiteY15" fmla="*/ 2415507 h 2490470"/>
              <a:gd name="connsiteX16" fmla="*/ 68564 w 2169159"/>
              <a:gd name="connsiteY16" fmla="*/ 2011553 h 2490470"/>
              <a:gd name="connsiteX17" fmla="*/ 68564 w 2169159"/>
              <a:gd name="connsiteY17" fmla="*/ 171344 h 2490470"/>
              <a:gd name="connsiteX18" fmla="*/ 0 w 2169159"/>
              <a:gd name="connsiteY18" fmla="*/ 86419 h 2490470"/>
              <a:gd name="connsiteX19" fmla="*/ 86374 w 2169159"/>
              <a:gd name="connsiteY19" fmla="*/ 0 h 2490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69159" h="2490470">
                <a:moveTo>
                  <a:pt x="86374" y="0"/>
                </a:moveTo>
                <a:cubicBezTo>
                  <a:pt x="133317" y="0"/>
                  <a:pt x="172749" y="38104"/>
                  <a:pt x="172749" y="86419"/>
                </a:cubicBezTo>
                <a:cubicBezTo>
                  <a:pt x="172749" y="127014"/>
                  <a:pt x="146063" y="160137"/>
                  <a:pt x="107996" y="170099"/>
                </a:cubicBezTo>
                <a:lnTo>
                  <a:pt x="107996" y="420391"/>
                </a:lnTo>
                <a:lnTo>
                  <a:pt x="107996" y="421636"/>
                </a:lnTo>
                <a:lnTo>
                  <a:pt x="107997" y="422906"/>
                </a:lnTo>
                <a:lnTo>
                  <a:pt x="2169159" y="422906"/>
                </a:lnTo>
                <a:cubicBezTo>
                  <a:pt x="2169159" y="817547"/>
                  <a:pt x="1869971" y="1141551"/>
                  <a:pt x="1488327" y="1180510"/>
                </a:cubicBezTo>
                <a:lnTo>
                  <a:pt x="1461768" y="1181858"/>
                </a:lnTo>
                <a:lnTo>
                  <a:pt x="108567" y="1181858"/>
                </a:lnTo>
                <a:lnTo>
                  <a:pt x="109191" y="2012798"/>
                </a:lnTo>
                <a:cubicBezTo>
                  <a:pt x="109191" y="2190618"/>
                  <a:pt x="234940" y="2339299"/>
                  <a:pt x="401316" y="2376158"/>
                </a:cubicBezTo>
                <a:cubicBezTo>
                  <a:pt x="412753" y="2341789"/>
                  <a:pt x="444446" y="2317632"/>
                  <a:pt x="482626" y="2317632"/>
                </a:cubicBezTo>
                <a:cubicBezTo>
                  <a:pt x="529625" y="2317632"/>
                  <a:pt x="569000" y="2355736"/>
                  <a:pt x="569000" y="2404051"/>
                </a:cubicBezTo>
                <a:cubicBezTo>
                  <a:pt x="569000" y="2451121"/>
                  <a:pt x="530820" y="2490470"/>
                  <a:pt x="482626" y="2490470"/>
                </a:cubicBezTo>
                <a:cubicBezTo>
                  <a:pt x="438187" y="2490470"/>
                  <a:pt x="401316" y="2458841"/>
                  <a:pt x="396252" y="2415507"/>
                </a:cubicBezTo>
                <a:cubicBezTo>
                  <a:pt x="209620" y="2376158"/>
                  <a:pt x="68564" y="2209794"/>
                  <a:pt x="68564" y="2011553"/>
                </a:cubicBezTo>
                <a:lnTo>
                  <a:pt x="68564" y="171344"/>
                </a:lnTo>
                <a:cubicBezTo>
                  <a:pt x="29189" y="162628"/>
                  <a:pt x="0" y="128259"/>
                  <a:pt x="0" y="86419"/>
                </a:cubicBezTo>
                <a:cubicBezTo>
                  <a:pt x="0" y="39349"/>
                  <a:pt x="38066" y="0"/>
                  <a:pt x="86374" y="0"/>
                </a:cubicBezTo>
                <a:close/>
              </a:path>
            </a:pathLst>
          </a:custGeom>
          <a:solidFill>
            <a:srgbClr val="FECE11"/>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15" name="Shape">
            <a:extLst>
              <a:ext uri="{FF2B5EF4-FFF2-40B4-BE49-F238E27FC236}">
                <a16:creationId xmlns:a16="http://schemas.microsoft.com/office/drawing/2014/main" id="{0E2F9580-851A-69D2-2BEF-907E2C3FE69A}"/>
              </a:ext>
            </a:extLst>
          </p:cNvPr>
          <p:cNvSpPr/>
          <p:nvPr/>
        </p:nvSpPr>
        <p:spPr>
          <a:xfrm>
            <a:off x="5473331" y="3685675"/>
            <a:ext cx="918208" cy="918208"/>
          </a:xfrm>
          <a:custGeom>
            <a:avLst/>
            <a:gdLst/>
            <a:ahLst/>
            <a:cxnLst>
              <a:cxn ang="0">
                <a:pos x="wd2" y="hd2"/>
              </a:cxn>
              <a:cxn ang="5400000">
                <a:pos x="wd2" y="hd2"/>
              </a:cxn>
              <a:cxn ang="10800000">
                <a:pos x="wd2" y="hd2"/>
              </a:cxn>
              <a:cxn ang="16200000">
                <a:pos x="wd2" y="hd2"/>
              </a:cxn>
            </a:cxnLst>
            <a:rect l="0" t="0" r="r" b="b"/>
            <a:pathLst>
              <a:path w="21600" h="21600" extrusionOk="0">
                <a:moveTo>
                  <a:pt x="21152" y="0"/>
                </a:moveTo>
                <a:lnTo>
                  <a:pt x="7558" y="0"/>
                </a:lnTo>
                <a:cubicBezTo>
                  <a:pt x="3406" y="0"/>
                  <a:pt x="0" y="3376"/>
                  <a:pt x="0" y="7558"/>
                </a:cubicBezTo>
                <a:lnTo>
                  <a:pt x="0" y="21152"/>
                </a:lnTo>
                <a:cubicBezTo>
                  <a:pt x="0" y="21391"/>
                  <a:pt x="209" y="21600"/>
                  <a:pt x="448" y="21600"/>
                </a:cubicBezTo>
                <a:lnTo>
                  <a:pt x="14042" y="21600"/>
                </a:lnTo>
                <a:cubicBezTo>
                  <a:pt x="18194" y="21600"/>
                  <a:pt x="21600" y="18224"/>
                  <a:pt x="21600" y="14042"/>
                </a:cubicBezTo>
                <a:lnTo>
                  <a:pt x="21600" y="448"/>
                </a:lnTo>
                <a:cubicBezTo>
                  <a:pt x="21600" y="209"/>
                  <a:pt x="21391" y="0"/>
                  <a:pt x="21152" y="0"/>
                </a:cubicBezTo>
                <a:close/>
                <a:moveTo>
                  <a:pt x="20704" y="14042"/>
                </a:moveTo>
                <a:cubicBezTo>
                  <a:pt x="20704" y="17716"/>
                  <a:pt x="17716" y="20704"/>
                  <a:pt x="14042" y="20704"/>
                </a:cubicBezTo>
                <a:lnTo>
                  <a:pt x="896" y="20704"/>
                </a:lnTo>
                <a:lnTo>
                  <a:pt x="896" y="7558"/>
                </a:lnTo>
                <a:cubicBezTo>
                  <a:pt x="896" y="3884"/>
                  <a:pt x="3884" y="896"/>
                  <a:pt x="7558" y="896"/>
                </a:cubicBezTo>
                <a:lnTo>
                  <a:pt x="20704" y="896"/>
                </a:lnTo>
                <a:lnTo>
                  <a:pt x="20704" y="14042"/>
                </a:lnTo>
                <a:close/>
              </a:path>
            </a:pathLst>
          </a:custGeom>
          <a:solidFill>
            <a:schemeClr val="accent6">
              <a:lumMod val="75000"/>
            </a:schemeClr>
          </a:solidFill>
          <a:ln w="12700">
            <a:miter lim="400000"/>
          </a:ln>
        </p:spPr>
        <p:txBody>
          <a:bodyPr lIns="38100" tIns="38100" rIns="38100" bIns="38100" anchor="ctr"/>
          <a:lstStyle/>
          <a:p>
            <a:pPr>
              <a:defRPr sz="3000">
                <a:solidFill>
                  <a:srgbClr val="FFFFFF"/>
                </a:solidFill>
              </a:defRPr>
            </a:pPr>
            <a:endParaRPr/>
          </a:p>
        </p:txBody>
      </p:sp>
      <p:sp>
        <p:nvSpPr>
          <p:cNvPr id="19" name="TextBox 18">
            <a:extLst>
              <a:ext uri="{FF2B5EF4-FFF2-40B4-BE49-F238E27FC236}">
                <a16:creationId xmlns:a16="http://schemas.microsoft.com/office/drawing/2014/main" id="{6A45DFF2-40CE-325B-FD90-65A8DE0FC3E1}"/>
              </a:ext>
            </a:extLst>
          </p:cNvPr>
          <p:cNvSpPr txBox="1"/>
          <p:nvPr/>
        </p:nvSpPr>
        <p:spPr>
          <a:xfrm>
            <a:off x="5065571" y="2634800"/>
            <a:ext cx="1857100" cy="646331"/>
          </a:xfrm>
          <a:prstGeom prst="rect">
            <a:avLst/>
          </a:prstGeom>
          <a:noFill/>
        </p:spPr>
        <p:txBody>
          <a:bodyPr wrap="square" lIns="0" rIns="0" rtlCol="0" anchor="t">
            <a:spAutoFit/>
          </a:bodyPr>
          <a:lstStyle/>
          <a:p>
            <a:r>
              <a:rPr lang="en-US" sz="1200" noProof="1">
                <a:solidFill>
                  <a:schemeClr val="tx1">
                    <a:lumMod val="65000"/>
                    <a:lumOff val="35000"/>
                  </a:schemeClr>
                </a:solidFill>
              </a:rPr>
              <a:t>Accept payments the way your customers want and across multiple channels </a:t>
            </a:r>
          </a:p>
        </p:txBody>
      </p:sp>
      <p:sp>
        <p:nvSpPr>
          <p:cNvPr id="8" name="Freeform: Shape 7">
            <a:extLst>
              <a:ext uri="{FF2B5EF4-FFF2-40B4-BE49-F238E27FC236}">
                <a16:creationId xmlns:a16="http://schemas.microsoft.com/office/drawing/2014/main" id="{2D1EEA6C-A7EF-105F-C6A8-9EC228D075FD}"/>
              </a:ext>
            </a:extLst>
          </p:cNvPr>
          <p:cNvSpPr/>
          <p:nvPr/>
        </p:nvSpPr>
        <p:spPr>
          <a:xfrm>
            <a:off x="8279028" y="1784480"/>
            <a:ext cx="999492" cy="758952"/>
          </a:xfrm>
          <a:custGeom>
            <a:avLst/>
            <a:gdLst>
              <a:gd name="connsiteX0" fmla="*/ 0 w 999492"/>
              <a:gd name="connsiteY0" fmla="*/ 0 h 754388"/>
              <a:gd name="connsiteX1" fmla="*/ 999492 w 999492"/>
              <a:gd name="connsiteY1" fmla="*/ 0 h 754388"/>
              <a:gd name="connsiteX2" fmla="*/ 318651 w 999492"/>
              <a:gd name="connsiteY2" fmla="*/ 754339 h 754388"/>
              <a:gd name="connsiteX3" fmla="*/ 317688 w 999492"/>
              <a:gd name="connsiteY3" fmla="*/ 754388 h 754388"/>
              <a:gd name="connsiteX4" fmla="*/ 0 w 999492"/>
              <a:gd name="connsiteY4" fmla="*/ 754388 h 754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492" h="754388">
                <a:moveTo>
                  <a:pt x="0" y="0"/>
                </a:moveTo>
                <a:lnTo>
                  <a:pt x="999492" y="0"/>
                </a:lnTo>
                <a:cubicBezTo>
                  <a:pt x="999492" y="392903"/>
                  <a:pt x="700384" y="715544"/>
                  <a:pt x="318651" y="754339"/>
                </a:cubicBezTo>
                <a:lnTo>
                  <a:pt x="317688" y="754388"/>
                </a:lnTo>
                <a:lnTo>
                  <a:pt x="0" y="754388"/>
                </a:lnTo>
                <a:close/>
              </a:path>
            </a:pathLst>
          </a:custGeom>
          <a:solidFill>
            <a:schemeClr val="tx1">
              <a:alpha val="25000"/>
            </a:schemeClr>
          </a:solidFill>
          <a:ln w="12700">
            <a:miter lim="400000"/>
          </a:ln>
        </p:spPr>
        <p:txBody>
          <a:bodyPr wrap="square" lIns="38100" tIns="38100" rIns="38100" bIns="38100" anchor="ctr">
            <a:noAutofit/>
          </a:bodyPr>
          <a:lstStyle/>
          <a:p>
            <a:endParaRPr sz="3000" dirty="0">
              <a:solidFill>
                <a:srgbClr val="FFFFFF"/>
              </a:solidFill>
            </a:endParaRPr>
          </a:p>
        </p:txBody>
      </p:sp>
      <p:sp>
        <p:nvSpPr>
          <p:cNvPr id="12" name="Freeform: Shape 11">
            <a:extLst>
              <a:ext uri="{FF2B5EF4-FFF2-40B4-BE49-F238E27FC236}">
                <a16:creationId xmlns:a16="http://schemas.microsoft.com/office/drawing/2014/main" id="{DD4DE6D5-510B-087A-6008-1DBF4CB43EC9}"/>
              </a:ext>
            </a:extLst>
          </p:cNvPr>
          <p:cNvSpPr/>
          <p:nvPr/>
        </p:nvSpPr>
        <p:spPr>
          <a:xfrm>
            <a:off x="7058212" y="1361575"/>
            <a:ext cx="2166618" cy="3919215"/>
          </a:xfrm>
          <a:custGeom>
            <a:avLst/>
            <a:gdLst>
              <a:gd name="connsiteX0" fmla="*/ 86366 w 2166618"/>
              <a:gd name="connsiteY0" fmla="*/ 0 h 3919215"/>
              <a:gd name="connsiteX1" fmla="*/ 172731 w 2166618"/>
              <a:gd name="connsiteY1" fmla="*/ 86223 h 3919215"/>
              <a:gd name="connsiteX2" fmla="*/ 107928 w 2166618"/>
              <a:gd name="connsiteY2" fmla="*/ 170094 h 3919215"/>
              <a:gd name="connsiteX3" fmla="*/ 108025 w 2166618"/>
              <a:gd name="connsiteY3" fmla="*/ 422905 h 3919215"/>
              <a:gd name="connsiteX4" fmla="*/ 2166618 w 2166618"/>
              <a:gd name="connsiteY4" fmla="*/ 422905 h 3919215"/>
              <a:gd name="connsiteX5" fmla="*/ 1485781 w 2166618"/>
              <a:gd name="connsiteY5" fmla="*/ 1180408 h 3919215"/>
              <a:gd name="connsiteX6" fmla="*/ 1457202 w 2166618"/>
              <a:gd name="connsiteY6" fmla="*/ 1181857 h 3919215"/>
              <a:gd name="connsiteX7" fmla="*/ 108315 w 2166618"/>
              <a:gd name="connsiteY7" fmla="*/ 1181857 h 3919215"/>
              <a:gd name="connsiteX8" fmla="*/ 109180 w 2166618"/>
              <a:gd name="connsiteY8" fmla="*/ 3441463 h 3919215"/>
              <a:gd name="connsiteX9" fmla="*/ 401332 w 2166618"/>
              <a:gd name="connsiteY9" fmla="*/ 3804774 h 3919215"/>
              <a:gd name="connsiteX10" fmla="*/ 482577 w 2166618"/>
              <a:gd name="connsiteY10" fmla="*/ 3746378 h 3919215"/>
              <a:gd name="connsiteX11" fmla="*/ 568943 w 2166618"/>
              <a:gd name="connsiteY11" fmla="*/ 3832992 h 3919215"/>
              <a:gd name="connsiteX12" fmla="*/ 482577 w 2166618"/>
              <a:gd name="connsiteY12" fmla="*/ 3919215 h 3919215"/>
              <a:gd name="connsiteX13" fmla="*/ 396212 w 2166618"/>
              <a:gd name="connsiteY13" fmla="*/ 3844358 h 3919215"/>
              <a:gd name="connsiteX14" fmla="*/ 68615 w 2166618"/>
              <a:gd name="connsiteY14" fmla="*/ 3440287 h 3919215"/>
              <a:gd name="connsiteX15" fmla="*/ 68615 w 2166618"/>
              <a:gd name="connsiteY15" fmla="*/ 171662 h 3919215"/>
              <a:gd name="connsiteX16" fmla="*/ 0 w 2166618"/>
              <a:gd name="connsiteY16" fmla="*/ 86223 h 3919215"/>
              <a:gd name="connsiteX17" fmla="*/ 86366 w 2166618"/>
              <a:gd name="connsiteY17" fmla="*/ 0 h 391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6618" h="3919215">
                <a:moveTo>
                  <a:pt x="86366" y="0"/>
                </a:moveTo>
                <a:cubicBezTo>
                  <a:pt x="133360" y="0"/>
                  <a:pt x="172731" y="38016"/>
                  <a:pt x="172731" y="86223"/>
                </a:cubicBezTo>
                <a:cubicBezTo>
                  <a:pt x="172731" y="126982"/>
                  <a:pt x="145991" y="159904"/>
                  <a:pt x="107928" y="170094"/>
                </a:cubicBezTo>
                <a:lnTo>
                  <a:pt x="108025" y="422905"/>
                </a:lnTo>
                <a:lnTo>
                  <a:pt x="2166618" y="422905"/>
                </a:lnTo>
                <a:cubicBezTo>
                  <a:pt x="2166618" y="817584"/>
                  <a:pt x="1867511" y="1141464"/>
                  <a:pt x="1485781" y="1180408"/>
                </a:cubicBezTo>
                <a:lnTo>
                  <a:pt x="1457202" y="1181857"/>
                </a:lnTo>
                <a:lnTo>
                  <a:pt x="108315" y="1181857"/>
                </a:lnTo>
                <a:lnTo>
                  <a:pt x="109180" y="3441463"/>
                </a:lnTo>
                <a:cubicBezTo>
                  <a:pt x="109180" y="3619395"/>
                  <a:pt x="234973" y="3767933"/>
                  <a:pt x="401332" y="3804774"/>
                </a:cubicBezTo>
                <a:cubicBezTo>
                  <a:pt x="412768" y="3770677"/>
                  <a:pt x="444515" y="3746378"/>
                  <a:pt x="482577" y="3746378"/>
                </a:cubicBezTo>
                <a:cubicBezTo>
                  <a:pt x="529572" y="3746378"/>
                  <a:pt x="568943" y="3784394"/>
                  <a:pt x="568943" y="3832992"/>
                </a:cubicBezTo>
                <a:cubicBezTo>
                  <a:pt x="568943" y="3880023"/>
                  <a:pt x="530824" y="3919215"/>
                  <a:pt x="482577" y="3919215"/>
                </a:cubicBezTo>
                <a:cubicBezTo>
                  <a:pt x="438200" y="3919215"/>
                  <a:pt x="401332" y="3887469"/>
                  <a:pt x="396212" y="3844358"/>
                </a:cubicBezTo>
                <a:cubicBezTo>
                  <a:pt x="209542" y="3804774"/>
                  <a:pt x="68615" y="3638599"/>
                  <a:pt x="68615" y="3440287"/>
                </a:cubicBezTo>
                <a:lnTo>
                  <a:pt x="68615" y="171662"/>
                </a:lnTo>
                <a:cubicBezTo>
                  <a:pt x="29187" y="162647"/>
                  <a:pt x="0" y="128158"/>
                  <a:pt x="0" y="86223"/>
                </a:cubicBezTo>
                <a:cubicBezTo>
                  <a:pt x="0" y="39192"/>
                  <a:pt x="39371" y="0"/>
                  <a:pt x="86366" y="0"/>
                </a:cubicBezTo>
                <a:close/>
              </a:path>
            </a:pathLst>
          </a:custGeom>
          <a:solidFill>
            <a:srgbClr val="278CCB"/>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16" name="Shape">
            <a:extLst>
              <a:ext uri="{FF2B5EF4-FFF2-40B4-BE49-F238E27FC236}">
                <a16:creationId xmlns:a16="http://schemas.microsoft.com/office/drawing/2014/main" id="{70C60797-7353-9900-A348-43EF53904A4C}"/>
              </a:ext>
            </a:extLst>
          </p:cNvPr>
          <p:cNvSpPr/>
          <p:nvPr/>
        </p:nvSpPr>
        <p:spPr>
          <a:xfrm>
            <a:off x="7705914" y="5095375"/>
            <a:ext cx="918208" cy="918208"/>
          </a:xfrm>
          <a:custGeom>
            <a:avLst/>
            <a:gdLst/>
            <a:ahLst/>
            <a:cxnLst>
              <a:cxn ang="0">
                <a:pos x="wd2" y="hd2"/>
              </a:cxn>
              <a:cxn ang="5400000">
                <a:pos x="wd2" y="hd2"/>
              </a:cxn>
              <a:cxn ang="10800000">
                <a:pos x="wd2" y="hd2"/>
              </a:cxn>
              <a:cxn ang="16200000">
                <a:pos x="wd2" y="hd2"/>
              </a:cxn>
            </a:cxnLst>
            <a:rect l="0" t="0" r="r" b="b"/>
            <a:pathLst>
              <a:path w="21600" h="21600" extrusionOk="0">
                <a:moveTo>
                  <a:pt x="21152" y="0"/>
                </a:moveTo>
                <a:lnTo>
                  <a:pt x="7558" y="0"/>
                </a:lnTo>
                <a:cubicBezTo>
                  <a:pt x="3406" y="0"/>
                  <a:pt x="0" y="3376"/>
                  <a:pt x="0" y="7558"/>
                </a:cubicBezTo>
                <a:lnTo>
                  <a:pt x="0" y="21152"/>
                </a:lnTo>
                <a:cubicBezTo>
                  <a:pt x="0" y="21391"/>
                  <a:pt x="209" y="21600"/>
                  <a:pt x="448" y="21600"/>
                </a:cubicBezTo>
                <a:lnTo>
                  <a:pt x="14042" y="21600"/>
                </a:lnTo>
                <a:cubicBezTo>
                  <a:pt x="18194" y="21600"/>
                  <a:pt x="21600" y="18224"/>
                  <a:pt x="21600" y="14042"/>
                </a:cubicBezTo>
                <a:lnTo>
                  <a:pt x="21600" y="448"/>
                </a:lnTo>
                <a:cubicBezTo>
                  <a:pt x="21600" y="209"/>
                  <a:pt x="21391" y="0"/>
                  <a:pt x="21152" y="0"/>
                </a:cubicBezTo>
                <a:close/>
                <a:moveTo>
                  <a:pt x="20704" y="14042"/>
                </a:moveTo>
                <a:cubicBezTo>
                  <a:pt x="20704" y="17716"/>
                  <a:pt x="17716" y="20704"/>
                  <a:pt x="14042" y="20704"/>
                </a:cubicBezTo>
                <a:lnTo>
                  <a:pt x="896" y="20704"/>
                </a:lnTo>
                <a:lnTo>
                  <a:pt x="896" y="7558"/>
                </a:lnTo>
                <a:cubicBezTo>
                  <a:pt x="896" y="3884"/>
                  <a:pt x="3884" y="896"/>
                  <a:pt x="7558" y="896"/>
                </a:cubicBezTo>
                <a:lnTo>
                  <a:pt x="20704" y="896"/>
                </a:lnTo>
                <a:lnTo>
                  <a:pt x="20704" y="14042"/>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endParaRPr/>
          </a:p>
        </p:txBody>
      </p:sp>
      <p:sp>
        <p:nvSpPr>
          <p:cNvPr id="20" name="TextBox 19">
            <a:extLst>
              <a:ext uri="{FF2B5EF4-FFF2-40B4-BE49-F238E27FC236}">
                <a16:creationId xmlns:a16="http://schemas.microsoft.com/office/drawing/2014/main" id="{34C3D1D7-F458-A6EF-64D3-2FE1A6F01015}"/>
              </a:ext>
            </a:extLst>
          </p:cNvPr>
          <p:cNvSpPr txBox="1"/>
          <p:nvPr/>
        </p:nvSpPr>
        <p:spPr>
          <a:xfrm>
            <a:off x="7261611" y="2634800"/>
            <a:ext cx="1882070" cy="461665"/>
          </a:xfrm>
          <a:prstGeom prst="rect">
            <a:avLst/>
          </a:prstGeom>
          <a:noFill/>
        </p:spPr>
        <p:txBody>
          <a:bodyPr wrap="square" lIns="0" rIns="0" rtlCol="0" anchor="t">
            <a:spAutoFit/>
          </a:bodyPr>
          <a:lstStyle/>
          <a:p>
            <a:r>
              <a:rPr lang="en-US" sz="1200" noProof="1">
                <a:solidFill>
                  <a:schemeClr val="tx1">
                    <a:lumMod val="65000"/>
                    <a:lumOff val="35000"/>
                  </a:schemeClr>
                </a:solidFill>
              </a:rPr>
              <a:t>Enable hotel guests to pay in their preferred currency</a:t>
            </a:r>
          </a:p>
        </p:txBody>
      </p:sp>
      <p:sp>
        <p:nvSpPr>
          <p:cNvPr id="46" name="Title 1">
            <a:extLst>
              <a:ext uri="{FF2B5EF4-FFF2-40B4-BE49-F238E27FC236}">
                <a16:creationId xmlns:a16="http://schemas.microsoft.com/office/drawing/2014/main" id="{A39FAC99-2EE5-49BE-A817-8D68CA82C73C}"/>
              </a:ext>
            </a:extLst>
          </p:cNvPr>
          <p:cNvSpPr txBox="1">
            <a:spLocks/>
          </p:cNvSpPr>
          <p:nvPr/>
        </p:nvSpPr>
        <p:spPr>
          <a:xfrm>
            <a:off x="387350" y="475648"/>
            <a:ext cx="11142800" cy="44319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latin typeface="Arial Black" pitchFamily="34" charset="0"/>
              </a:rPr>
              <a:t>Payment trends and best practices in the Hospitality industry</a:t>
            </a:r>
          </a:p>
        </p:txBody>
      </p:sp>
      <p:sp>
        <p:nvSpPr>
          <p:cNvPr id="47" name="Freeform: Shape 46">
            <a:extLst>
              <a:ext uri="{FF2B5EF4-FFF2-40B4-BE49-F238E27FC236}">
                <a16:creationId xmlns:a16="http://schemas.microsoft.com/office/drawing/2014/main" id="{2F635B5B-FF28-C7B9-5950-95C43347431F}"/>
              </a:ext>
            </a:extLst>
          </p:cNvPr>
          <p:cNvSpPr/>
          <p:nvPr/>
        </p:nvSpPr>
        <p:spPr>
          <a:xfrm>
            <a:off x="10473508" y="1784480"/>
            <a:ext cx="999492" cy="758952"/>
          </a:xfrm>
          <a:custGeom>
            <a:avLst/>
            <a:gdLst>
              <a:gd name="connsiteX0" fmla="*/ 0 w 999492"/>
              <a:gd name="connsiteY0" fmla="*/ 0 h 754388"/>
              <a:gd name="connsiteX1" fmla="*/ 999492 w 999492"/>
              <a:gd name="connsiteY1" fmla="*/ 0 h 754388"/>
              <a:gd name="connsiteX2" fmla="*/ 318651 w 999492"/>
              <a:gd name="connsiteY2" fmla="*/ 754339 h 754388"/>
              <a:gd name="connsiteX3" fmla="*/ 317688 w 999492"/>
              <a:gd name="connsiteY3" fmla="*/ 754388 h 754388"/>
              <a:gd name="connsiteX4" fmla="*/ 0 w 999492"/>
              <a:gd name="connsiteY4" fmla="*/ 754388 h 754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492" h="754388">
                <a:moveTo>
                  <a:pt x="0" y="0"/>
                </a:moveTo>
                <a:lnTo>
                  <a:pt x="999492" y="0"/>
                </a:lnTo>
                <a:cubicBezTo>
                  <a:pt x="999492" y="392903"/>
                  <a:pt x="700384" y="715544"/>
                  <a:pt x="318651" y="754339"/>
                </a:cubicBezTo>
                <a:lnTo>
                  <a:pt x="317688" y="754388"/>
                </a:lnTo>
                <a:lnTo>
                  <a:pt x="0" y="754388"/>
                </a:lnTo>
                <a:close/>
              </a:path>
            </a:pathLst>
          </a:custGeom>
          <a:solidFill>
            <a:schemeClr val="tx1">
              <a:alpha val="25000"/>
            </a:schemeClr>
          </a:solidFill>
          <a:ln w="12700">
            <a:miter lim="400000"/>
          </a:ln>
        </p:spPr>
        <p:txBody>
          <a:bodyPr wrap="square" lIns="38100" tIns="38100" rIns="38100" bIns="38100" anchor="ctr">
            <a:noAutofit/>
          </a:bodyPr>
          <a:lstStyle/>
          <a:p>
            <a:endParaRPr sz="3000" dirty="0">
              <a:solidFill>
                <a:srgbClr val="FFFFFF"/>
              </a:solidFill>
            </a:endParaRPr>
          </a:p>
        </p:txBody>
      </p:sp>
      <p:sp>
        <p:nvSpPr>
          <p:cNvPr id="48" name="Freeform: Shape 47">
            <a:extLst>
              <a:ext uri="{FF2B5EF4-FFF2-40B4-BE49-F238E27FC236}">
                <a16:creationId xmlns:a16="http://schemas.microsoft.com/office/drawing/2014/main" id="{666A2139-C8F0-3AEB-A2CA-E07C42EA94BB}"/>
              </a:ext>
            </a:extLst>
          </p:cNvPr>
          <p:cNvSpPr/>
          <p:nvPr/>
        </p:nvSpPr>
        <p:spPr>
          <a:xfrm>
            <a:off x="9250152" y="1361574"/>
            <a:ext cx="2169159" cy="2490470"/>
          </a:xfrm>
          <a:custGeom>
            <a:avLst/>
            <a:gdLst>
              <a:gd name="connsiteX0" fmla="*/ 86374 w 2169159"/>
              <a:gd name="connsiteY0" fmla="*/ 0 h 2490470"/>
              <a:gd name="connsiteX1" fmla="*/ 172749 w 2169159"/>
              <a:gd name="connsiteY1" fmla="*/ 86419 h 2490470"/>
              <a:gd name="connsiteX2" fmla="*/ 107996 w 2169159"/>
              <a:gd name="connsiteY2" fmla="*/ 170099 h 2490470"/>
              <a:gd name="connsiteX3" fmla="*/ 107996 w 2169159"/>
              <a:gd name="connsiteY3" fmla="*/ 420391 h 2490470"/>
              <a:gd name="connsiteX4" fmla="*/ 107996 w 2169159"/>
              <a:gd name="connsiteY4" fmla="*/ 421636 h 2490470"/>
              <a:gd name="connsiteX5" fmla="*/ 107997 w 2169159"/>
              <a:gd name="connsiteY5" fmla="*/ 422906 h 2490470"/>
              <a:gd name="connsiteX6" fmla="*/ 2169159 w 2169159"/>
              <a:gd name="connsiteY6" fmla="*/ 422906 h 2490470"/>
              <a:gd name="connsiteX7" fmla="*/ 1488327 w 2169159"/>
              <a:gd name="connsiteY7" fmla="*/ 1180510 h 2490470"/>
              <a:gd name="connsiteX8" fmla="*/ 1461768 w 2169159"/>
              <a:gd name="connsiteY8" fmla="*/ 1181858 h 2490470"/>
              <a:gd name="connsiteX9" fmla="*/ 108567 w 2169159"/>
              <a:gd name="connsiteY9" fmla="*/ 1181858 h 2490470"/>
              <a:gd name="connsiteX10" fmla="*/ 109191 w 2169159"/>
              <a:gd name="connsiteY10" fmla="*/ 2012798 h 2490470"/>
              <a:gd name="connsiteX11" fmla="*/ 401316 w 2169159"/>
              <a:gd name="connsiteY11" fmla="*/ 2376158 h 2490470"/>
              <a:gd name="connsiteX12" fmla="*/ 482626 w 2169159"/>
              <a:gd name="connsiteY12" fmla="*/ 2317632 h 2490470"/>
              <a:gd name="connsiteX13" fmla="*/ 569000 w 2169159"/>
              <a:gd name="connsiteY13" fmla="*/ 2404051 h 2490470"/>
              <a:gd name="connsiteX14" fmla="*/ 482626 w 2169159"/>
              <a:gd name="connsiteY14" fmla="*/ 2490470 h 2490470"/>
              <a:gd name="connsiteX15" fmla="*/ 396252 w 2169159"/>
              <a:gd name="connsiteY15" fmla="*/ 2415507 h 2490470"/>
              <a:gd name="connsiteX16" fmla="*/ 68564 w 2169159"/>
              <a:gd name="connsiteY16" fmla="*/ 2011553 h 2490470"/>
              <a:gd name="connsiteX17" fmla="*/ 68564 w 2169159"/>
              <a:gd name="connsiteY17" fmla="*/ 171344 h 2490470"/>
              <a:gd name="connsiteX18" fmla="*/ 0 w 2169159"/>
              <a:gd name="connsiteY18" fmla="*/ 86419 h 2490470"/>
              <a:gd name="connsiteX19" fmla="*/ 86374 w 2169159"/>
              <a:gd name="connsiteY19" fmla="*/ 0 h 2490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69159" h="2490470">
                <a:moveTo>
                  <a:pt x="86374" y="0"/>
                </a:moveTo>
                <a:cubicBezTo>
                  <a:pt x="133317" y="0"/>
                  <a:pt x="172749" y="38104"/>
                  <a:pt x="172749" y="86419"/>
                </a:cubicBezTo>
                <a:cubicBezTo>
                  <a:pt x="172749" y="127014"/>
                  <a:pt x="146063" y="160137"/>
                  <a:pt x="107996" y="170099"/>
                </a:cubicBezTo>
                <a:lnTo>
                  <a:pt x="107996" y="420391"/>
                </a:lnTo>
                <a:lnTo>
                  <a:pt x="107996" y="421636"/>
                </a:lnTo>
                <a:lnTo>
                  <a:pt x="107997" y="422906"/>
                </a:lnTo>
                <a:lnTo>
                  <a:pt x="2169159" y="422906"/>
                </a:lnTo>
                <a:cubicBezTo>
                  <a:pt x="2169159" y="817547"/>
                  <a:pt x="1869971" y="1141551"/>
                  <a:pt x="1488327" y="1180510"/>
                </a:cubicBezTo>
                <a:lnTo>
                  <a:pt x="1461768" y="1181858"/>
                </a:lnTo>
                <a:lnTo>
                  <a:pt x="108567" y="1181858"/>
                </a:lnTo>
                <a:lnTo>
                  <a:pt x="109191" y="2012798"/>
                </a:lnTo>
                <a:cubicBezTo>
                  <a:pt x="109191" y="2190618"/>
                  <a:pt x="234940" y="2339299"/>
                  <a:pt x="401316" y="2376158"/>
                </a:cubicBezTo>
                <a:cubicBezTo>
                  <a:pt x="412753" y="2341789"/>
                  <a:pt x="444446" y="2317632"/>
                  <a:pt x="482626" y="2317632"/>
                </a:cubicBezTo>
                <a:cubicBezTo>
                  <a:pt x="529625" y="2317632"/>
                  <a:pt x="569000" y="2355736"/>
                  <a:pt x="569000" y="2404051"/>
                </a:cubicBezTo>
                <a:cubicBezTo>
                  <a:pt x="569000" y="2451121"/>
                  <a:pt x="530820" y="2490470"/>
                  <a:pt x="482626" y="2490470"/>
                </a:cubicBezTo>
                <a:cubicBezTo>
                  <a:pt x="438187" y="2490470"/>
                  <a:pt x="401316" y="2458841"/>
                  <a:pt x="396252" y="2415507"/>
                </a:cubicBezTo>
                <a:cubicBezTo>
                  <a:pt x="209620" y="2376158"/>
                  <a:pt x="68564" y="2209794"/>
                  <a:pt x="68564" y="2011553"/>
                </a:cubicBezTo>
                <a:lnTo>
                  <a:pt x="68564" y="171344"/>
                </a:lnTo>
                <a:cubicBezTo>
                  <a:pt x="29189" y="162628"/>
                  <a:pt x="0" y="128259"/>
                  <a:pt x="0" y="86419"/>
                </a:cubicBezTo>
                <a:cubicBezTo>
                  <a:pt x="0" y="39349"/>
                  <a:pt x="38066" y="0"/>
                  <a:pt x="86374" y="0"/>
                </a:cubicBezTo>
                <a:close/>
              </a:path>
            </a:pathLst>
          </a:custGeom>
          <a:solidFill>
            <a:schemeClr val="accent6"/>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49" name="Shape">
            <a:extLst>
              <a:ext uri="{FF2B5EF4-FFF2-40B4-BE49-F238E27FC236}">
                <a16:creationId xmlns:a16="http://schemas.microsoft.com/office/drawing/2014/main" id="{516C0B78-36C8-9601-3073-4335F3D6CD35}"/>
              </a:ext>
            </a:extLst>
          </p:cNvPr>
          <p:cNvSpPr/>
          <p:nvPr/>
        </p:nvSpPr>
        <p:spPr>
          <a:xfrm>
            <a:off x="9859752" y="3685675"/>
            <a:ext cx="918208" cy="918208"/>
          </a:xfrm>
          <a:custGeom>
            <a:avLst/>
            <a:gdLst/>
            <a:ahLst/>
            <a:cxnLst>
              <a:cxn ang="0">
                <a:pos x="wd2" y="hd2"/>
              </a:cxn>
              <a:cxn ang="5400000">
                <a:pos x="wd2" y="hd2"/>
              </a:cxn>
              <a:cxn ang="10800000">
                <a:pos x="wd2" y="hd2"/>
              </a:cxn>
              <a:cxn ang="16200000">
                <a:pos x="wd2" y="hd2"/>
              </a:cxn>
            </a:cxnLst>
            <a:rect l="0" t="0" r="r" b="b"/>
            <a:pathLst>
              <a:path w="21600" h="21600" extrusionOk="0">
                <a:moveTo>
                  <a:pt x="21152" y="0"/>
                </a:moveTo>
                <a:lnTo>
                  <a:pt x="7558" y="0"/>
                </a:lnTo>
                <a:cubicBezTo>
                  <a:pt x="3406" y="0"/>
                  <a:pt x="0" y="3376"/>
                  <a:pt x="0" y="7558"/>
                </a:cubicBezTo>
                <a:lnTo>
                  <a:pt x="0" y="21152"/>
                </a:lnTo>
                <a:cubicBezTo>
                  <a:pt x="0" y="21391"/>
                  <a:pt x="209" y="21600"/>
                  <a:pt x="448" y="21600"/>
                </a:cubicBezTo>
                <a:lnTo>
                  <a:pt x="14042" y="21600"/>
                </a:lnTo>
                <a:cubicBezTo>
                  <a:pt x="18194" y="21600"/>
                  <a:pt x="21600" y="18224"/>
                  <a:pt x="21600" y="14042"/>
                </a:cubicBezTo>
                <a:lnTo>
                  <a:pt x="21600" y="448"/>
                </a:lnTo>
                <a:cubicBezTo>
                  <a:pt x="21600" y="209"/>
                  <a:pt x="21391" y="0"/>
                  <a:pt x="21152" y="0"/>
                </a:cubicBezTo>
                <a:close/>
                <a:moveTo>
                  <a:pt x="20704" y="14042"/>
                </a:moveTo>
                <a:cubicBezTo>
                  <a:pt x="20704" y="17716"/>
                  <a:pt x="17716" y="20704"/>
                  <a:pt x="14042" y="20704"/>
                </a:cubicBezTo>
                <a:lnTo>
                  <a:pt x="896" y="20704"/>
                </a:lnTo>
                <a:lnTo>
                  <a:pt x="896" y="7558"/>
                </a:lnTo>
                <a:cubicBezTo>
                  <a:pt x="896" y="3884"/>
                  <a:pt x="3884" y="896"/>
                  <a:pt x="7558" y="896"/>
                </a:cubicBezTo>
                <a:lnTo>
                  <a:pt x="20704" y="896"/>
                </a:lnTo>
                <a:lnTo>
                  <a:pt x="20704" y="14042"/>
                </a:lnTo>
                <a:close/>
              </a:path>
            </a:pathLst>
          </a:custGeom>
          <a:solidFill>
            <a:schemeClr val="accent6">
              <a:lumMod val="75000"/>
            </a:schemeClr>
          </a:solidFill>
          <a:ln w="12700">
            <a:miter lim="400000"/>
          </a:ln>
        </p:spPr>
        <p:txBody>
          <a:bodyPr lIns="38100" tIns="38100" rIns="38100" bIns="38100" anchor="ctr"/>
          <a:lstStyle/>
          <a:p>
            <a:pPr>
              <a:defRPr sz="3000">
                <a:solidFill>
                  <a:srgbClr val="FFFFFF"/>
                </a:solidFill>
              </a:defRPr>
            </a:pPr>
            <a:endParaRPr/>
          </a:p>
        </p:txBody>
      </p:sp>
      <p:sp>
        <p:nvSpPr>
          <p:cNvPr id="50" name="TextBox 49">
            <a:extLst>
              <a:ext uri="{FF2B5EF4-FFF2-40B4-BE49-F238E27FC236}">
                <a16:creationId xmlns:a16="http://schemas.microsoft.com/office/drawing/2014/main" id="{4A79268B-C759-6586-427A-520EA587ABDC}"/>
              </a:ext>
            </a:extLst>
          </p:cNvPr>
          <p:cNvSpPr txBox="1"/>
          <p:nvPr/>
        </p:nvSpPr>
        <p:spPr>
          <a:xfrm>
            <a:off x="9451992" y="2634800"/>
            <a:ext cx="1857100" cy="646331"/>
          </a:xfrm>
          <a:prstGeom prst="rect">
            <a:avLst/>
          </a:prstGeom>
          <a:noFill/>
        </p:spPr>
        <p:txBody>
          <a:bodyPr wrap="square" lIns="0" rIns="0" rtlCol="0" anchor="t">
            <a:spAutoFit/>
          </a:bodyPr>
          <a:lstStyle/>
          <a:p>
            <a:r>
              <a:rPr lang="en-US" sz="1200" noProof="1">
                <a:solidFill>
                  <a:schemeClr val="tx1">
                    <a:lumMod val="65000"/>
                    <a:lumOff val="35000"/>
                  </a:schemeClr>
                </a:solidFill>
              </a:rPr>
              <a:t>Facilitate a fast and secure customer payment experience with tokenization</a:t>
            </a:r>
          </a:p>
        </p:txBody>
      </p:sp>
      <p:sp>
        <p:nvSpPr>
          <p:cNvPr id="58" name="TextBox 57">
            <a:extLst>
              <a:ext uri="{FF2B5EF4-FFF2-40B4-BE49-F238E27FC236}">
                <a16:creationId xmlns:a16="http://schemas.microsoft.com/office/drawing/2014/main" id="{58FAD638-218F-1236-901E-BC60D47CB655}"/>
              </a:ext>
            </a:extLst>
          </p:cNvPr>
          <p:cNvSpPr txBox="1"/>
          <p:nvPr/>
        </p:nvSpPr>
        <p:spPr>
          <a:xfrm>
            <a:off x="5065571" y="1809880"/>
            <a:ext cx="1897807" cy="707886"/>
          </a:xfrm>
          <a:prstGeom prst="rect">
            <a:avLst/>
          </a:prstGeom>
          <a:noFill/>
        </p:spPr>
        <p:txBody>
          <a:bodyPr wrap="square" lIns="0" rIns="0" rtlCol="0" anchor="b">
            <a:spAutoFit/>
          </a:bodyPr>
          <a:lstStyle/>
          <a:p>
            <a:r>
              <a:rPr lang="en-US" sz="2000" b="1" noProof="1"/>
              <a:t>Payment Acceptance</a:t>
            </a:r>
          </a:p>
        </p:txBody>
      </p:sp>
      <p:sp>
        <p:nvSpPr>
          <p:cNvPr id="59" name="TextBox 58">
            <a:extLst>
              <a:ext uri="{FF2B5EF4-FFF2-40B4-BE49-F238E27FC236}">
                <a16:creationId xmlns:a16="http://schemas.microsoft.com/office/drawing/2014/main" id="{EF2B892F-5863-2491-F4C8-A7A531375821}"/>
              </a:ext>
            </a:extLst>
          </p:cNvPr>
          <p:cNvSpPr txBox="1"/>
          <p:nvPr/>
        </p:nvSpPr>
        <p:spPr>
          <a:xfrm>
            <a:off x="7261611" y="1963768"/>
            <a:ext cx="1897807" cy="400110"/>
          </a:xfrm>
          <a:prstGeom prst="rect">
            <a:avLst/>
          </a:prstGeom>
          <a:noFill/>
        </p:spPr>
        <p:txBody>
          <a:bodyPr wrap="square" lIns="0" rIns="0" rtlCol="0" anchor="ctr">
            <a:spAutoFit/>
          </a:bodyPr>
          <a:lstStyle/>
          <a:p>
            <a:r>
              <a:rPr lang="en-US" sz="2000" b="1" noProof="1">
                <a:solidFill>
                  <a:srgbClr val="FFFFFF"/>
                </a:solidFill>
              </a:rPr>
              <a:t>Multi-currency</a:t>
            </a:r>
          </a:p>
        </p:txBody>
      </p:sp>
      <p:sp>
        <p:nvSpPr>
          <p:cNvPr id="60" name="TextBox 59">
            <a:extLst>
              <a:ext uri="{FF2B5EF4-FFF2-40B4-BE49-F238E27FC236}">
                <a16:creationId xmlns:a16="http://schemas.microsoft.com/office/drawing/2014/main" id="{EFCAED09-09E1-5CFD-AAB1-F920E85E39E9}"/>
              </a:ext>
            </a:extLst>
          </p:cNvPr>
          <p:cNvSpPr txBox="1"/>
          <p:nvPr/>
        </p:nvSpPr>
        <p:spPr>
          <a:xfrm>
            <a:off x="9451992" y="1809880"/>
            <a:ext cx="1897807" cy="707886"/>
          </a:xfrm>
          <a:prstGeom prst="rect">
            <a:avLst/>
          </a:prstGeom>
          <a:noFill/>
        </p:spPr>
        <p:txBody>
          <a:bodyPr wrap="square" lIns="0" rIns="0" rtlCol="0" anchor="ctr">
            <a:spAutoFit/>
          </a:bodyPr>
          <a:lstStyle/>
          <a:p>
            <a:r>
              <a:rPr lang="en-US" sz="2000" b="1" noProof="1">
                <a:solidFill>
                  <a:srgbClr val="FFFFFF"/>
                </a:solidFill>
              </a:rPr>
              <a:t>Seamless Transaction</a:t>
            </a:r>
          </a:p>
        </p:txBody>
      </p:sp>
    </p:spTree>
    <p:extLst>
      <p:ext uri="{BB962C8B-B14F-4D97-AF65-F5344CB8AC3E}">
        <p14:creationId xmlns:p14="http://schemas.microsoft.com/office/powerpoint/2010/main" val="2788527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7F00C94-B62E-CC95-7961-5401C4BC57F7}"/>
              </a:ext>
            </a:extLst>
          </p:cNvPr>
          <p:cNvSpPr/>
          <p:nvPr/>
        </p:nvSpPr>
        <p:spPr>
          <a:xfrm>
            <a:off x="1" y="0"/>
            <a:ext cx="12191999"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a:extLst>
              <a:ext uri="{FF2B5EF4-FFF2-40B4-BE49-F238E27FC236}">
                <a16:creationId xmlns:a16="http://schemas.microsoft.com/office/drawing/2014/main" id="{69383A76-D775-12C3-0300-07F99B8267C0}"/>
              </a:ext>
            </a:extLst>
          </p:cNvPr>
          <p:cNvSpPr/>
          <p:nvPr/>
        </p:nvSpPr>
        <p:spPr>
          <a:xfrm>
            <a:off x="0" y="1784480"/>
            <a:ext cx="12191999" cy="758952"/>
          </a:xfrm>
          <a:prstGeom prst="rect">
            <a:avLst/>
          </a:prstGeom>
          <a:solidFill>
            <a:schemeClr val="bg1">
              <a:lumMod val="85000"/>
            </a:schemeClr>
          </a:solidFill>
          <a:ln w="12700">
            <a:miter lim="400000"/>
          </a:ln>
        </p:spPr>
        <p:txBody>
          <a:bodyPr lIns="38100" tIns="38100" rIns="38100" bIns="38100" anchor="ctr"/>
          <a:lstStyle/>
          <a:p>
            <a:pPr>
              <a:defRPr sz="3000">
                <a:solidFill>
                  <a:srgbClr val="FFFFFF"/>
                </a:solidFill>
              </a:defRPr>
            </a:pPr>
            <a:endParaRPr dirty="0"/>
          </a:p>
        </p:txBody>
      </p:sp>
      <p:sp>
        <p:nvSpPr>
          <p:cNvPr id="3" name="Freeform: Shape 2">
            <a:extLst>
              <a:ext uri="{FF2B5EF4-FFF2-40B4-BE49-F238E27FC236}">
                <a16:creationId xmlns:a16="http://schemas.microsoft.com/office/drawing/2014/main" id="{ECEA5770-BF9A-00FC-5AF3-5488FE944697}"/>
              </a:ext>
            </a:extLst>
          </p:cNvPr>
          <p:cNvSpPr/>
          <p:nvPr/>
        </p:nvSpPr>
        <p:spPr>
          <a:xfrm>
            <a:off x="1701931" y="1784480"/>
            <a:ext cx="999492" cy="758952"/>
          </a:xfrm>
          <a:custGeom>
            <a:avLst/>
            <a:gdLst>
              <a:gd name="connsiteX0" fmla="*/ 0 w 999492"/>
              <a:gd name="connsiteY0" fmla="*/ 0 h 754388"/>
              <a:gd name="connsiteX1" fmla="*/ 999492 w 999492"/>
              <a:gd name="connsiteY1" fmla="*/ 0 h 754388"/>
              <a:gd name="connsiteX2" fmla="*/ 318651 w 999492"/>
              <a:gd name="connsiteY2" fmla="*/ 754339 h 754388"/>
              <a:gd name="connsiteX3" fmla="*/ 317688 w 999492"/>
              <a:gd name="connsiteY3" fmla="*/ 754388 h 754388"/>
              <a:gd name="connsiteX4" fmla="*/ 0 w 999492"/>
              <a:gd name="connsiteY4" fmla="*/ 754388 h 754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492" h="754388">
                <a:moveTo>
                  <a:pt x="0" y="0"/>
                </a:moveTo>
                <a:lnTo>
                  <a:pt x="999492" y="0"/>
                </a:lnTo>
                <a:cubicBezTo>
                  <a:pt x="999492" y="392903"/>
                  <a:pt x="700384" y="715544"/>
                  <a:pt x="318651" y="754339"/>
                </a:cubicBezTo>
                <a:lnTo>
                  <a:pt x="317688" y="754388"/>
                </a:lnTo>
                <a:lnTo>
                  <a:pt x="0" y="754388"/>
                </a:lnTo>
                <a:close/>
              </a:path>
            </a:pathLst>
          </a:custGeom>
          <a:solidFill>
            <a:schemeClr val="tx1">
              <a:lumMod val="95000"/>
              <a:lumOff val="5000"/>
              <a:alpha val="43000"/>
            </a:schemeClr>
          </a:solidFill>
          <a:ln w="12700">
            <a:miter lim="400000"/>
          </a:ln>
        </p:spPr>
        <p:txBody>
          <a:bodyPr wrap="square" lIns="38100" tIns="38100" rIns="38100" bIns="38100" anchor="ctr">
            <a:noAutofit/>
          </a:bodyPr>
          <a:lstStyle/>
          <a:p>
            <a:endParaRPr sz="3000" dirty="0">
              <a:solidFill>
                <a:srgbClr val="FFFFFF"/>
              </a:solidFill>
            </a:endParaRPr>
          </a:p>
        </p:txBody>
      </p:sp>
      <p:sp>
        <p:nvSpPr>
          <p:cNvPr id="47" name="Freeform: Shape 46">
            <a:extLst>
              <a:ext uri="{FF2B5EF4-FFF2-40B4-BE49-F238E27FC236}">
                <a16:creationId xmlns:a16="http://schemas.microsoft.com/office/drawing/2014/main" id="{B06655F4-0A70-BB3F-2390-6620BFF0CD8D}"/>
              </a:ext>
            </a:extLst>
          </p:cNvPr>
          <p:cNvSpPr/>
          <p:nvPr/>
        </p:nvSpPr>
        <p:spPr>
          <a:xfrm>
            <a:off x="481103" y="1361574"/>
            <a:ext cx="2166631" cy="2491741"/>
          </a:xfrm>
          <a:custGeom>
            <a:avLst/>
            <a:gdLst>
              <a:gd name="connsiteX0" fmla="*/ 86342 w 2166631"/>
              <a:gd name="connsiteY0" fmla="*/ 0 h 2491741"/>
              <a:gd name="connsiteX1" fmla="*/ 172742 w 2166631"/>
              <a:gd name="connsiteY1" fmla="*/ 86463 h 2491741"/>
              <a:gd name="connsiteX2" fmla="*/ 105445 w 2166631"/>
              <a:gd name="connsiteY2" fmla="*/ 171432 h 2491741"/>
              <a:gd name="connsiteX3" fmla="*/ 105612 w 2166631"/>
              <a:gd name="connsiteY3" fmla="*/ 422906 h 2491741"/>
              <a:gd name="connsiteX4" fmla="*/ 2166631 w 2166631"/>
              <a:gd name="connsiteY4" fmla="*/ 422906 h 2491741"/>
              <a:gd name="connsiteX5" fmla="*/ 1485790 w 2166631"/>
              <a:gd name="connsiteY5" fmla="*/ 1181809 h 2491741"/>
              <a:gd name="connsiteX6" fmla="*/ 1484827 w 2166631"/>
              <a:gd name="connsiteY6" fmla="*/ 1181858 h 2491741"/>
              <a:gd name="connsiteX7" fmla="*/ 106117 w 2166631"/>
              <a:gd name="connsiteY7" fmla="*/ 1181858 h 2491741"/>
              <a:gd name="connsiteX8" fmla="*/ 106672 w 2166631"/>
              <a:gd name="connsiteY8" fmla="*/ 2014324 h 2491741"/>
              <a:gd name="connsiteX9" fmla="*/ 415294 w 2166631"/>
              <a:gd name="connsiteY9" fmla="*/ 2379862 h 2491741"/>
              <a:gd name="connsiteX10" fmla="*/ 497839 w 2166631"/>
              <a:gd name="connsiteY10" fmla="*/ 2319063 h 2491741"/>
              <a:gd name="connsiteX11" fmla="*/ 584181 w 2166631"/>
              <a:gd name="connsiteY11" fmla="*/ 2405278 h 2491741"/>
              <a:gd name="connsiteX12" fmla="*/ 497839 w 2166631"/>
              <a:gd name="connsiteY12" fmla="*/ 2491741 h 2491741"/>
              <a:gd name="connsiteX13" fmla="*/ 412782 w 2166631"/>
              <a:gd name="connsiteY13" fmla="*/ 2419231 h 2491741"/>
              <a:gd name="connsiteX14" fmla="*/ 67298 w 2166631"/>
              <a:gd name="connsiteY14" fmla="*/ 2011832 h 2491741"/>
              <a:gd name="connsiteX15" fmla="*/ 67298 w 2166631"/>
              <a:gd name="connsiteY15" fmla="*/ 171432 h 2491741"/>
              <a:gd name="connsiteX16" fmla="*/ 0 w 2166631"/>
              <a:gd name="connsiteY16" fmla="*/ 86463 h 2491741"/>
              <a:gd name="connsiteX17" fmla="*/ 86342 w 2166631"/>
              <a:gd name="connsiteY17" fmla="*/ 0 h 249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6631" h="2491741">
                <a:moveTo>
                  <a:pt x="86342" y="0"/>
                </a:moveTo>
                <a:cubicBezTo>
                  <a:pt x="133369" y="0"/>
                  <a:pt x="172742" y="38124"/>
                  <a:pt x="172742" y="86463"/>
                </a:cubicBezTo>
                <a:cubicBezTo>
                  <a:pt x="172742" y="128325"/>
                  <a:pt x="143475" y="162461"/>
                  <a:pt x="105445" y="171432"/>
                </a:cubicBezTo>
                <a:lnTo>
                  <a:pt x="105612" y="422906"/>
                </a:lnTo>
                <a:lnTo>
                  <a:pt x="2166631" y="422906"/>
                </a:lnTo>
                <a:cubicBezTo>
                  <a:pt x="2166631" y="818186"/>
                  <a:pt x="1867523" y="1142779"/>
                  <a:pt x="1485790" y="1181809"/>
                </a:cubicBezTo>
                <a:lnTo>
                  <a:pt x="1484827" y="1181858"/>
                </a:lnTo>
                <a:lnTo>
                  <a:pt x="106117" y="1181858"/>
                </a:lnTo>
                <a:lnTo>
                  <a:pt x="106672" y="2014324"/>
                </a:lnTo>
                <a:cubicBezTo>
                  <a:pt x="106672" y="2197217"/>
                  <a:pt x="240040" y="2349463"/>
                  <a:pt x="415294" y="2379862"/>
                </a:cubicBezTo>
                <a:cubicBezTo>
                  <a:pt x="425459" y="2344479"/>
                  <a:pt x="458465" y="2319063"/>
                  <a:pt x="497839" y="2319063"/>
                </a:cubicBezTo>
                <a:cubicBezTo>
                  <a:pt x="544807" y="2319063"/>
                  <a:pt x="584181" y="2357187"/>
                  <a:pt x="584181" y="2405278"/>
                </a:cubicBezTo>
                <a:cubicBezTo>
                  <a:pt x="584181" y="2452372"/>
                  <a:pt x="546151" y="2491741"/>
                  <a:pt x="497839" y="2491741"/>
                </a:cubicBezTo>
                <a:cubicBezTo>
                  <a:pt x="455953" y="2491741"/>
                  <a:pt x="420318" y="2460096"/>
                  <a:pt x="412782" y="2419231"/>
                </a:cubicBezTo>
                <a:cubicBezTo>
                  <a:pt x="217140" y="2386340"/>
                  <a:pt x="67298" y="2216155"/>
                  <a:pt x="67298" y="2011832"/>
                </a:cubicBezTo>
                <a:lnTo>
                  <a:pt x="67298" y="171432"/>
                </a:lnTo>
                <a:cubicBezTo>
                  <a:pt x="27924" y="161216"/>
                  <a:pt x="0" y="127079"/>
                  <a:pt x="0" y="86463"/>
                </a:cubicBezTo>
                <a:cubicBezTo>
                  <a:pt x="0" y="39369"/>
                  <a:pt x="38147" y="0"/>
                  <a:pt x="86342" y="0"/>
                </a:cubicBezTo>
                <a:close/>
              </a:path>
            </a:pathLst>
          </a:custGeom>
          <a:solidFill>
            <a:schemeClr val="accent3"/>
          </a:solidFill>
          <a:ln w="12700">
            <a:miter lim="400000"/>
          </a:ln>
        </p:spPr>
        <p:txBody>
          <a:bodyPr wrap="square" lIns="38100" tIns="38100" rIns="38100" bIns="38100" anchor="ctr">
            <a:noAutofit/>
          </a:bodyPr>
          <a:lstStyle/>
          <a:p>
            <a:pPr>
              <a:defRPr sz="3000">
                <a:solidFill>
                  <a:srgbClr val="FFFFFF"/>
                </a:solidFill>
              </a:defRPr>
            </a:pPr>
            <a:endParaRPr dirty="0"/>
          </a:p>
        </p:txBody>
      </p:sp>
      <p:sp>
        <p:nvSpPr>
          <p:cNvPr id="48" name="Shape">
            <a:extLst>
              <a:ext uri="{FF2B5EF4-FFF2-40B4-BE49-F238E27FC236}">
                <a16:creationId xmlns:a16="http://schemas.microsoft.com/office/drawing/2014/main" id="{D4CA3201-8265-7DB4-59DC-251CEEED3D57}"/>
              </a:ext>
            </a:extLst>
          </p:cNvPr>
          <p:cNvSpPr/>
          <p:nvPr/>
        </p:nvSpPr>
        <p:spPr>
          <a:xfrm>
            <a:off x="1103405" y="3685675"/>
            <a:ext cx="918208" cy="918208"/>
          </a:xfrm>
          <a:custGeom>
            <a:avLst/>
            <a:gdLst/>
            <a:ahLst/>
            <a:cxnLst>
              <a:cxn ang="0">
                <a:pos x="wd2" y="hd2"/>
              </a:cxn>
              <a:cxn ang="5400000">
                <a:pos x="wd2" y="hd2"/>
              </a:cxn>
              <a:cxn ang="10800000">
                <a:pos x="wd2" y="hd2"/>
              </a:cxn>
              <a:cxn ang="16200000">
                <a:pos x="wd2" y="hd2"/>
              </a:cxn>
            </a:cxnLst>
            <a:rect l="0" t="0" r="r" b="b"/>
            <a:pathLst>
              <a:path w="21600" h="21600" extrusionOk="0">
                <a:moveTo>
                  <a:pt x="21152" y="0"/>
                </a:moveTo>
                <a:lnTo>
                  <a:pt x="7558" y="0"/>
                </a:lnTo>
                <a:cubicBezTo>
                  <a:pt x="3406" y="0"/>
                  <a:pt x="0" y="3376"/>
                  <a:pt x="0" y="7558"/>
                </a:cubicBezTo>
                <a:lnTo>
                  <a:pt x="0" y="21152"/>
                </a:lnTo>
                <a:cubicBezTo>
                  <a:pt x="0" y="21391"/>
                  <a:pt x="209" y="21600"/>
                  <a:pt x="448" y="21600"/>
                </a:cubicBezTo>
                <a:lnTo>
                  <a:pt x="14042" y="21600"/>
                </a:lnTo>
                <a:cubicBezTo>
                  <a:pt x="18194" y="21600"/>
                  <a:pt x="21600" y="18224"/>
                  <a:pt x="21600" y="14042"/>
                </a:cubicBezTo>
                <a:lnTo>
                  <a:pt x="21600" y="448"/>
                </a:lnTo>
                <a:cubicBezTo>
                  <a:pt x="21600" y="209"/>
                  <a:pt x="21391" y="0"/>
                  <a:pt x="21152" y="0"/>
                </a:cubicBezTo>
                <a:close/>
                <a:moveTo>
                  <a:pt x="20704" y="14042"/>
                </a:moveTo>
                <a:cubicBezTo>
                  <a:pt x="20704" y="17716"/>
                  <a:pt x="17716" y="20704"/>
                  <a:pt x="14042" y="20704"/>
                </a:cubicBezTo>
                <a:lnTo>
                  <a:pt x="896" y="20704"/>
                </a:lnTo>
                <a:lnTo>
                  <a:pt x="896" y="7558"/>
                </a:lnTo>
                <a:cubicBezTo>
                  <a:pt x="896" y="3884"/>
                  <a:pt x="3884" y="896"/>
                  <a:pt x="7558" y="896"/>
                </a:cubicBezTo>
                <a:lnTo>
                  <a:pt x="20704" y="896"/>
                </a:lnTo>
                <a:lnTo>
                  <a:pt x="20704" y="14042"/>
                </a:lnTo>
                <a:close/>
              </a:path>
            </a:pathLst>
          </a:custGeom>
          <a:solidFill>
            <a:schemeClr val="accent3">
              <a:lumMod val="75000"/>
            </a:schemeClr>
          </a:solidFill>
          <a:ln w="12700">
            <a:miter lim="400000"/>
          </a:ln>
        </p:spPr>
        <p:txBody>
          <a:bodyPr lIns="38100" tIns="38100" rIns="38100" bIns="38100" anchor="ctr"/>
          <a:lstStyle/>
          <a:p>
            <a:pPr>
              <a:defRPr sz="3000">
                <a:solidFill>
                  <a:srgbClr val="FFFFFF"/>
                </a:solidFill>
              </a:defRPr>
            </a:pPr>
            <a:endParaRPr/>
          </a:p>
        </p:txBody>
      </p:sp>
      <p:sp>
        <p:nvSpPr>
          <p:cNvPr id="49" name="TextBox 48">
            <a:extLst>
              <a:ext uri="{FF2B5EF4-FFF2-40B4-BE49-F238E27FC236}">
                <a16:creationId xmlns:a16="http://schemas.microsoft.com/office/drawing/2014/main" id="{2C393C58-AB77-2917-7A9A-262DEFB5734F}"/>
              </a:ext>
            </a:extLst>
          </p:cNvPr>
          <p:cNvSpPr txBox="1"/>
          <p:nvPr/>
        </p:nvSpPr>
        <p:spPr>
          <a:xfrm>
            <a:off x="691598" y="2634800"/>
            <a:ext cx="1857100" cy="830997"/>
          </a:xfrm>
          <a:prstGeom prst="rect">
            <a:avLst/>
          </a:prstGeom>
          <a:noFill/>
        </p:spPr>
        <p:txBody>
          <a:bodyPr wrap="square" lIns="0" rIns="0" rtlCol="0" anchor="t">
            <a:spAutoFit/>
          </a:bodyPr>
          <a:lstStyle/>
          <a:p>
            <a:r>
              <a:rPr lang="en-US" sz="1200" noProof="1">
                <a:solidFill>
                  <a:schemeClr val="bg1"/>
                </a:solidFill>
              </a:rPr>
              <a:t>Ensure that the systems used and the interface between the systems are PCI DSS compliant</a:t>
            </a:r>
          </a:p>
        </p:txBody>
      </p:sp>
      <p:sp>
        <p:nvSpPr>
          <p:cNvPr id="50" name="TextBox 49">
            <a:extLst>
              <a:ext uri="{FF2B5EF4-FFF2-40B4-BE49-F238E27FC236}">
                <a16:creationId xmlns:a16="http://schemas.microsoft.com/office/drawing/2014/main" id="{B5B5572E-B1D6-BCAC-0BEB-9A448B2E1F92}"/>
              </a:ext>
            </a:extLst>
          </p:cNvPr>
          <p:cNvSpPr txBox="1"/>
          <p:nvPr/>
        </p:nvSpPr>
        <p:spPr>
          <a:xfrm>
            <a:off x="691598" y="1963768"/>
            <a:ext cx="1857101" cy="400110"/>
          </a:xfrm>
          <a:prstGeom prst="rect">
            <a:avLst/>
          </a:prstGeom>
          <a:noFill/>
        </p:spPr>
        <p:txBody>
          <a:bodyPr wrap="square" lIns="0" rIns="0" rtlCol="0" anchor="ctr">
            <a:spAutoFit/>
          </a:bodyPr>
          <a:lstStyle/>
          <a:p>
            <a:r>
              <a:rPr lang="en-US" sz="2000" b="1" noProof="1"/>
              <a:t>PCI Compliance</a:t>
            </a:r>
          </a:p>
        </p:txBody>
      </p:sp>
      <p:sp>
        <p:nvSpPr>
          <p:cNvPr id="51" name="Freeform: Shape 50">
            <a:extLst>
              <a:ext uri="{FF2B5EF4-FFF2-40B4-BE49-F238E27FC236}">
                <a16:creationId xmlns:a16="http://schemas.microsoft.com/office/drawing/2014/main" id="{43774D86-9377-8770-E2FA-E33E588721B9}"/>
              </a:ext>
            </a:extLst>
          </p:cNvPr>
          <p:cNvSpPr/>
          <p:nvPr/>
        </p:nvSpPr>
        <p:spPr>
          <a:xfrm>
            <a:off x="3892606" y="1784480"/>
            <a:ext cx="999492" cy="758952"/>
          </a:xfrm>
          <a:custGeom>
            <a:avLst/>
            <a:gdLst>
              <a:gd name="connsiteX0" fmla="*/ 0 w 999492"/>
              <a:gd name="connsiteY0" fmla="*/ 0 h 754388"/>
              <a:gd name="connsiteX1" fmla="*/ 999492 w 999492"/>
              <a:gd name="connsiteY1" fmla="*/ 0 h 754388"/>
              <a:gd name="connsiteX2" fmla="*/ 318651 w 999492"/>
              <a:gd name="connsiteY2" fmla="*/ 754339 h 754388"/>
              <a:gd name="connsiteX3" fmla="*/ 317688 w 999492"/>
              <a:gd name="connsiteY3" fmla="*/ 754388 h 754388"/>
              <a:gd name="connsiteX4" fmla="*/ 0 w 999492"/>
              <a:gd name="connsiteY4" fmla="*/ 754388 h 754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492" h="754388">
                <a:moveTo>
                  <a:pt x="0" y="0"/>
                </a:moveTo>
                <a:lnTo>
                  <a:pt x="999492" y="0"/>
                </a:lnTo>
                <a:cubicBezTo>
                  <a:pt x="999492" y="392903"/>
                  <a:pt x="700384" y="715544"/>
                  <a:pt x="318651" y="754339"/>
                </a:cubicBezTo>
                <a:lnTo>
                  <a:pt x="317688" y="754388"/>
                </a:lnTo>
                <a:lnTo>
                  <a:pt x="0" y="754388"/>
                </a:lnTo>
                <a:close/>
              </a:path>
            </a:pathLst>
          </a:custGeom>
          <a:solidFill>
            <a:schemeClr val="tx1">
              <a:alpha val="25000"/>
            </a:schemeClr>
          </a:solidFill>
          <a:ln w="12700">
            <a:miter lim="400000"/>
          </a:ln>
        </p:spPr>
        <p:txBody>
          <a:bodyPr wrap="square" lIns="38100" tIns="38100" rIns="38100" bIns="38100" anchor="ctr">
            <a:noAutofit/>
          </a:bodyPr>
          <a:lstStyle/>
          <a:p>
            <a:endParaRPr sz="3000" dirty="0">
              <a:solidFill>
                <a:srgbClr val="FFFFFF"/>
              </a:solidFill>
            </a:endParaRPr>
          </a:p>
        </p:txBody>
      </p:sp>
      <p:sp>
        <p:nvSpPr>
          <p:cNvPr id="52" name="Freeform: Shape 51">
            <a:extLst>
              <a:ext uri="{FF2B5EF4-FFF2-40B4-BE49-F238E27FC236}">
                <a16:creationId xmlns:a16="http://schemas.microsoft.com/office/drawing/2014/main" id="{B72A2E84-54F2-A728-7233-CAFDDD069052}"/>
              </a:ext>
            </a:extLst>
          </p:cNvPr>
          <p:cNvSpPr/>
          <p:nvPr/>
        </p:nvSpPr>
        <p:spPr>
          <a:xfrm>
            <a:off x="2673056" y="1361574"/>
            <a:ext cx="2165353" cy="3920497"/>
          </a:xfrm>
          <a:custGeom>
            <a:avLst/>
            <a:gdLst>
              <a:gd name="connsiteX0" fmla="*/ 86292 w 2165353"/>
              <a:gd name="connsiteY0" fmla="*/ 0 h 3920497"/>
              <a:gd name="connsiteX1" fmla="*/ 172760 w 2165353"/>
              <a:gd name="connsiteY1" fmla="*/ 86251 h 3920497"/>
              <a:gd name="connsiteX2" fmla="*/ 105397 w 2165353"/>
              <a:gd name="connsiteY2" fmla="*/ 171718 h 3920497"/>
              <a:gd name="connsiteX3" fmla="*/ 105496 w 2165353"/>
              <a:gd name="connsiteY3" fmla="*/ 422906 h 3920497"/>
              <a:gd name="connsiteX4" fmla="*/ 2165353 w 2165353"/>
              <a:gd name="connsiteY4" fmla="*/ 422906 h 3920497"/>
              <a:gd name="connsiteX5" fmla="*/ 1484546 w 2165353"/>
              <a:gd name="connsiteY5" fmla="*/ 1181705 h 3920497"/>
              <a:gd name="connsiteX6" fmla="*/ 1481533 w 2165353"/>
              <a:gd name="connsiteY6" fmla="*/ 1181858 h 3920497"/>
              <a:gd name="connsiteX7" fmla="*/ 105794 w 2165353"/>
              <a:gd name="connsiteY7" fmla="*/ 1181858 h 3920497"/>
              <a:gd name="connsiteX8" fmla="*/ 106683 w 2165353"/>
              <a:gd name="connsiteY8" fmla="*/ 3442981 h 3920497"/>
              <a:gd name="connsiteX9" fmla="*/ 415338 w 2165353"/>
              <a:gd name="connsiteY9" fmla="*/ 3808763 h 3920497"/>
              <a:gd name="connsiteX10" fmla="*/ 497833 w 2165353"/>
              <a:gd name="connsiteY10" fmla="*/ 3747603 h 3920497"/>
              <a:gd name="connsiteX11" fmla="*/ 584242 w 2165353"/>
              <a:gd name="connsiteY11" fmla="*/ 3834246 h 3920497"/>
              <a:gd name="connsiteX12" fmla="*/ 497833 w 2165353"/>
              <a:gd name="connsiteY12" fmla="*/ 3920497 h 3920497"/>
              <a:gd name="connsiteX13" fmla="*/ 412709 w 2165353"/>
              <a:gd name="connsiteY13" fmla="*/ 3847968 h 3920497"/>
              <a:gd name="connsiteX14" fmla="*/ 67246 w 2165353"/>
              <a:gd name="connsiteY14" fmla="*/ 3440236 h 3920497"/>
              <a:gd name="connsiteX15" fmla="*/ 67246 w 2165353"/>
              <a:gd name="connsiteY15" fmla="*/ 171718 h 3920497"/>
              <a:gd name="connsiteX16" fmla="*/ 0 w 2165353"/>
              <a:gd name="connsiteY16" fmla="*/ 86251 h 3920497"/>
              <a:gd name="connsiteX17" fmla="*/ 86292 w 2165353"/>
              <a:gd name="connsiteY17" fmla="*/ 0 h 3920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5353" h="3920497">
                <a:moveTo>
                  <a:pt x="86292" y="0"/>
                </a:moveTo>
                <a:cubicBezTo>
                  <a:pt x="133324" y="0"/>
                  <a:pt x="172760" y="38029"/>
                  <a:pt x="172760" y="86251"/>
                </a:cubicBezTo>
                <a:cubicBezTo>
                  <a:pt x="172760" y="128200"/>
                  <a:pt x="143490" y="162701"/>
                  <a:pt x="105397" y="171718"/>
                </a:cubicBezTo>
                <a:lnTo>
                  <a:pt x="105496" y="422906"/>
                </a:lnTo>
                <a:lnTo>
                  <a:pt x="2165353" y="422906"/>
                </a:lnTo>
                <a:cubicBezTo>
                  <a:pt x="2165353" y="818184"/>
                  <a:pt x="1866244" y="1142686"/>
                  <a:pt x="1484546" y="1181705"/>
                </a:cubicBezTo>
                <a:lnTo>
                  <a:pt x="1481533" y="1181858"/>
                </a:lnTo>
                <a:lnTo>
                  <a:pt x="105794" y="1181858"/>
                </a:lnTo>
                <a:lnTo>
                  <a:pt x="106683" y="3442981"/>
                </a:lnTo>
                <a:cubicBezTo>
                  <a:pt x="106683" y="3626068"/>
                  <a:pt x="240007" y="3778183"/>
                  <a:pt x="415338" y="3808763"/>
                </a:cubicBezTo>
                <a:cubicBezTo>
                  <a:pt x="425445" y="3773086"/>
                  <a:pt x="458513" y="3747603"/>
                  <a:pt x="497833" y="3747603"/>
                </a:cubicBezTo>
                <a:cubicBezTo>
                  <a:pt x="544806" y="3747603"/>
                  <a:pt x="584242" y="3785632"/>
                  <a:pt x="584242" y="3834246"/>
                </a:cubicBezTo>
                <a:cubicBezTo>
                  <a:pt x="584242" y="3881292"/>
                  <a:pt x="546150" y="3920497"/>
                  <a:pt x="497833" y="3920497"/>
                </a:cubicBezTo>
                <a:cubicBezTo>
                  <a:pt x="456001" y="3920497"/>
                  <a:pt x="420362" y="3888741"/>
                  <a:pt x="412709" y="3847968"/>
                </a:cubicBezTo>
                <a:cubicBezTo>
                  <a:pt x="217221" y="3815036"/>
                  <a:pt x="67246" y="3644886"/>
                  <a:pt x="67246" y="3440236"/>
                </a:cubicBezTo>
                <a:lnTo>
                  <a:pt x="67246" y="171718"/>
                </a:lnTo>
                <a:cubicBezTo>
                  <a:pt x="27927" y="161524"/>
                  <a:pt x="0" y="127024"/>
                  <a:pt x="0" y="86251"/>
                </a:cubicBezTo>
                <a:cubicBezTo>
                  <a:pt x="0" y="39205"/>
                  <a:pt x="38092" y="0"/>
                  <a:pt x="86292" y="0"/>
                </a:cubicBezTo>
                <a:close/>
              </a:path>
            </a:pathLst>
          </a:custGeom>
          <a:solidFill>
            <a:srgbClr val="278CCB"/>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53" name="Shape">
            <a:extLst>
              <a:ext uri="{FF2B5EF4-FFF2-40B4-BE49-F238E27FC236}">
                <a16:creationId xmlns:a16="http://schemas.microsoft.com/office/drawing/2014/main" id="{2E510A3B-9A87-27E4-1114-7F35D4DF2E14}"/>
              </a:ext>
            </a:extLst>
          </p:cNvPr>
          <p:cNvSpPr/>
          <p:nvPr/>
        </p:nvSpPr>
        <p:spPr>
          <a:xfrm>
            <a:off x="3333457" y="5095375"/>
            <a:ext cx="918208" cy="918208"/>
          </a:xfrm>
          <a:custGeom>
            <a:avLst/>
            <a:gdLst/>
            <a:ahLst/>
            <a:cxnLst>
              <a:cxn ang="0">
                <a:pos x="wd2" y="hd2"/>
              </a:cxn>
              <a:cxn ang="5400000">
                <a:pos x="wd2" y="hd2"/>
              </a:cxn>
              <a:cxn ang="10800000">
                <a:pos x="wd2" y="hd2"/>
              </a:cxn>
              <a:cxn ang="16200000">
                <a:pos x="wd2" y="hd2"/>
              </a:cxn>
            </a:cxnLst>
            <a:rect l="0" t="0" r="r" b="b"/>
            <a:pathLst>
              <a:path w="21600" h="21600" extrusionOk="0">
                <a:moveTo>
                  <a:pt x="21152" y="0"/>
                </a:moveTo>
                <a:lnTo>
                  <a:pt x="7558" y="0"/>
                </a:lnTo>
                <a:cubicBezTo>
                  <a:pt x="3406" y="0"/>
                  <a:pt x="0" y="3376"/>
                  <a:pt x="0" y="7558"/>
                </a:cubicBezTo>
                <a:lnTo>
                  <a:pt x="0" y="21152"/>
                </a:lnTo>
                <a:cubicBezTo>
                  <a:pt x="0" y="21391"/>
                  <a:pt x="209" y="21600"/>
                  <a:pt x="448" y="21600"/>
                </a:cubicBezTo>
                <a:lnTo>
                  <a:pt x="14042" y="21600"/>
                </a:lnTo>
                <a:cubicBezTo>
                  <a:pt x="18194" y="21600"/>
                  <a:pt x="21600" y="18224"/>
                  <a:pt x="21600" y="14042"/>
                </a:cubicBezTo>
                <a:lnTo>
                  <a:pt x="21600" y="448"/>
                </a:lnTo>
                <a:cubicBezTo>
                  <a:pt x="21600" y="209"/>
                  <a:pt x="21421" y="0"/>
                  <a:pt x="21152" y="0"/>
                </a:cubicBezTo>
                <a:close/>
                <a:moveTo>
                  <a:pt x="20704" y="14042"/>
                </a:moveTo>
                <a:cubicBezTo>
                  <a:pt x="20704" y="17716"/>
                  <a:pt x="17716" y="20704"/>
                  <a:pt x="14042" y="20704"/>
                </a:cubicBezTo>
                <a:lnTo>
                  <a:pt x="896" y="20704"/>
                </a:lnTo>
                <a:lnTo>
                  <a:pt x="896" y="7558"/>
                </a:lnTo>
                <a:cubicBezTo>
                  <a:pt x="896" y="3884"/>
                  <a:pt x="3884" y="896"/>
                  <a:pt x="7558" y="896"/>
                </a:cubicBezTo>
                <a:lnTo>
                  <a:pt x="20704" y="896"/>
                </a:lnTo>
                <a:lnTo>
                  <a:pt x="20704" y="14042"/>
                </a:lnTo>
                <a:close/>
              </a:path>
            </a:pathLst>
          </a:custGeom>
          <a:solidFill>
            <a:srgbClr val="278CCB"/>
          </a:solidFill>
          <a:ln w="12700">
            <a:miter lim="400000"/>
          </a:ln>
        </p:spPr>
        <p:txBody>
          <a:bodyPr lIns="38100" tIns="38100" rIns="38100" bIns="38100" anchor="ctr"/>
          <a:lstStyle/>
          <a:p>
            <a:pPr>
              <a:defRPr sz="3000">
                <a:solidFill>
                  <a:srgbClr val="FFFFFF"/>
                </a:solidFill>
              </a:defRPr>
            </a:pPr>
            <a:endParaRPr/>
          </a:p>
        </p:txBody>
      </p:sp>
      <p:sp>
        <p:nvSpPr>
          <p:cNvPr id="54" name="TextBox 53">
            <a:extLst>
              <a:ext uri="{FF2B5EF4-FFF2-40B4-BE49-F238E27FC236}">
                <a16:creationId xmlns:a16="http://schemas.microsoft.com/office/drawing/2014/main" id="{171CA5AF-5AB5-0BFB-E2FC-7B8802A9D014}"/>
              </a:ext>
            </a:extLst>
          </p:cNvPr>
          <p:cNvSpPr txBox="1"/>
          <p:nvPr/>
        </p:nvSpPr>
        <p:spPr>
          <a:xfrm>
            <a:off x="2902684" y="2634800"/>
            <a:ext cx="1650266" cy="646331"/>
          </a:xfrm>
          <a:prstGeom prst="rect">
            <a:avLst/>
          </a:prstGeom>
          <a:noFill/>
        </p:spPr>
        <p:txBody>
          <a:bodyPr wrap="square" lIns="0" rIns="0" rtlCol="0" anchor="t">
            <a:spAutoFit/>
          </a:bodyPr>
          <a:lstStyle/>
          <a:p>
            <a:r>
              <a:rPr lang="en-US" sz="1200" noProof="1">
                <a:solidFill>
                  <a:schemeClr val="bg1"/>
                </a:solidFill>
              </a:rPr>
              <a:t>Consolidate relationships to an efficient number of payment service providers </a:t>
            </a:r>
          </a:p>
        </p:txBody>
      </p:sp>
      <p:sp>
        <p:nvSpPr>
          <p:cNvPr id="55" name="TextBox 54">
            <a:extLst>
              <a:ext uri="{FF2B5EF4-FFF2-40B4-BE49-F238E27FC236}">
                <a16:creationId xmlns:a16="http://schemas.microsoft.com/office/drawing/2014/main" id="{53E291EA-C03D-A69B-29C0-10E77EEFDFC1}"/>
              </a:ext>
            </a:extLst>
          </p:cNvPr>
          <p:cNvSpPr txBox="1"/>
          <p:nvPr/>
        </p:nvSpPr>
        <p:spPr>
          <a:xfrm>
            <a:off x="2902684" y="1809880"/>
            <a:ext cx="1897807" cy="707886"/>
          </a:xfrm>
          <a:prstGeom prst="rect">
            <a:avLst/>
          </a:prstGeom>
          <a:noFill/>
        </p:spPr>
        <p:txBody>
          <a:bodyPr wrap="square" lIns="0" rIns="0" rtlCol="0" anchor="b">
            <a:spAutoFit/>
          </a:bodyPr>
          <a:lstStyle/>
          <a:p>
            <a:r>
              <a:rPr lang="en-US" sz="2000" b="1" noProof="1">
                <a:solidFill>
                  <a:schemeClr val="bg1"/>
                </a:solidFill>
              </a:rPr>
              <a:t>Operational Efficiency</a:t>
            </a:r>
          </a:p>
        </p:txBody>
      </p:sp>
      <p:sp>
        <p:nvSpPr>
          <p:cNvPr id="56" name="Freeform: Shape 55">
            <a:extLst>
              <a:ext uri="{FF2B5EF4-FFF2-40B4-BE49-F238E27FC236}">
                <a16:creationId xmlns:a16="http://schemas.microsoft.com/office/drawing/2014/main" id="{9AB9E780-06A5-7656-FB99-C75F27152197}"/>
              </a:ext>
            </a:extLst>
          </p:cNvPr>
          <p:cNvSpPr/>
          <p:nvPr/>
        </p:nvSpPr>
        <p:spPr>
          <a:xfrm>
            <a:off x="6087087" y="1784480"/>
            <a:ext cx="999492" cy="758952"/>
          </a:xfrm>
          <a:custGeom>
            <a:avLst/>
            <a:gdLst>
              <a:gd name="connsiteX0" fmla="*/ 0 w 999492"/>
              <a:gd name="connsiteY0" fmla="*/ 0 h 754388"/>
              <a:gd name="connsiteX1" fmla="*/ 999492 w 999492"/>
              <a:gd name="connsiteY1" fmla="*/ 0 h 754388"/>
              <a:gd name="connsiteX2" fmla="*/ 318651 w 999492"/>
              <a:gd name="connsiteY2" fmla="*/ 754339 h 754388"/>
              <a:gd name="connsiteX3" fmla="*/ 317688 w 999492"/>
              <a:gd name="connsiteY3" fmla="*/ 754388 h 754388"/>
              <a:gd name="connsiteX4" fmla="*/ 0 w 999492"/>
              <a:gd name="connsiteY4" fmla="*/ 754388 h 754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492" h="754388">
                <a:moveTo>
                  <a:pt x="0" y="0"/>
                </a:moveTo>
                <a:lnTo>
                  <a:pt x="999492" y="0"/>
                </a:lnTo>
                <a:cubicBezTo>
                  <a:pt x="999492" y="392903"/>
                  <a:pt x="700384" y="715544"/>
                  <a:pt x="318651" y="754339"/>
                </a:cubicBezTo>
                <a:lnTo>
                  <a:pt x="317688" y="754388"/>
                </a:lnTo>
                <a:lnTo>
                  <a:pt x="0" y="754388"/>
                </a:lnTo>
                <a:close/>
              </a:path>
            </a:pathLst>
          </a:custGeom>
          <a:solidFill>
            <a:schemeClr val="tx1">
              <a:alpha val="25000"/>
            </a:schemeClr>
          </a:solidFill>
          <a:ln w="12700">
            <a:miter lim="400000"/>
          </a:ln>
        </p:spPr>
        <p:txBody>
          <a:bodyPr wrap="square" lIns="38100" tIns="38100" rIns="38100" bIns="38100" anchor="ctr">
            <a:noAutofit/>
          </a:bodyPr>
          <a:lstStyle/>
          <a:p>
            <a:endParaRPr sz="3000" dirty="0">
              <a:solidFill>
                <a:srgbClr val="FFFFFF"/>
              </a:solidFill>
            </a:endParaRPr>
          </a:p>
        </p:txBody>
      </p:sp>
      <p:sp>
        <p:nvSpPr>
          <p:cNvPr id="57" name="Freeform: Shape 56">
            <a:extLst>
              <a:ext uri="{FF2B5EF4-FFF2-40B4-BE49-F238E27FC236}">
                <a16:creationId xmlns:a16="http://schemas.microsoft.com/office/drawing/2014/main" id="{0027B3AE-6EA9-BC93-3E3E-F99D407E9B6B}"/>
              </a:ext>
            </a:extLst>
          </p:cNvPr>
          <p:cNvSpPr/>
          <p:nvPr/>
        </p:nvSpPr>
        <p:spPr>
          <a:xfrm>
            <a:off x="4863731" y="1361574"/>
            <a:ext cx="2169159" cy="2490470"/>
          </a:xfrm>
          <a:custGeom>
            <a:avLst/>
            <a:gdLst>
              <a:gd name="connsiteX0" fmla="*/ 86374 w 2169159"/>
              <a:gd name="connsiteY0" fmla="*/ 0 h 2490470"/>
              <a:gd name="connsiteX1" fmla="*/ 172749 w 2169159"/>
              <a:gd name="connsiteY1" fmla="*/ 86419 h 2490470"/>
              <a:gd name="connsiteX2" fmla="*/ 107996 w 2169159"/>
              <a:gd name="connsiteY2" fmla="*/ 170099 h 2490470"/>
              <a:gd name="connsiteX3" fmla="*/ 107996 w 2169159"/>
              <a:gd name="connsiteY3" fmla="*/ 420391 h 2490470"/>
              <a:gd name="connsiteX4" fmla="*/ 107996 w 2169159"/>
              <a:gd name="connsiteY4" fmla="*/ 421636 h 2490470"/>
              <a:gd name="connsiteX5" fmla="*/ 107997 w 2169159"/>
              <a:gd name="connsiteY5" fmla="*/ 422906 h 2490470"/>
              <a:gd name="connsiteX6" fmla="*/ 2169159 w 2169159"/>
              <a:gd name="connsiteY6" fmla="*/ 422906 h 2490470"/>
              <a:gd name="connsiteX7" fmla="*/ 1488327 w 2169159"/>
              <a:gd name="connsiteY7" fmla="*/ 1180510 h 2490470"/>
              <a:gd name="connsiteX8" fmla="*/ 1461768 w 2169159"/>
              <a:gd name="connsiteY8" fmla="*/ 1181858 h 2490470"/>
              <a:gd name="connsiteX9" fmla="*/ 108567 w 2169159"/>
              <a:gd name="connsiteY9" fmla="*/ 1181858 h 2490470"/>
              <a:gd name="connsiteX10" fmla="*/ 109191 w 2169159"/>
              <a:gd name="connsiteY10" fmla="*/ 2012798 h 2490470"/>
              <a:gd name="connsiteX11" fmla="*/ 401316 w 2169159"/>
              <a:gd name="connsiteY11" fmla="*/ 2376158 h 2490470"/>
              <a:gd name="connsiteX12" fmla="*/ 482626 w 2169159"/>
              <a:gd name="connsiteY12" fmla="*/ 2317632 h 2490470"/>
              <a:gd name="connsiteX13" fmla="*/ 569000 w 2169159"/>
              <a:gd name="connsiteY13" fmla="*/ 2404051 h 2490470"/>
              <a:gd name="connsiteX14" fmla="*/ 482626 w 2169159"/>
              <a:gd name="connsiteY14" fmla="*/ 2490470 h 2490470"/>
              <a:gd name="connsiteX15" fmla="*/ 396252 w 2169159"/>
              <a:gd name="connsiteY15" fmla="*/ 2415507 h 2490470"/>
              <a:gd name="connsiteX16" fmla="*/ 68564 w 2169159"/>
              <a:gd name="connsiteY16" fmla="*/ 2011553 h 2490470"/>
              <a:gd name="connsiteX17" fmla="*/ 68564 w 2169159"/>
              <a:gd name="connsiteY17" fmla="*/ 171344 h 2490470"/>
              <a:gd name="connsiteX18" fmla="*/ 0 w 2169159"/>
              <a:gd name="connsiteY18" fmla="*/ 86419 h 2490470"/>
              <a:gd name="connsiteX19" fmla="*/ 86374 w 2169159"/>
              <a:gd name="connsiteY19" fmla="*/ 0 h 2490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69159" h="2490470">
                <a:moveTo>
                  <a:pt x="86374" y="0"/>
                </a:moveTo>
                <a:cubicBezTo>
                  <a:pt x="133317" y="0"/>
                  <a:pt x="172749" y="38104"/>
                  <a:pt x="172749" y="86419"/>
                </a:cubicBezTo>
                <a:cubicBezTo>
                  <a:pt x="172749" y="127014"/>
                  <a:pt x="146063" y="160137"/>
                  <a:pt x="107996" y="170099"/>
                </a:cubicBezTo>
                <a:lnTo>
                  <a:pt x="107996" y="420391"/>
                </a:lnTo>
                <a:lnTo>
                  <a:pt x="107996" y="421636"/>
                </a:lnTo>
                <a:lnTo>
                  <a:pt x="107997" y="422906"/>
                </a:lnTo>
                <a:lnTo>
                  <a:pt x="2169159" y="422906"/>
                </a:lnTo>
                <a:cubicBezTo>
                  <a:pt x="2169159" y="817547"/>
                  <a:pt x="1869971" y="1141551"/>
                  <a:pt x="1488327" y="1180510"/>
                </a:cubicBezTo>
                <a:lnTo>
                  <a:pt x="1461768" y="1181858"/>
                </a:lnTo>
                <a:lnTo>
                  <a:pt x="108567" y="1181858"/>
                </a:lnTo>
                <a:lnTo>
                  <a:pt x="109191" y="2012798"/>
                </a:lnTo>
                <a:cubicBezTo>
                  <a:pt x="109191" y="2190618"/>
                  <a:pt x="234940" y="2339299"/>
                  <a:pt x="401316" y="2376158"/>
                </a:cubicBezTo>
                <a:cubicBezTo>
                  <a:pt x="412753" y="2341789"/>
                  <a:pt x="444446" y="2317632"/>
                  <a:pt x="482626" y="2317632"/>
                </a:cubicBezTo>
                <a:cubicBezTo>
                  <a:pt x="529625" y="2317632"/>
                  <a:pt x="569000" y="2355736"/>
                  <a:pt x="569000" y="2404051"/>
                </a:cubicBezTo>
                <a:cubicBezTo>
                  <a:pt x="569000" y="2451121"/>
                  <a:pt x="530820" y="2490470"/>
                  <a:pt x="482626" y="2490470"/>
                </a:cubicBezTo>
                <a:cubicBezTo>
                  <a:pt x="438187" y="2490470"/>
                  <a:pt x="401316" y="2458841"/>
                  <a:pt x="396252" y="2415507"/>
                </a:cubicBezTo>
                <a:cubicBezTo>
                  <a:pt x="209620" y="2376158"/>
                  <a:pt x="68564" y="2209794"/>
                  <a:pt x="68564" y="2011553"/>
                </a:cubicBezTo>
                <a:lnTo>
                  <a:pt x="68564" y="171344"/>
                </a:lnTo>
                <a:cubicBezTo>
                  <a:pt x="29189" y="162628"/>
                  <a:pt x="0" y="128259"/>
                  <a:pt x="0" y="86419"/>
                </a:cubicBezTo>
                <a:cubicBezTo>
                  <a:pt x="0" y="39349"/>
                  <a:pt x="38066" y="0"/>
                  <a:pt x="86374" y="0"/>
                </a:cubicBezTo>
                <a:close/>
              </a:path>
            </a:pathLst>
          </a:custGeom>
          <a:solidFill>
            <a:srgbClr val="FECE11"/>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58" name="Shape">
            <a:extLst>
              <a:ext uri="{FF2B5EF4-FFF2-40B4-BE49-F238E27FC236}">
                <a16:creationId xmlns:a16="http://schemas.microsoft.com/office/drawing/2014/main" id="{12FC90C8-EF22-DF1F-396D-18EDB6801822}"/>
              </a:ext>
            </a:extLst>
          </p:cNvPr>
          <p:cNvSpPr/>
          <p:nvPr/>
        </p:nvSpPr>
        <p:spPr>
          <a:xfrm>
            <a:off x="5473331" y="3685675"/>
            <a:ext cx="918208" cy="918208"/>
          </a:xfrm>
          <a:custGeom>
            <a:avLst/>
            <a:gdLst/>
            <a:ahLst/>
            <a:cxnLst>
              <a:cxn ang="0">
                <a:pos x="wd2" y="hd2"/>
              </a:cxn>
              <a:cxn ang="5400000">
                <a:pos x="wd2" y="hd2"/>
              </a:cxn>
              <a:cxn ang="10800000">
                <a:pos x="wd2" y="hd2"/>
              </a:cxn>
              <a:cxn ang="16200000">
                <a:pos x="wd2" y="hd2"/>
              </a:cxn>
            </a:cxnLst>
            <a:rect l="0" t="0" r="r" b="b"/>
            <a:pathLst>
              <a:path w="21600" h="21600" extrusionOk="0">
                <a:moveTo>
                  <a:pt x="21152" y="0"/>
                </a:moveTo>
                <a:lnTo>
                  <a:pt x="7558" y="0"/>
                </a:lnTo>
                <a:cubicBezTo>
                  <a:pt x="3406" y="0"/>
                  <a:pt x="0" y="3376"/>
                  <a:pt x="0" y="7558"/>
                </a:cubicBezTo>
                <a:lnTo>
                  <a:pt x="0" y="21152"/>
                </a:lnTo>
                <a:cubicBezTo>
                  <a:pt x="0" y="21391"/>
                  <a:pt x="209" y="21600"/>
                  <a:pt x="448" y="21600"/>
                </a:cubicBezTo>
                <a:lnTo>
                  <a:pt x="14042" y="21600"/>
                </a:lnTo>
                <a:cubicBezTo>
                  <a:pt x="18194" y="21600"/>
                  <a:pt x="21600" y="18224"/>
                  <a:pt x="21600" y="14042"/>
                </a:cubicBezTo>
                <a:lnTo>
                  <a:pt x="21600" y="448"/>
                </a:lnTo>
                <a:cubicBezTo>
                  <a:pt x="21600" y="209"/>
                  <a:pt x="21391" y="0"/>
                  <a:pt x="21152" y="0"/>
                </a:cubicBezTo>
                <a:close/>
                <a:moveTo>
                  <a:pt x="20704" y="14042"/>
                </a:moveTo>
                <a:cubicBezTo>
                  <a:pt x="20704" y="17716"/>
                  <a:pt x="17716" y="20704"/>
                  <a:pt x="14042" y="20704"/>
                </a:cubicBezTo>
                <a:lnTo>
                  <a:pt x="896" y="20704"/>
                </a:lnTo>
                <a:lnTo>
                  <a:pt x="896" y="7558"/>
                </a:lnTo>
                <a:cubicBezTo>
                  <a:pt x="896" y="3884"/>
                  <a:pt x="3884" y="896"/>
                  <a:pt x="7558" y="896"/>
                </a:cubicBezTo>
                <a:lnTo>
                  <a:pt x="20704" y="896"/>
                </a:lnTo>
                <a:lnTo>
                  <a:pt x="20704" y="14042"/>
                </a:lnTo>
                <a:close/>
              </a:path>
            </a:pathLst>
          </a:custGeom>
          <a:solidFill>
            <a:schemeClr val="accent6">
              <a:lumMod val="75000"/>
            </a:schemeClr>
          </a:solidFill>
          <a:ln w="12700">
            <a:miter lim="400000"/>
          </a:ln>
        </p:spPr>
        <p:txBody>
          <a:bodyPr lIns="38100" tIns="38100" rIns="38100" bIns="38100" anchor="ctr"/>
          <a:lstStyle/>
          <a:p>
            <a:pPr>
              <a:defRPr sz="3000">
                <a:solidFill>
                  <a:srgbClr val="FFFFFF"/>
                </a:solidFill>
              </a:defRPr>
            </a:pPr>
            <a:endParaRPr/>
          </a:p>
        </p:txBody>
      </p:sp>
      <p:sp>
        <p:nvSpPr>
          <p:cNvPr id="59" name="TextBox 58">
            <a:extLst>
              <a:ext uri="{FF2B5EF4-FFF2-40B4-BE49-F238E27FC236}">
                <a16:creationId xmlns:a16="http://schemas.microsoft.com/office/drawing/2014/main" id="{A77E3B27-7F8A-9935-079F-240E1117BC2F}"/>
              </a:ext>
            </a:extLst>
          </p:cNvPr>
          <p:cNvSpPr txBox="1"/>
          <p:nvPr/>
        </p:nvSpPr>
        <p:spPr>
          <a:xfrm>
            <a:off x="5065571" y="2634800"/>
            <a:ext cx="1857100" cy="646331"/>
          </a:xfrm>
          <a:prstGeom prst="rect">
            <a:avLst/>
          </a:prstGeom>
          <a:noFill/>
        </p:spPr>
        <p:txBody>
          <a:bodyPr wrap="square" lIns="0" rIns="0" rtlCol="0" anchor="t">
            <a:spAutoFit/>
          </a:bodyPr>
          <a:lstStyle/>
          <a:p>
            <a:r>
              <a:rPr lang="en-US" sz="1200" noProof="1">
                <a:solidFill>
                  <a:schemeClr val="bg1"/>
                </a:solidFill>
              </a:rPr>
              <a:t>Accept payments the way your customers want and across multiple channels </a:t>
            </a:r>
          </a:p>
        </p:txBody>
      </p:sp>
      <p:sp>
        <p:nvSpPr>
          <p:cNvPr id="60" name="Freeform: Shape 59">
            <a:extLst>
              <a:ext uri="{FF2B5EF4-FFF2-40B4-BE49-F238E27FC236}">
                <a16:creationId xmlns:a16="http://schemas.microsoft.com/office/drawing/2014/main" id="{175ECE52-EEAA-88F4-8469-60594614A8F4}"/>
              </a:ext>
            </a:extLst>
          </p:cNvPr>
          <p:cNvSpPr/>
          <p:nvPr/>
        </p:nvSpPr>
        <p:spPr>
          <a:xfrm>
            <a:off x="8279028" y="1784480"/>
            <a:ext cx="999492" cy="758952"/>
          </a:xfrm>
          <a:custGeom>
            <a:avLst/>
            <a:gdLst>
              <a:gd name="connsiteX0" fmla="*/ 0 w 999492"/>
              <a:gd name="connsiteY0" fmla="*/ 0 h 754388"/>
              <a:gd name="connsiteX1" fmla="*/ 999492 w 999492"/>
              <a:gd name="connsiteY1" fmla="*/ 0 h 754388"/>
              <a:gd name="connsiteX2" fmla="*/ 318651 w 999492"/>
              <a:gd name="connsiteY2" fmla="*/ 754339 h 754388"/>
              <a:gd name="connsiteX3" fmla="*/ 317688 w 999492"/>
              <a:gd name="connsiteY3" fmla="*/ 754388 h 754388"/>
              <a:gd name="connsiteX4" fmla="*/ 0 w 999492"/>
              <a:gd name="connsiteY4" fmla="*/ 754388 h 754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492" h="754388">
                <a:moveTo>
                  <a:pt x="0" y="0"/>
                </a:moveTo>
                <a:lnTo>
                  <a:pt x="999492" y="0"/>
                </a:lnTo>
                <a:cubicBezTo>
                  <a:pt x="999492" y="392903"/>
                  <a:pt x="700384" y="715544"/>
                  <a:pt x="318651" y="754339"/>
                </a:cubicBezTo>
                <a:lnTo>
                  <a:pt x="317688" y="754388"/>
                </a:lnTo>
                <a:lnTo>
                  <a:pt x="0" y="754388"/>
                </a:lnTo>
                <a:close/>
              </a:path>
            </a:pathLst>
          </a:custGeom>
          <a:solidFill>
            <a:schemeClr val="tx1">
              <a:alpha val="25000"/>
            </a:schemeClr>
          </a:solidFill>
          <a:ln w="12700">
            <a:miter lim="400000"/>
          </a:ln>
        </p:spPr>
        <p:txBody>
          <a:bodyPr wrap="square" lIns="38100" tIns="38100" rIns="38100" bIns="38100" anchor="ctr">
            <a:noAutofit/>
          </a:bodyPr>
          <a:lstStyle/>
          <a:p>
            <a:endParaRPr sz="3000" dirty="0">
              <a:solidFill>
                <a:srgbClr val="FFFFFF"/>
              </a:solidFill>
            </a:endParaRPr>
          </a:p>
        </p:txBody>
      </p:sp>
      <p:sp>
        <p:nvSpPr>
          <p:cNvPr id="61" name="Freeform: Shape 60">
            <a:extLst>
              <a:ext uri="{FF2B5EF4-FFF2-40B4-BE49-F238E27FC236}">
                <a16:creationId xmlns:a16="http://schemas.microsoft.com/office/drawing/2014/main" id="{C1F4CDEC-BA95-9FAA-1A73-D346921B5615}"/>
              </a:ext>
            </a:extLst>
          </p:cNvPr>
          <p:cNvSpPr/>
          <p:nvPr/>
        </p:nvSpPr>
        <p:spPr>
          <a:xfrm>
            <a:off x="7058212" y="1361575"/>
            <a:ext cx="2166618" cy="3919215"/>
          </a:xfrm>
          <a:custGeom>
            <a:avLst/>
            <a:gdLst>
              <a:gd name="connsiteX0" fmla="*/ 86366 w 2166618"/>
              <a:gd name="connsiteY0" fmla="*/ 0 h 3919215"/>
              <a:gd name="connsiteX1" fmla="*/ 172731 w 2166618"/>
              <a:gd name="connsiteY1" fmla="*/ 86223 h 3919215"/>
              <a:gd name="connsiteX2" fmla="*/ 107928 w 2166618"/>
              <a:gd name="connsiteY2" fmla="*/ 170094 h 3919215"/>
              <a:gd name="connsiteX3" fmla="*/ 108025 w 2166618"/>
              <a:gd name="connsiteY3" fmla="*/ 422905 h 3919215"/>
              <a:gd name="connsiteX4" fmla="*/ 2166618 w 2166618"/>
              <a:gd name="connsiteY4" fmla="*/ 422905 h 3919215"/>
              <a:gd name="connsiteX5" fmla="*/ 1485781 w 2166618"/>
              <a:gd name="connsiteY5" fmla="*/ 1180408 h 3919215"/>
              <a:gd name="connsiteX6" fmla="*/ 1457202 w 2166618"/>
              <a:gd name="connsiteY6" fmla="*/ 1181857 h 3919215"/>
              <a:gd name="connsiteX7" fmla="*/ 108315 w 2166618"/>
              <a:gd name="connsiteY7" fmla="*/ 1181857 h 3919215"/>
              <a:gd name="connsiteX8" fmla="*/ 109180 w 2166618"/>
              <a:gd name="connsiteY8" fmla="*/ 3441463 h 3919215"/>
              <a:gd name="connsiteX9" fmla="*/ 401332 w 2166618"/>
              <a:gd name="connsiteY9" fmla="*/ 3804774 h 3919215"/>
              <a:gd name="connsiteX10" fmla="*/ 482577 w 2166618"/>
              <a:gd name="connsiteY10" fmla="*/ 3746378 h 3919215"/>
              <a:gd name="connsiteX11" fmla="*/ 568943 w 2166618"/>
              <a:gd name="connsiteY11" fmla="*/ 3832992 h 3919215"/>
              <a:gd name="connsiteX12" fmla="*/ 482577 w 2166618"/>
              <a:gd name="connsiteY12" fmla="*/ 3919215 h 3919215"/>
              <a:gd name="connsiteX13" fmla="*/ 396212 w 2166618"/>
              <a:gd name="connsiteY13" fmla="*/ 3844358 h 3919215"/>
              <a:gd name="connsiteX14" fmla="*/ 68615 w 2166618"/>
              <a:gd name="connsiteY14" fmla="*/ 3440287 h 3919215"/>
              <a:gd name="connsiteX15" fmla="*/ 68615 w 2166618"/>
              <a:gd name="connsiteY15" fmla="*/ 171662 h 3919215"/>
              <a:gd name="connsiteX16" fmla="*/ 0 w 2166618"/>
              <a:gd name="connsiteY16" fmla="*/ 86223 h 3919215"/>
              <a:gd name="connsiteX17" fmla="*/ 86366 w 2166618"/>
              <a:gd name="connsiteY17" fmla="*/ 0 h 391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6618" h="3919215">
                <a:moveTo>
                  <a:pt x="86366" y="0"/>
                </a:moveTo>
                <a:cubicBezTo>
                  <a:pt x="133360" y="0"/>
                  <a:pt x="172731" y="38016"/>
                  <a:pt x="172731" y="86223"/>
                </a:cubicBezTo>
                <a:cubicBezTo>
                  <a:pt x="172731" y="126982"/>
                  <a:pt x="145991" y="159904"/>
                  <a:pt x="107928" y="170094"/>
                </a:cubicBezTo>
                <a:lnTo>
                  <a:pt x="108025" y="422905"/>
                </a:lnTo>
                <a:lnTo>
                  <a:pt x="2166618" y="422905"/>
                </a:lnTo>
                <a:cubicBezTo>
                  <a:pt x="2166618" y="817584"/>
                  <a:pt x="1867511" y="1141464"/>
                  <a:pt x="1485781" y="1180408"/>
                </a:cubicBezTo>
                <a:lnTo>
                  <a:pt x="1457202" y="1181857"/>
                </a:lnTo>
                <a:lnTo>
                  <a:pt x="108315" y="1181857"/>
                </a:lnTo>
                <a:lnTo>
                  <a:pt x="109180" y="3441463"/>
                </a:lnTo>
                <a:cubicBezTo>
                  <a:pt x="109180" y="3619395"/>
                  <a:pt x="234973" y="3767933"/>
                  <a:pt x="401332" y="3804774"/>
                </a:cubicBezTo>
                <a:cubicBezTo>
                  <a:pt x="412768" y="3770677"/>
                  <a:pt x="444515" y="3746378"/>
                  <a:pt x="482577" y="3746378"/>
                </a:cubicBezTo>
                <a:cubicBezTo>
                  <a:pt x="529572" y="3746378"/>
                  <a:pt x="568943" y="3784394"/>
                  <a:pt x="568943" y="3832992"/>
                </a:cubicBezTo>
                <a:cubicBezTo>
                  <a:pt x="568943" y="3880023"/>
                  <a:pt x="530824" y="3919215"/>
                  <a:pt x="482577" y="3919215"/>
                </a:cubicBezTo>
                <a:cubicBezTo>
                  <a:pt x="438200" y="3919215"/>
                  <a:pt x="401332" y="3887469"/>
                  <a:pt x="396212" y="3844358"/>
                </a:cubicBezTo>
                <a:cubicBezTo>
                  <a:pt x="209542" y="3804774"/>
                  <a:pt x="68615" y="3638599"/>
                  <a:pt x="68615" y="3440287"/>
                </a:cubicBezTo>
                <a:lnTo>
                  <a:pt x="68615" y="171662"/>
                </a:lnTo>
                <a:cubicBezTo>
                  <a:pt x="29187" y="162647"/>
                  <a:pt x="0" y="128158"/>
                  <a:pt x="0" y="86223"/>
                </a:cubicBezTo>
                <a:cubicBezTo>
                  <a:pt x="0" y="39192"/>
                  <a:pt x="39371" y="0"/>
                  <a:pt x="86366" y="0"/>
                </a:cubicBezTo>
                <a:close/>
              </a:path>
            </a:pathLst>
          </a:custGeom>
          <a:solidFill>
            <a:srgbClr val="278CCB"/>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62" name="Shape">
            <a:extLst>
              <a:ext uri="{FF2B5EF4-FFF2-40B4-BE49-F238E27FC236}">
                <a16:creationId xmlns:a16="http://schemas.microsoft.com/office/drawing/2014/main" id="{50C55C00-0B46-1248-6793-4E3BFA69D38A}"/>
              </a:ext>
            </a:extLst>
          </p:cNvPr>
          <p:cNvSpPr/>
          <p:nvPr/>
        </p:nvSpPr>
        <p:spPr>
          <a:xfrm>
            <a:off x="7705914" y="5095375"/>
            <a:ext cx="918208" cy="918208"/>
          </a:xfrm>
          <a:custGeom>
            <a:avLst/>
            <a:gdLst/>
            <a:ahLst/>
            <a:cxnLst>
              <a:cxn ang="0">
                <a:pos x="wd2" y="hd2"/>
              </a:cxn>
              <a:cxn ang="5400000">
                <a:pos x="wd2" y="hd2"/>
              </a:cxn>
              <a:cxn ang="10800000">
                <a:pos x="wd2" y="hd2"/>
              </a:cxn>
              <a:cxn ang="16200000">
                <a:pos x="wd2" y="hd2"/>
              </a:cxn>
            </a:cxnLst>
            <a:rect l="0" t="0" r="r" b="b"/>
            <a:pathLst>
              <a:path w="21600" h="21600" extrusionOk="0">
                <a:moveTo>
                  <a:pt x="21152" y="0"/>
                </a:moveTo>
                <a:lnTo>
                  <a:pt x="7558" y="0"/>
                </a:lnTo>
                <a:cubicBezTo>
                  <a:pt x="3406" y="0"/>
                  <a:pt x="0" y="3376"/>
                  <a:pt x="0" y="7558"/>
                </a:cubicBezTo>
                <a:lnTo>
                  <a:pt x="0" y="21152"/>
                </a:lnTo>
                <a:cubicBezTo>
                  <a:pt x="0" y="21391"/>
                  <a:pt x="209" y="21600"/>
                  <a:pt x="448" y="21600"/>
                </a:cubicBezTo>
                <a:lnTo>
                  <a:pt x="14042" y="21600"/>
                </a:lnTo>
                <a:cubicBezTo>
                  <a:pt x="18194" y="21600"/>
                  <a:pt x="21600" y="18224"/>
                  <a:pt x="21600" y="14042"/>
                </a:cubicBezTo>
                <a:lnTo>
                  <a:pt x="21600" y="448"/>
                </a:lnTo>
                <a:cubicBezTo>
                  <a:pt x="21600" y="209"/>
                  <a:pt x="21391" y="0"/>
                  <a:pt x="21152" y="0"/>
                </a:cubicBezTo>
                <a:close/>
                <a:moveTo>
                  <a:pt x="20704" y="14042"/>
                </a:moveTo>
                <a:cubicBezTo>
                  <a:pt x="20704" y="17716"/>
                  <a:pt x="17716" y="20704"/>
                  <a:pt x="14042" y="20704"/>
                </a:cubicBezTo>
                <a:lnTo>
                  <a:pt x="896" y="20704"/>
                </a:lnTo>
                <a:lnTo>
                  <a:pt x="896" y="7558"/>
                </a:lnTo>
                <a:cubicBezTo>
                  <a:pt x="896" y="3884"/>
                  <a:pt x="3884" y="896"/>
                  <a:pt x="7558" y="896"/>
                </a:cubicBezTo>
                <a:lnTo>
                  <a:pt x="20704" y="896"/>
                </a:lnTo>
                <a:lnTo>
                  <a:pt x="20704" y="14042"/>
                </a:lnTo>
                <a:close/>
              </a:path>
            </a:pathLst>
          </a:custGeom>
          <a:solidFill>
            <a:schemeClr val="accent5">
              <a:lumMod val="75000"/>
            </a:schemeClr>
          </a:solidFill>
          <a:ln w="12700">
            <a:miter lim="400000"/>
          </a:ln>
        </p:spPr>
        <p:txBody>
          <a:bodyPr lIns="38100" tIns="38100" rIns="38100" bIns="38100" anchor="ctr"/>
          <a:lstStyle/>
          <a:p>
            <a:pPr>
              <a:defRPr sz="3000">
                <a:solidFill>
                  <a:srgbClr val="FFFFFF"/>
                </a:solidFill>
              </a:defRPr>
            </a:pPr>
            <a:endParaRPr/>
          </a:p>
        </p:txBody>
      </p:sp>
      <p:sp>
        <p:nvSpPr>
          <p:cNvPr id="63" name="TextBox 62">
            <a:extLst>
              <a:ext uri="{FF2B5EF4-FFF2-40B4-BE49-F238E27FC236}">
                <a16:creationId xmlns:a16="http://schemas.microsoft.com/office/drawing/2014/main" id="{CC9408BF-709C-9505-8AFD-650627A9BC0C}"/>
              </a:ext>
            </a:extLst>
          </p:cNvPr>
          <p:cNvSpPr txBox="1"/>
          <p:nvPr/>
        </p:nvSpPr>
        <p:spPr>
          <a:xfrm>
            <a:off x="7261611" y="2634800"/>
            <a:ext cx="1882070" cy="461665"/>
          </a:xfrm>
          <a:prstGeom prst="rect">
            <a:avLst/>
          </a:prstGeom>
          <a:noFill/>
        </p:spPr>
        <p:txBody>
          <a:bodyPr wrap="square" lIns="0" rIns="0" rtlCol="0" anchor="t">
            <a:spAutoFit/>
          </a:bodyPr>
          <a:lstStyle/>
          <a:p>
            <a:r>
              <a:rPr lang="en-US" sz="1200" noProof="1">
                <a:solidFill>
                  <a:schemeClr val="bg1"/>
                </a:solidFill>
              </a:rPr>
              <a:t>Enable hotel guests to pay in their preferred currency</a:t>
            </a:r>
          </a:p>
        </p:txBody>
      </p:sp>
      <p:sp>
        <p:nvSpPr>
          <p:cNvPr id="64" name="Freeform: Shape 63">
            <a:extLst>
              <a:ext uri="{FF2B5EF4-FFF2-40B4-BE49-F238E27FC236}">
                <a16:creationId xmlns:a16="http://schemas.microsoft.com/office/drawing/2014/main" id="{A1B97448-D08C-A943-1706-49DB2221B97B}"/>
              </a:ext>
            </a:extLst>
          </p:cNvPr>
          <p:cNvSpPr/>
          <p:nvPr/>
        </p:nvSpPr>
        <p:spPr>
          <a:xfrm>
            <a:off x="10473508" y="1784480"/>
            <a:ext cx="999492" cy="758952"/>
          </a:xfrm>
          <a:custGeom>
            <a:avLst/>
            <a:gdLst>
              <a:gd name="connsiteX0" fmla="*/ 0 w 999492"/>
              <a:gd name="connsiteY0" fmla="*/ 0 h 754388"/>
              <a:gd name="connsiteX1" fmla="*/ 999492 w 999492"/>
              <a:gd name="connsiteY1" fmla="*/ 0 h 754388"/>
              <a:gd name="connsiteX2" fmla="*/ 318651 w 999492"/>
              <a:gd name="connsiteY2" fmla="*/ 754339 h 754388"/>
              <a:gd name="connsiteX3" fmla="*/ 317688 w 999492"/>
              <a:gd name="connsiteY3" fmla="*/ 754388 h 754388"/>
              <a:gd name="connsiteX4" fmla="*/ 0 w 999492"/>
              <a:gd name="connsiteY4" fmla="*/ 754388 h 754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492" h="754388">
                <a:moveTo>
                  <a:pt x="0" y="0"/>
                </a:moveTo>
                <a:lnTo>
                  <a:pt x="999492" y="0"/>
                </a:lnTo>
                <a:cubicBezTo>
                  <a:pt x="999492" y="392903"/>
                  <a:pt x="700384" y="715544"/>
                  <a:pt x="318651" y="754339"/>
                </a:cubicBezTo>
                <a:lnTo>
                  <a:pt x="317688" y="754388"/>
                </a:lnTo>
                <a:lnTo>
                  <a:pt x="0" y="754388"/>
                </a:lnTo>
                <a:close/>
              </a:path>
            </a:pathLst>
          </a:custGeom>
          <a:solidFill>
            <a:schemeClr val="tx1">
              <a:alpha val="25000"/>
            </a:schemeClr>
          </a:solidFill>
          <a:ln w="12700">
            <a:miter lim="400000"/>
          </a:ln>
        </p:spPr>
        <p:txBody>
          <a:bodyPr wrap="square" lIns="38100" tIns="38100" rIns="38100" bIns="38100" anchor="ctr">
            <a:noAutofit/>
          </a:bodyPr>
          <a:lstStyle/>
          <a:p>
            <a:endParaRPr sz="3000" dirty="0">
              <a:solidFill>
                <a:srgbClr val="FFFFFF"/>
              </a:solidFill>
            </a:endParaRPr>
          </a:p>
        </p:txBody>
      </p:sp>
      <p:sp>
        <p:nvSpPr>
          <p:cNvPr id="65" name="Freeform: Shape 64">
            <a:extLst>
              <a:ext uri="{FF2B5EF4-FFF2-40B4-BE49-F238E27FC236}">
                <a16:creationId xmlns:a16="http://schemas.microsoft.com/office/drawing/2014/main" id="{A0FE3398-DB81-1BD9-FD7D-BFC982C0A09D}"/>
              </a:ext>
            </a:extLst>
          </p:cNvPr>
          <p:cNvSpPr/>
          <p:nvPr/>
        </p:nvSpPr>
        <p:spPr>
          <a:xfrm>
            <a:off x="9250152" y="1361574"/>
            <a:ext cx="2169159" cy="2490470"/>
          </a:xfrm>
          <a:custGeom>
            <a:avLst/>
            <a:gdLst>
              <a:gd name="connsiteX0" fmla="*/ 86374 w 2169159"/>
              <a:gd name="connsiteY0" fmla="*/ 0 h 2490470"/>
              <a:gd name="connsiteX1" fmla="*/ 172749 w 2169159"/>
              <a:gd name="connsiteY1" fmla="*/ 86419 h 2490470"/>
              <a:gd name="connsiteX2" fmla="*/ 107996 w 2169159"/>
              <a:gd name="connsiteY2" fmla="*/ 170099 h 2490470"/>
              <a:gd name="connsiteX3" fmla="*/ 107996 w 2169159"/>
              <a:gd name="connsiteY3" fmla="*/ 420391 h 2490470"/>
              <a:gd name="connsiteX4" fmla="*/ 107996 w 2169159"/>
              <a:gd name="connsiteY4" fmla="*/ 421636 h 2490470"/>
              <a:gd name="connsiteX5" fmla="*/ 107997 w 2169159"/>
              <a:gd name="connsiteY5" fmla="*/ 422906 h 2490470"/>
              <a:gd name="connsiteX6" fmla="*/ 2169159 w 2169159"/>
              <a:gd name="connsiteY6" fmla="*/ 422906 h 2490470"/>
              <a:gd name="connsiteX7" fmla="*/ 1488327 w 2169159"/>
              <a:gd name="connsiteY7" fmla="*/ 1180510 h 2490470"/>
              <a:gd name="connsiteX8" fmla="*/ 1461768 w 2169159"/>
              <a:gd name="connsiteY8" fmla="*/ 1181858 h 2490470"/>
              <a:gd name="connsiteX9" fmla="*/ 108567 w 2169159"/>
              <a:gd name="connsiteY9" fmla="*/ 1181858 h 2490470"/>
              <a:gd name="connsiteX10" fmla="*/ 109191 w 2169159"/>
              <a:gd name="connsiteY10" fmla="*/ 2012798 h 2490470"/>
              <a:gd name="connsiteX11" fmla="*/ 401316 w 2169159"/>
              <a:gd name="connsiteY11" fmla="*/ 2376158 h 2490470"/>
              <a:gd name="connsiteX12" fmla="*/ 482626 w 2169159"/>
              <a:gd name="connsiteY12" fmla="*/ 2317632 h 2490470"/>
              <a:gd name="connsiteX13" fmla="*/ 569000 w 2169159"/>
              <a:gd name="connsiteY13" fmla="*/ 2404051 h 2490470"/>
              <a:gd name="connsiteX14" fmla="*/ 482626 w 2169159"/>
              <a:gd name="connsiteY14" fmla="*/ 2490470 h 2490470"/>
              <a:gd name="connsiteX15" fmla="*/ 396252 w 2169159"/>
              <a:gd name="connsiteY15" fmla="*/ 2415507 h 2490470"/>
              <a:gd name="connsiteX16" fmla="*/ 68564 w 2169159"/>
              <a:gd name="connsiteY16" fmla="*/ 2011553 h 2490470"/>
              <a:gd name="connsiteX17" fmla="*/ 68564 w 2169159"/>
              <a:gd name="connsiteY17" fmla="*/ 171344 h 2490470"/>
              <a:gd name="connsiteX18" fmla="*/ 0 w 2169159"/>
              <a:gd name="connsiteY18" fmla="*/ 86419 h 2490470"/>
              <a:gd name="connsiteX19" fmla="*/ 86374 w 2169159"/>
              <a:gd name="connsiteY19" fmla="*/ 0 h 2490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69159" h="2490470">
                <a:moveTo>
                  <a:pt x="86374" y="0"/>
                </a:moveTo>
                <a:cubicBezTo>
                  <a:pt x="133317" y="0"/>
                  <a:pt x="172749" y="38104"/>
                  <a:pt x="172749" y="86419"/>
                </a:cubicBezTo>
                <a:cubicBezTo>
                  <a:pt x="172749" y="127014"/>
                  <a:pt x="146063" y="160137"/>
                  <a:pt x="107996" y="170099"/>
                </a:cubicBezTo>
                <a:lnTo>
                  <a:pt x="107996" y="420391"/>
                </a:lnTo>
                <a:lnTo>
                  <a:pt x="107996" y="421636"/>
                </a:lnTo>
                <a:lnTo>
                  <a:pt x="107997" y="422906"/>
                </a:lnTo>
                <a:lnTo>
                  <a:pt x="2169159" y="422906"/>
                </a:lnTo>
                <a:cubicBezTo>
                  <a:pt x="2169159" y="817547"/>
                  <a:pt x="1869971" y="1141551"/>
                  <a:pt x="1488327" y="1180510"/>
                </a:cubicBezTo>
                <a:lnTo>
                  <a:pt x="1461768" y="1181858"/>
                </a:lnTo>
                <a:lnTo>
                  <a:pt x="108567" y="1181858"/>
                </a:lnTo>
                <a:lnTo>
                  <a:pt x="109191" y="2012798"/>
                </a:lnTo>
                <a:cubicBezTo>
                  <a:pt x="109191" y="2190618"/>
                  <a:pt x="234940" y="2339299"/>
                  <a:pt x="401316" y="2376158"/>
                </a:cubicBezTo>
                <a:cubicBezTo>
                  <a:pt x="412753" y="2341789"/>
                  <a:pt x="444446" y="2317632"/>
                  <a:pt x="482626" y="2317632"/>
                </a:cubicBezTo>
                <a:cubicBezTo>
                  <a:pt x="529625" y="2317632"/>
                  <a:pt x="569000" y="2355736"/>
                  <a:pt x="569000" y="2404051"/>
                </a:cubicBezTo>
                <a:cubicBezTo>
                  <a:pt x="569000" y="2451121"/>
                  <a:pt x="530820" y="2490470"/>
                  <a:pt x="482626" y="2490470"/>
                </a:cubicBezTo>
                <a:cubicBezTo>
                  <a:pt x="438187" y="2490470"/>
                  <a:pt x="401316" y="2458841"/>
                  <a:pt x="396252" y="2415507"/>
                </a:cubicBezTo>
                <a:cubicBezTo>
                  <a:pt x="209620" y="2376158"/>
                  <a:pt x="68564" y="2209794"/>
                  <a:pt x="68564" y="2011553"/>
                </a:cubicBezTo>
                <a:lnTo>
                  <a:pt x="68564" y="171344"/>
                </a:lnTo>
                <a:cubicBezTo>
                  <a:pt x="29189" y="162628"/>
                  <a:pt x="0" y="128259"/>
                  <a:pt x="0" y="86419"/>
                </a:cubicBezTo>
                <a:cubicBezTo>
                  <a:pt x="0" y="39349"/>
                  <a:pt x="38066" y="0"/>
                  <a:pt x="86374" y="0"/>
                </a:cubicBezTo>
                <a:close/>
              </a:path>
            </a:pathLst>
          </a:custGeom>
          <a:solidFill>
            <a:schemeClr val="accent6"/>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66" name="Shape">
            <a:extLst>
              <a:ext uri="{FF2B5EF4-FFF2-40B4-BE49-F238E27FC236}">
                <a16:creationId xmlns:a16="http://schemas.microsoft.com/office/drawing/2014/main" id="{C3083CD8-CC4D-3E37-3EE4-4BA292B7160C}"/>
              </a:ext>
            </a:extLst>
          </p:cNvPr>
          <p:cNvSpPr/>
          <p:nvPr/>
        </p:nvSpPr>
        <p:spPr>
          <a:xfrm>
            <a:off x="9859752" y="3685675"/>
            <a:ext cx="918208" cy="918208"/>
          </a:xfrm>
          <a:custGeom>
            <a:avLst/>
            <a:gdLst/>
            <a:ahLst/>
            <a:cxnLst>
              <a:cxn ang="0">
                <a:pos x="wd2" y="hd2"/>
              </a:cxn>
              <a:cxn ang="5400000">
                <a:pos x="wd2" y="hd2"/>
              </a:cxn>
              <a:cxn ang="10800000">
                <a:pos x="wd2" y="hd2"/>
              </a:cxn>
              <a:cxn ang="16200000">
                <a:pos x="wd2" y="hd2"/>
              </a:cxn>
            </a:cxnLst>
            <a:rect l="0" t="0" r="r" b="b"/>
            <a:pathLst>
              <a:path w="21600" h="21600" extrusionOk="0">
                <a:moveTo>
                  <a:pt x="21152" y="0"/>
                </a:moveTo>
                <a:lnTo>
                  <a:pt x="7558" y="0"/>
                </a:lnTo>
                <a:cubicBezTo>
                  <a:pt x="3406" y="0"/>
                  <a:pt x="0" y="3376"/>
                  <a:pt x="0" y="7558"/>
                </a:cubicBezTo>
                <a:lnTo>
                  <a:pt x="0" y="21152"/>
                </a:lnTo>
                <a:cubicBezTo>
                  <a:pt x="0" y="21391"/>
                  <a:pt x="209" y="21600"/>
                  <a:pt x="448" y="21600"/>
                </a:cubicBezTo>
                <a:lnTo>
                  <a:pt x="14042" y="21600"/>
                </a:lnTo>
                <a:cubicBezTo>
                  <a:pt x="18194" y="21600"/>
                  <a:pt x="21600" y="18224"/>
                  <a:pt x="21600" y="14042"/>
                </a:cubicBezTo>
                <a:lnTo>
                  <a:pt x="21600" y="448"/>
                </a:lnTo>
                <a:cubicBezTo>
                  <a:pt x="21600" y="209"/>
                  <a:pt x="21391" y="0"/>
                  <a:pt x="21152" y="0"/>
                </a:cubicBezTo>
                <a:close/>
                <a:moveTo>
                  <a:pt x="20704" y="14042"/>
                </a:moveTo>
                <a:cubicBezTo>
                  <a:pt x="20704" y="17716"/>
                  <a:pt x="17716" y="20704"/>
                  <a:pt x="14042" y="20704"/>
                </a:cubicBezTo>
                <a:lnTo>
                  <a:pt x="896" y="20704"/>
                </a:lnTo>
                <a:lnTo>
                  <a:pt x="896" y="7558"/>
                </a:lnTo>
                <a:cubicBezTo>
                  <a:pt x="896" y="3884"/>
                  <a:pt x="3884" y="896"/>
                  <a:pt x="7558" y="896"/>
                </a:cubicBezTo>
                <a:lnTo>
                  <a:pt x="20704" y="896"/>
                </a:lnTo>
                <a:lnTo>
                  <a:pt x="20704" y="14042"/>
                </a:lnTo>
                <a:close/>
              </a:path>
            </a:pathLst>
          </a:custGeom>
          <a:solidFill>
            <a:schemeClr val="accent6">
              <a:lumMod val="75000"/>
            </a:schemeClr>
          </a:solidFill>
          <a:ln w="12700">
            <a:miter lim="400000"/>
          </a:ln>
        </p:spPr>
        <p:txBody>
          <a:bodyPr lIns="38100" tIns="38100" rIns="38100" bIns="38100" anchor="ctr"/>
          <a:lstStyle/>
          <a:p>
            <a:pPr>
              <a:defRPr sz="3000">
                <a:solidFill>
                  <a:srgbClr val="FFFFFF"/>
                </a:solidFill>
              </a:defRPr>
            </a:pPr>
            <a:endParaRPr/>
          </a:p>
        </p:txBody>
      </p:sp>
      <p:sp>
        <p:nvSpPr>
          <p:cNvPr id="67" name="TextBox 66">
            <a:extLst>
              <a:ext uri="{FF2B5EF4-FFF2-40B4-BE49-F238E27FC236}">
                <a16:creationId xmlns:a16="http://schemas.microsoft.com/office/drawing/2014/main" id="{A6157302-96FB-C47A-8B58-91B1C72FB65C}"/>
              </a:ext>
            </a:extLst>
          </p:cNvPr>
          <p:cNvSpPr txBox="1"/>
          <p:nvPr/>
        </p:nvSpPr>
        <p:spPr>
          <a:xfrm>
            <a:off x="9451992" y="2634800"/>
            <a:ext cx="1857100" cy="646331"/>
          </a:xfrm>
          <a:prstGeom prst="rect">
            <a:avLst/>
          </a:prstGeom>
          <a:noFill/>
        </p:spPr>
        <p:txBody>
          <a:bodyPr wrap="square" lIns="0" rIns="0" rtlCol="0" anchor="t">
            <a:spAutoFit/>
          </a:bodyPr>
          <a:lstStyle/>
          <a:p>
            <a:r>
              <a:rPr lang="en-US" sz="1200" noProof="1">
                <a:solidFill>
                  <a:schemeClr val="bg1"/>
                </a:solidFill>
              </a:rPr>
              <a:t>Facilitate a fast and secure customer payment experience with tokenization</a:t>
            </a:r>
          </a:p>
        </p:txBody>
      </p:sp>
      <p:sp>
        <p:nvSpPr>
          <p:cNvPr id="68" name="TextBox 67">
            <a:extLst>
              <a:ext uri="{FF2B5EF4-FFF2-40B4-BE49-F238E27FC236}">
                <a16:creationId xmlns:a16="http://schemas.microsoft.com/office/drawing/2014/main" id="{2C466E3E-F4E3-CB34-9997-D64DCDC811A0}"/>
              </a:ext>
            </a:extLst>
          </p:cNvPr>
          <p:cNvSpPr txBox="1"/>
          <p:nvPr/>
        </p:nvSpPr>
        <p:spPr>
          <a:xfrm>
            <a:off x="5065571" y="1809880"/>
            <a:ext cx="1897807" cy="707886"/>
          </a:xfrm>
          <a:prstGeom prst="rect">
            <a:avLst/>
          </a:prstGeom>
          <a:noFill/>
        </p:spPr>
        <p:txBody>
          <a:bodyPr wrap="square" lIns="0" rIns="0" rtlCol="0" anchor="b">
            <a:spAutoFit/>
          </a:bodyPr>
          <a:lstStyle/>
          <a:p>
            <a:r>
              <a:rPr lang="en-US" sz="2000" b="1" noProof="1"/>
              <a:t>Payment Acceptance</a:t>
            </a:r>
          </a:p>
        </p:txBody>
      </p:sp>
      <p:sp>
        <p:nvSpPr>
          <p:cNvPr id="69" name="TextBox 68">
            <a:extLst>
              <a:ext uri="{FF2B5EF4-FFF2-40B4-BE49-F238E27FC236}">
                <a16:creationId xmlns:a16="http://schemas.microsoft.com/office/drawing/2014/main" id="{9EFFE2AD-AA32-BA64-7A42-7EFD44A2A57A}"/>
              </a:ext>
            </a:extLst>
          </p:cNvPr>
          <p:cNvSpPr txBox="1"/>
          <p:nvPr/>
        </p:nvSpPr>
        <p:spPr>
          <a:xfrm>
            <a:off x="7261611" y="1963768"/>
            <a:ext cx="1897807" cy="400110"/>
          </a:xfrm>
          <a:prstGeom prst="rect">
            <a:avLst/>
          </a:prstGeom>
          <a:noFill/>
        </p:spPr>
        <p:txBody>
          <a:bodyPr wrap="square" lIns="0" rIns="0" rtlCol="0" anchor="ctr">
            <a:spAutoFit/>
          </a:bodyPr>
          <a:lstStyle/>
          <a:p>
            <a:r>
              <a:rPr lang="en-US" sz="2000" b="1" noProof="1">
                <a:solidFill>
                  <a:srgbClr val="FFFFFF"/>
                </a:solidFill>
              </a:rPr>
              <a:t>Multi-currency</a:t>
            </a:r>
          </a:p>
        </p:txBody>
      </p:sp>
      <p:sp>
        <p:nvSpPr>
          <p:cNvPr id="70" name="TextBox 69">
            <a:extLst>
              <a:ext uri="{FF2B5EF4-FFF2-40B4-BE49-F238E27FC236}">
                <a16:creationId xmlns:a16="http://schemas.microsoft.com/office/drawing/2014/main" id="{98670C89-E14F-390D-5438-8E08C89ABFAA}"/>
              </a:ext>
            </a:extLst>
          </p:cNvPr>
          <p:cNvSpPr txBox="1"/>
          <p:nvPr/>
        </p:nvSpPr>
        <p:spPr>
          <a:xfrm>
            <a:off x="9451992" y="1809880"/>
            <a:ext cx="1897807" cy="707886"/>
          </a:xfrm>
          <a:prstGeom prst="rect">
            <a:avLst/>
          </a:prstGeom>
          <a:noFill/>
        </p:spPr>
        <p:txBody>
          <a:bodyPr wrap="square" lIns="0" rIns="0" rtlCol="0" anchor="ctr">
            <a:spAutoFit/>
          </a:bodyPr>
          <a:lstStyle/>
          <a:p>
            <a:r>
              <a:rPr lang="en-US" sz="2000" b="1" noProof="1">
                <a:solidFill>
                  <a:srgbClr val="FFFFFF"/>
                </a:solidFill>
              </a:rPr>
              <a:t>Seamless Transaction</a:t>
            </a:r>
          </a:p>
        </p:txBody>
      </p:sp>
      <p:sp>
        <p:nvSpPr>
          <p:cNvPr id="71" name="Title 1">
            <a:extLst>
              <a:ext uri="{FF2B5EF4-FFF2-40B4-BE49-F238E27FC236}">
                <a16:creationId xmlns:a16="http://schemas.microsoft.com/office/drawing/2014/main" id="{9C45835C-4341-E2FF-8AE9-4737D9D8A654}"/>
              </a:ext>
            </a:extLst>
          </p:cNvPr>
          <p:cNvSpPr txBox="1">
            <a:spLocks/>
          </p:cNvSpPr>
          <p:nvPr/>
        </p:nvSpPr>
        <p:spPr>
          <a:xfrm>
            <a:off x="387350" y="475648"/>
            <a:ext cx="11142800" cy="44319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chemeClr val="bg1"/>
                </a:solidFill>
                <a:latin typeface="Arial Black" pitchFamily="34" charset="0"/>
              </a:rPr>
              <a:t>Payment trends and best practices in the Hospitality industry</a:t>
            </a:r>
          </a:p>
        </p:txBody>
      </p:sp>
    </p:spTree>
    <p:extLst>
      <p:ext uri="{BB962C8B-B14F-4D97-AF65-F5344CB8AC3E}">
        <p14:creationId xmlns:p14="http://schemas.microsoft.com/office/powerpoint/2010/main" val="2893904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280C5BE2-C21A-E5E8-2436-236176036D46}"/>
              </a:ext>
            </a:extLst>
          </p:cNvPr>
          <p:cNvSpPr/>
          <p:nvPr/>
        </p:nvSpPr>
        <p:spPr>
          <a:xfrm flipH="1">
            <a:off x="387350" y="1595453"/>
            <a:ext cx="11271250" cy="4745746"/>
          </a:xfrm>
          <a:prstGeom prst="roundRect">
            <a:avLst>
              <a:gd name="adj" fmla="val 2314"/>
            </a:avLst>
          </a:prstGeom>
          <a:solidFill>
            <a:schemeClr val="bg1"/>
          </a:solidFill>
          <a:ln>
            <a:noFill/>
          </a:ln>
          <a:effectLst>
            <a:outerShdw blurRad="63500" sx="101000" sy="101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Top Corners Rounded 4">
            <a:extLst>
              <a:ext uri="{FF2B5EF4-FFF2-40B4-BE49-F238E27FC236}">
                <a16:creationId xmlns:a16="http://schemas.microsoft.com/office/drawing/2014/main" id="{A0985DF8-F2F4-C805-9A82-6C4CCC5D0079}"/>
              </a:ext>
            </a:extLst>
          </p:cNvPr>
          <p:cNvSpPr/>
          <p:nvPr/>
        </p:nvSpPr>
        <p:spPr>
          <a:xfrm rot="5400000">
            <a:off x="5085358" y="-4803429"/>
            <a:ext cx="830637" cy="11001356"/>
          </a:xfrm>
          <a:prstGeom prst="round2SameRect">
            <a:avLst>
              <a:gd name="adj1" fmla="val 50000"/>
              <a:gd name="adj2" fmla="val 0"/>
            </a:avLst>
          </a:prstGeom>
          <a:solidFill>
            <a:srgbClr val="278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2" name="Chart 61"/>
          <p:cNvGraphicFramePr/>
          <p:nvPr>
            <p:extLst>
              <p:ext uri="{D42A27DB-BD31-4B8C-83A1-F6EECF244321}">
                <p14:modId xmlns:p14="http://schemas.microsoft.com/office/powerpoint/2010/main" val="3460221784"/>
              </p:ext>
            </p:extLst>
          </p:nvPr>
        </p:nvGraphicFramePr>
        <p:xfrm>
          <a:off x="6915552" y="3724017"/>
          <a:ext cx="3546073" cy="2548551"/>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a:extLst>
              <a:ext uri="{FF2B5EF4-FFF2-40B4-BE49-F238E27FC236}">
                <a16:creationId xmlns:a16="http://schemas.microsoft.com/office/drawing/2014/main" id="{63CD193A-870E-8387-746C-E812FC0A09FC}"/>
              </a:ext>
            </a:extLst>
          </p:cNvPr>
          <p:cNvSpPr txBox="1">
            <a:spLocks/>
          </p:cNvSpPr>
          <p:nvPr/>
        </p:nvSpPr>
        <p:spPr>
          <a:xfrm>
            <a:off x="387350" y="475648"/>
            <a:ext cx="11142800" cy="44319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chemeClr val="bg1"/>
                </a:solidFill>
              </a:rPr>
              <a:t>Cloud computing contracts and data protection challenges </a:t>
            </a:r>
          </a:p>
        </p:txBody>
      </p:sp>
      <p:sp>
        <p:nvSpPr>
          <p:cNvPr id="10" name="Oval 9">
            <a:extLst>
              <a:ext uri="{FF2B5EF4-FFF2-40B4-BE49-F238E27FC236}">
                <a16:creationId xmlns:a16="http://schemas.microsoft.com/office/drawing/2014/main" id="{68A3D0DD-3819-1DB1-3B9F-E1E2C4762399}"/>
              </a:ext>
            </a:extLst>
          </p:cNvPr>
          <p:cNvSpPr/>
          <p:nvPr/>
        </p:nvSpPr>
        <p:spPr>
          <a:xfrm>
            <a:off x="10556606" y="918846"/>
            <a:ext cx="295275" cy="295275"/>
          </a:xfrm>
          <a:prstGeom prst="ellipse">
            <a:avLst/>
          </a:prstGeom>
          <a:gradFill flip="none" rotWithShape="1">
            <a:gsLst>
              <a:gs pos="0">
                <a:schemeClr val="bg1"/>
              </a:gs>
              <a:gs pos="50000">
                <a:srgbClr val="7FBBE0"/>
              </a:gs>
              <a:gs pos="100000">
                <a:srgbClr val="278CCB">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30264AC7-3A32-6898-3F0D-08014588E124}"/>
              </a:ext>
            </a:extLst>
          </p:cNvPr>
          <p:cNvSpPr/>
          <p:nvPr/>
        </p:nvSpPr>
        <p:spPr>
          <a:xfrm>
            <a:off x="10887033" y="918846"/>
            <a:ext cx="228643" cy="228643"/>
          </a:xfrm>
          <a:prstGeom prst="ellipse">
            <a:avLst/>
          </a:prstGeom>
          <a:gradFill flip="none" rotWithShape="1">
            <a:gsLst>
              <a:gs pos="0">
                <a:schemeClr val="bg1"/>
              </a:gs>
              <a:gs pos="50000">
                <a:srgbClr val="7FBBE0"/>
              </a:gs>
              <a:gs pos="100000">
                <a:srgbClr val="278CCB">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Top Corners Rounded 29">
            <a:extLst>
              <a:ext uri="{FF2B5EF4-FFF2-40B4-BE49-F238E27FC236}">
                <a16:creationId xmlns:a16="http://schemas.microsoft.com/office/drawing/2014/main" id="{21AE7AFF-C9E3-4206-CE11-C69E50FBF86B}"/>
              </a:ext>
            </a:extLst>
          </p:cNvPr>
          <p:cNvSpPr/>
          <p:nvPr/>
        </p:nvSpPr>
        <p:spPr>
          <a:xfrm>
            <a:off x="9861596" y="1657319"/>
            <a:ext cx="1644605" cy="382324"/>
          </a:xfrm>
          <a:prstGeom prst="round2SameRect">
            <a:avLst/>
          </a:prstGeom>
          <a:gradFill flip="none" rotWithShape="1">
            <a:gsLst>
              <a:gs pos="0">
                <a:srgbClr val="278CCB">
                  <a:shade val="30000"/>
                  <a:satMod val="115000"/>
                </a:srgbClr>
              </a:gs>
              <a:gs pos="50000">
                <a:srgbClr val="278CCB">
                  <a:shade val="67500"/>
                  <a:satMod val="115000"/>
                </a:srgbClr>
              </a:gs>
              <a:gs pos="100000">
                <a:srgbClr val="278CCB">
                  <a:shade val="100000"/>
                  <a:satMod val="11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Top Corners Rounded 31">
            <a:extLst>
              <a:ext uri="{FF2B5EF4-FFF2-40B4-BE49-F238E27FC236}">
                <a16:creationId xmlns:a16="http://schemas.microsoft.com/office/drawing/2014/main" id="{B8872DE3-44CB-AA9F-814B-D3698C13C44A}"/>
              </a:ext>
            </a:extLst>
          </p:cNvPr>
          <p:cNvSpPr/>
          <p:nvPr/>
        </p:nvSpPr>
        <p:spPr>
          <a:xfrm>
            <a:off x="8216991" y="1657319"/>
            <a:ext cx="1644605" cy="382324"/>
          </a:xfrm>
          <a:prstGeom prst="round2SameRect">
            <a:avLst/>
          </a:prstGeom>
          <a:gradFill flip="none" rotWithShape="1">
            <a:gsLst>
              <a:gs pos="0">
                <a:srgbClr val="278CCB">
                  <a:shade val="30000"/>
                  <a:satMod val="115000"/>
                </a:srgbClr>
              </a:gs>
              <a:gs pos="50000">
                <a:srgbClr val="278CCB">
                  <a:shade val="67500"/>
                  <a:satMod val="115000"/>
                </a:srgbClr>
              </a:gs>
              <a:gs pos="100000">
                <a:srgbClr val="278CCB">
                  <a:shade val="100000"/>
                  <a:satMod val="11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Group 69"/>
          <p:cNvGraphicFramePr>
            <a:graphicFrameLocks noGrp="1"/>
          </p:cNvGraphicFramePr>
          <p:nvPr>
            <p:extLst>
              <p:ext uri="{D42A27DB-BD31-4B8C-83A1-F6EECF244321}">
                <p14:modId xmlns:p14="http://schemas.microsoft.com/office/powerpoint/2010/main" val="2165786139"/>
              </p:ext>
            </p:extLst>
          </p:nvPr>
        </p:nvGraphicFramePr>
        <p:xfrm>
          <a:off x="6106410" y="1693925"/>
          <a:ext cx="5399790" cy="1931620"/>
        </p:xfrm>
        <a:graphic>
          <a:graphicData uri="http://schemas.openxmlformats.org/drawingml/2006/table">
            <a:tbl>
              <a:tblPr/>
              <a:tblGrid>
                <a:gridCol w="2189152">
                  <a:extLst>
                    <a:ext uri="{9D8B030D-6E8A-4147-A177-3AD203B41FA5}">
                      <a16:colId xmlns:a16="http://schemas.microsoft.com/office/drawing/2014/main" val="20000"/>
                    </a:ext>
                  </a:extLst>
                </a:gridCol>
                <a:gridCol w="1603625">
                  <a:extLst>
                    <a:ext uri="{9D8B030D-6E8A-4147-A177-3AD203B41FA5}">
                      <a16:colId xmlns:a16="http://schemas.microsoft.com/office/drawing/2014/main" val="20001"/>
                    </a:ext>
                  </a:extLst>
                </a:gridCol>
                <a:gridCol w="1607013">
                  <a:extLst>
                    <a:ext uri="{9D8B030D-6E8A-4147-A177-3AD203B41FA5}">
                      <a16:colId xmlns:a16="http://schemas.microsoft.com/office/drawing/2014/main" val="20002"/>
                    </a:ext>
                  </a:extLst>
                </a:gridCol>
              </a:tblGrid>
              <a:tr h="344425">
                <a:tc>
                  <a:txBody>
                    <a:bodyPr/>
                    <a:lstStyle/>
                    <a:p>
                      <a:pPr marL="0" marR="0" lvl="0" indent="0" algn="ctr" defTabSz="957263" rtl="0" eaLnBrk="1" fontAlgn="base" latinLnBrk="0" hangingPunct="1">
                        <a:lnSpc>
                          <a:spcPts val="1200"/>
                        </a:lnSpc>
                        <a:spcBef>
                          <a:spcPct val="20000"/>
                        </a:spcBef>
                        <a:spcAft>
                          <a:spcPct val="0"/>
                        </a:spcAft>
                        <a:buClr>
                          <a:srgbClr val="004FA6"/>
                        </a:buClr>
                        <a:buSzPct val="115000"/>
                        <a:buFontTx/>
                        <a:buNone/>
                        <a:tabLst/>
                      </a:pPr>
                      <a:endParaRPr kumimoji="0" lang="en-US" sz="1050" b="0" i="0" u="none" strike="noStrike" cap="none" normalizeH="0" baseline="0" dirty="0">
                        <a:ln>
                          <a:noFill/>
                        </a:ln>
                        <a:solidFill>
                          <a:schemeClr val="accent1"/>
                        </a:solidFill>
                        <a:effectLst/>
                        <a:latin typeface="+mn-lt"/>
                        <a:ea typeface="Geneva" charset="-128"/>
                        <a:cs typeface="Arial" pitchFamily="34"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ts val="1100"/>
                        </a:lnSpc>
                        <a:spcBef>
                          <a:spcPct val="20000"/>
                        </a:spcBef>
                        <a:spcAft>
                          <a:spcPct val="0"/>
                        </a:spcAft>
                        <a:buClr>
                          <a:srgbClr val="004FA6"/>
                        </a:buClr>
                        <a:buSzPct val="115000"/>
                        <a:buFontTx/>
                        <a:buNone/>
                        <a:tabLst/>
                      </a:pPr>
                      <a:r>
                        <a:rPr kumimoji="0" lang="en-US" sz="1050" b="0" i="0" u="none" strike="noStrike" cap="none" normalizeH="0" baseline="0" dirty="0">
                          <a:ln>
                            <a:noFill/>
                          </a:ln>
                          <a:solidFill>
                            <a:schemeClr val="bg1"/>
                          </a:solidFill>
                          <a:effectLst/>
                          <a:latin typeface="+mn-lt"/>
                          <a:ea typeface="Geneva" charset="-128"/>
                          <a:cs typeface="Arial" pitchFamily="34" charset="0"/>
                        </a:rPr>
                        <a:t>Rank within the EU</a:t>
                      </a: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ts val="1100"/>
                        </a:lnSpc>
                        <a:spcBef>
                          <a:spcPct val="20000"/>
                        </a:spcBef>
                        <a:spcAft>
                          <a:spcPct val="0"/>
                        </a:spcAft>
                        <a:buClr>
                          <a:srgbClr val="004FA6"/>
                        </a:buClr>
                        <a:buSzPct val="115000"/>
                        <a:buFontTx/>
                        <a:buNone/>
                        <a:tabLst/>
                      </a:pPr>
                      <a:r>
                        <a:rPr kumimoji="0" lang="en-US" sz="1050" b="0" i="0" u="none" strike="noStrike" cap="none" normalizeH="0" baseline="0" dirty="0">
                          <a:ln>
                            <a:noFill/>
                          </a:ln>
                          <a:solidFill>
                            <a:schemeClr val="bg1"/>
                          </a:solidFill>
                          <a:effectLst/>
                          <a:latin typeface="+mn-lt"/>
                          <a:ea typeface="Geneva" charset="-128"/>
                          <a:cs typeface="Arial" pitchFamily="34" charset="0"/>
                        </a:rPr>
                        <a:t>Rank within New EU </a:t>
                      </a:r>
                      <a:br>
                        <a:rPr kumimoji="0" lang="en-US" sz="1050" b="0" i="0" u="none" strike="noStrike" cap="none" normalizeH="0" baseline="0" dirty="0">
                          <a:ln>
                            <a:noFill/>
                          </a:ln>
                          <a:solidFill>
                            <a:schemeClr val="bg1"/>
                          </a:solidFill>
                          <a:effectLst/>
                          <a:latin typeface="+mn-lt"/>
                          <a:ea typeface="Geneva" charset="-128"/>
                          <a:cs typeface="Arial" pitchFamily="34" charset="0"/>
                        </a:rPr>
                      </a:br>
                      <a:r>
                        <a:rPr kumimoji="0" lang="en-US" sz="1050" b="0" i="0" u="none" strike="noStrike" cap="none" normalizeH="0" baseline="0" dirty="0">
                          <a:ln>
                            <a:noFill/>
                          </a:ln>
                          <a:solidFill>
                            <a:schemeClr val="bg1"/>
                          </a:solidFill>
                          <a:effectLst/>
                          <a:latin typeface="+mn-lt"/>
                          <a:ea typeface="Geneva" charset="-128"/>
                          <a:cs typeface="Arial" pitchFamily="34" charset="0"/>
                        </a:rPr>
                        <a:t>Member Countries</a:t>
                      </a:r>
                      <a:r>
                        <a:rPr kumimoji="0" lang="en-US" sz="1050" b="0" i="0" u="none" strike="noStrike" cap="none" normalizeH="0" baseline="30000" dirty="0">
                          <a:ln>
                            <a:noFill/>
                          </a:ln>
                          <a:solidFill>
                            <a:schemeClr val="bg1"/>
                          </a:solidFill>
                          <a:effectLst/>
                          <a:latin typeface="+mn-lt"/>
                          <a:ea typeface="Geneva" charset="-128"/>
                          <a:cs typeface="Arial" pitchFamily="34" charset="0"/>
                        </a:rPr>
                        <a:t>1</a:t>
                      </a:r>
                    </a:p>
                  </a:txBody>
                  <a:tcPr marL="0" marR="0" marT="0" marB="0" anchor="ctr" horzOverflow="overflow">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6719">
                <a:tc>
                  <a:txBody>
                    <a:bodyPr/>
                    <a:lstStyle/>
                    <a:p>
                      <a:pPr marL="0" marR="0" lvl="0" indent="0" algn="l" defTabSz="957263" rtl="0" eaLnBrk="1" fontAlgn="base" latinLnBrk="0" hangingPunct="1">
                        <a:lnSpc>
                          <a:spcPts val="1000"/>
                        </a:lnSpc>
                        <a:spcBef>
                          <a:spcPct val="20000"/>
                        </a:spcBef>
                        <a:spcAft>
                          <a:spcPct val="0"/>
                        </a:spcAft>
                        <a:buClr>
                          <a:srgbClr val="004FA6"/>
                        </a:buClr>
                        <a:buSzPct val="115000"/>
                        <a:buFontTx/>
                        <a:buNone/>
                        <a:tabLst/>
                      </a:pPr>
                      <a:r>
                        <a:rPr kumimoji="0" lang="en-GB" sz="900" b="0" i="0" u="none" strike="noStrike" cap="none" normalizeH="0" baseline="0" dirty="0">
                          <a:ln>
                            <a:noFill/>
                          </a:ln>
                          <a:solidFill>
                            <a:schemeClr val="tx1"/>
                          </a:solidFill>
                          <a:effectLst/>
                          <a:latin typeface="+mn-lt"/>
                          <a:ea typeface="Geneva" charset="-128"/>
                          <a:cs typeface="Arial" pitchFamily="34" charset="0"/>
                        </a:rPr>
                        <a:t>Size: 238,391 km</a:t>
                      </a:r>
                      <a:r>
                        <a:rPr kumimoji="0" lang="en-GB" sz="900" b="0" i="0" u="none" strike="noStrike" cap="none" normalizeH="0" baseline="30000" dirty="0">
                          <a:ln>
                            <a:noFill/>
                          </a:ln>
                          <a:solidFill>
                            <a:schemeClr val="tx1"/>
                          </a:solidFill>
                          <a:effectLst/>
                          <a:latin typeface="+mn-lt"/>
                          <a:ea typeface="Geneva" charset="-128"/>
                          <a:cs typeface="Arial" pitchFamily="34" charset="0"/>
                        </a:rPr>
                        <a:t>2</a:t>
                      </a:r>
                      <a:endParaRPr kumimoji="0" lang="en-US" sz="900" b="0" i="0" u="none" strike="noStrike" cap="none" normalizeH="0" baseline="0" dirty="0">
                        <a:ln>
                          <a:noFill/>
                        </a:ln>
                        <a:solidFill>
                          <a:schemeClr val="tx1"/>
                        </a:solidFill>
                        <a:effectLst/>
                        <a:latin typeface="+mn-lt"/>
                        <a:ea typeface="Geneva" charset="-128"/>
                        <a:cs typeface="Arial" pitchFamily="34" charset="0"/>
                      </a:endParaRPr>
                    </a:p>
                  </a:txBody>
                  <a:tcPr marL="0" marR="0" marT="0" marB="0" anchor="ctr" horzOverflow="overflow">
                    <a:lnL>
                      <a:noFill/>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ts val="1200"/>
                        </a:lnSpc>
                        <a:spcBef>
                          <a:spcPct val="20000"/>
                        </a:spcBef>
                        <a:spcAft>
                          <a:spcPct val="0"/>
                        </a:spcAft>
                        <a:buClr>
                          <a:srgbClr val="004FA6"/>
                        </a:buClr>
                        <a:buSzPct val="115000"/>
                        <a:buFontTx/>
                        <a:buNone/>
                        <a:tabLst/>
                      </a:pPr>
                      <a:r>
                        <a:rPr kumimoji="0" lang="en-US" sz="900" b="0" i="0" u="none" strike="noStrike" cap="none" normalizeH="0" baseline="0" dirty="0">
                          <a:ln>
                            <a:noFill/>
                          </a:ln>
                          <a:solidFill>
                            <a:schemeClr val="tx1"/>
                          </a:solidFill>
                          <a:effectLst/>
                          <a:latin typeface="+mn-lt"/>
                          <a:ea typeface="Geneva" charset="-128"/>
                          <a:cs typeface="Arial" pitchFamily="34" charset="0"/>
                        </a:rPr>
                        <a:t>9</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ts val="1100"/>
                        </a:lnSpc>
                        <a:spcBef>
                          <a:spcPct val="20000"/>
                        </a:spcBef>
                        <a:spcAft>
                          <a:spcPct val="0"/>
                        </a:spcAft>
                        <a:buClr>
                          <a:srgbClr val="004FA6"/>
                        </a:buClr>
                        <a:buSzPct val="115000"/>
                        <a:buFontTx/>
                        <a:buNone/>
                        <a:tabLst/>
                      </a:pPr>
                      <a:r>
                        <a:rPr kumimoji="0" lang="en-US" sz="900" b="0" i="0" u="none" strike="noStrike" cap="none" normalizeH="0" baseline="0" dirty="0">
                          <a:ln>
                            <a:noFill/>
                          </a:ln>
                          <a:solidFill>
                            <a:schemeClr val="tx1"/>
                          </a:solidFill>
                          <a:effectLst/>
                          <a:latin typeface="+mn-lt"/>
                          <a:ea typeface="Geneva" charset="-128"/>
                          <a:cs typeface="Arial" pitchFamily="34" charset="0"/>
                        </a:rPr>
                        <a:t>2 </a:t>
                      </a:r>
                      <a:br>
                        <a:rPr kumimoji="0" lang="en-US" sz="900" b="0" i="0" u="none" strike="noStrike" cap="none" normalizeH="0" baseline="0" dirty="0">
                          <a:ln>
                            <a:noFill/>
                          </a:ln>
                          <a:solidFill>
                            <a:schemeClr val="tx1"/>
                          </a:solidFill>
                          <a:effectLst/>
                          <a:latin typeface="+mn-lt"/>
                          <a:ea typeface="Geneva" charset="-128"/>
                          <a:cs typeface="Arial" pitchFamily="34" charset="0"/>
                        </a:rPr>
                      </a:br>
                      <a:r>
                        <a:rPr kumimoji="0" lang="en-US" sz="900" b="0" i="0" u="none" strike="noStrike" cap="none" normalizeH="0" baseline="0" dirty="0">
                          <a:ln>
                            <a:noFill/>
                          </a:ln>
                          <a:solidFill>
                            <a:schemeClr val="tx1"/>
                          </a:solidFill>
                          <a:effectLst/>
                          <a:latin typeface="+mn-lt"/>
                          <a:ea typeface="Geneva" charset="-128"/>
                          <a:cs typeface="Arial" pitchFamily="34" charset="0"/>
                        </a:rPr>
                        <a:t>(following Poland)</a:t>
                      </a:r>
                    </a:p>
                  </a:txBody>
                  <a:tcPr marL="0" marR="0" marT="0" marB="0" anchor="ctr" horzOverflow="overflow">
                    <a:lnL w="1270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6719">
                <a:tc>
                  <a:txBody>
                    <a:bodyPr/>
                    <a:lstStyle/>
                    <a:p>
                      <a:pPr marL="0" marR="0" lvl="0" indent="0" algn="l" defTabSz="957263" rtl="0" eaLnBrk="1" fontAlgn="base" latinLnBrk="0" hangingPunct="1">
                        <a:lnSpc>
                          <a:spcPct val="90000"/>
                        </a:lnSpc>
                        <a:spcBef>
                          <a:spcPts val="0"/>
                        </a:spcBef>
                        <a:spcAft>
                          <a:spcPct val="0"/>
                        </a:spcAft>
                        <a:buClr>
                          <a:srgbClr val="004FA6"/>
                        </a:buClr>
                        <a:buSzPct val="115000"/>
                        <a:buFontTx/>
                        <a:buNone/>
                        <a:tabLst/>
                      </a:pPr>
                      <a:r>
                        <a:rPr kumimoji="0" lang="en-GB" sz="900" b="0" i="0" u="none" strike="noStrike" cap="none" normalizeH="0" baseline="0" dirty="0">
                          <a:ln>
                            <a:noFill/>
                          </a:ln>
                          <a:solidFill>
                            <a:schemeClr val="tx1"/>
                          </a:solidFill>
                          <a:effectLst/>
                          <a:latin typeface="+mn-lt"/>
                          <a:ea typeface="Geneva" charset="-128"/>
                          <a:cs typeface="Arial" pitchFamily="34" charset="0"/>
                        </a:rPr>
                        <a:t>Population: </a:t>
                      </a:r>
                      <a:r>
                        <a:rPr kumimoji="0" lang="en-US" sz="900" b="0" i="0" u="none" strike="noStrike" cap="none" normalizeH="0" baseline="0" dirty="0">
                          <a:ln>
                            <a:noFill/>
                          </a:ln>
                          <a:solidFill>
                            <a:schemeClr val="tx1"/>
                          </a:solidFill>
                          <a:effectLst/>
                          <a:latin typeface="+mn-lt"/>
                          <a:ea typeface="Geneva" charset="-128"/>
                          <a:cs typeface="Arial" pitchFamily="34" charset="0"/>
                        </a:rPr>
                        <a:t>20,121,641</a:t>
                      </a:r>
                      <a:endParaRPr kumimoji="0" lang="en-GB" sz="900" b="0" i="0" u="none" strike="noStrike" cap="none" normalizeH="0" baseline="0" dirty="0">
                        <a:ln>
                          <a:noFill/>
                        </a:ln>
                        <a:solidFill>
                          <a:schemeClr val="tx1"/>
                        </a:solidFill>
                        <a:effectLst/>
                        <a:latin typeface="+mn-lt"/>
                        <a:ea typeface="Geneva" charset="-128"/>
                        <a:cs typeface="Arial" pitchFamily="34" charset="0"/>
                      </a:endParaRPr>
                    </a:p>
                    <a:p>
                      <a:pPr marL="0" marR="0" lvl="0" indent="0" algn="l" defTabSz="957263" rtl="0" eaLnBrk="1" fontAlgn="base" latinLnBrk="0" hangingPunct="1">
                        <a:lnSpc>
                          <a:spcPct val="90000"/>
                        </a:lnSpc>
                        <a:spcBef>
                          <a:spcPts val="0"/>
                        </a:spcBef>
                        <a:spcAft>
                          <a:spcPct val="0"/>
                        </a:spcAft>
                        <a:buClr>
                          <a:srgbClr val="004FA6"/>
                        </a:buClr>
                        <a:buSzTx/>
                        <a:buFontTx/>
                        <a:buChar char="•"/>
                        <a:tabLst/>
                      </a:pPr>
                      <a:r>
                        <a:rPr kumimoji="0" lang="en-GB" sz="900" b="0" i="0" u="none" strike="noStrike" cap="none" normalizeH="0" baseline="0" dirty="0">
                          <a:ln>
                            <a:noFill/>
                          </a:ln>
                          <a:solidFill>
                            <a:schemeClr val="tx1"/>
                          </a:solidFill>
                          <a:effectLst/>
                          <a:latin typeface="+mn-lt"/>
                          <a:ea typeface="Geneva" charset="-128"/>
                          <a:cs typeface="Arial" pitchFamily="34" charset="0"/>
                        </a:rPr>
                        <a:t> Urban: 54.0%</a:t>
                      </a:r>
                    </a:p>
                    <a:p>
                      <a:pPr marL="0" marR="0" lvl="0" indent="0" algn="l" defTabSz="957263" rtl="0" eaLnBrk="1" fontAlgn="base" latinLnBrk="0" hangingPunct="1">
                        <a:lnSpc>
                          <a:spcPct val="90000"/>
                        </a:lnSpc>
                        <a:spcBef>
                          <a:spcPts val="0"/>
                        </a:spcBef>
                        <a:spcAft>
                          <a:spcPct val="0"/>
                        </a:spcAft>
                        <a:buClr>
                          <a:srgbClr val="004FA6"/>
                        </a:buClr>
                        <a:buSzTx/>
                        <a:buFontTx/>
                        <a:buChar char="•"/>
                        <a:tabLst/>
                      </a:pPr>
                      <a:r>
                        <a:rPr kumimoji="0" lang="en-GB" sz="900" b="0" i="0" u="none" strike="noStrike" cap="none" normalizeH="0" baseline="0" dirty="0">
                          <a:ln>
                            <a:noFill/>
                          </a:ln>
                          <a:solidFill>
                            <a:schemeClr val="tx1"/>
                          </a:solidFill>
                          <a:effectLst/>
                          <a:latin typeface="+mn-lt"/>
                          <a:ea typeface="Geneva" charset="-128"/>
                          <a:cs typeface="Arial" pitchFamily="34" charset="0"/>
                        </a:rPr>
                        <a:t> Rural: </a:t>
                      </a:r>
                      <a:r>
                        <a:rPr kumimoji="0" lang="en-US" sz="900" b="0" i="0" u="none" strike="noStrike" cap="none" normalizeH="0" baseline="0" dirty="0">
                          <a:ln>
                            <a:noFill/>
                          </a:ln>
                          <a:solidFill>
                            <a:schemeClr val="tx1"/>
                          </a:solidFill>
                          <a:effectLst/>
                          <a:latin typeface="+mn-lt"/>
                          <a:ea typeface="Geneva" charset="-128"/>
                          <a:cs typeface="Arial" pitchFamily="34" charset="0"/>
                        </a:rPr>
                        <a:t>46.0%</a:t>
                      </a:r>
                    </a:p>
                  </a:txBody>
                  <a:tcPr marL="0" marR="0" marT="0" marB="0" horzOverflow="overflow">
                    <a:lnL>
                      <a:noFill/>
                    </a:lnL>
                    <a:lnR w="12700" cap="flat" cmpd="sng" algn="ctr">
                      <a:solidFill>
                        <a:schemeClr val="bg1"/>
                      </a:solidFill>
                      <a:prstDash val="solid"/>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ts val="1200"/>
                        </a:lnSpc>
                        <a:spcBef>
                          <a:spcPct val="20000"/>
                        </a:spcBef>
                        <a:spcAft>
                          <a:spcPct val="0"/>
                        </a:spcAft>
                        <a:buClr>
                          <a:srgbClr val="004FA6"/>
                        </a:buClr>
                        <a:buSzPct val="115000"/>
                        <a:buFontTx/>
                        <a:buNone/>
                        <a:tabLst/>
                      </a:pPr>
                      <a:r>
                        <a:rPr kumimoji="0" lang="en-US" sz="900" b="0" i="0" u="none" strike="noStrike" cap="none" normalizeH="0" baseline="0" dirty="0">
                          <a:ln>
                            <a:noFill/>
                          </a:ln>
                          <a:solidFill>
                            <a:schemeClr val="tx1"/>
                          </a:solidFill>
                          <a:effectLst/>
                          <a:latin typeface="+mn-lt"/>
                          <a:ea typeface="Geneva" charset="-128"/>
                          <a:cs typeface="Arial" pitchFamily="34" charset="0"/>
                        </a:rPr>
                        <a:t>7</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ts val="1100"/>
                        </a:lnSpc>
                        <a:spcBef>
                          <a:spcPct val="20000"/>
                        </a:spcBef>
                        <a:spcAft>
                          <a:spcPct val="0"/>
                        </a:spcAft>
                        <a:buClr>
                          <a:srgbClr val="004FA6"/>
                        </a:buClr>
                        <a:buSzPct val="115000"/>
                        <a:buFontTx/>
                        <a:buNone/>
                        <a:tabLst/>
                      </a:pPr>
                      <a:r>
                        <a:rPr kumimoji="0" lang="en-US" sz="900" b="0" i="0" u="none" strike="noStrike" cap="none" normalizeH="0" baseline="0" dirty="0">
                          <a:ln>
                            <a:noFill/>
                          </a:ln>
                          <a:solidFill>
                            <a:schemeClr val="tx1"/>
                          </a:solidFill>
                          <a:effectLst/>
                          <a:latin typeface="+mn-lt"/>
                          <a:ea typeface="Geneva" charset="-128"/>
                          <a:cs typeface="Arial" pitchFamily="34" charset="0"/>
                        </a:rPr>
                        <a:t>2 </a:t>
                      </a:r>
                    </a:p>
                    <a:p>
                      <a:pPr marL="0" marR="0" lvl="0" indent="0" algn="ctr" defTabSz="957263" rtl="0" eaLnBrk="1" fontAlgn="base" latinLnBrk="0" hangingPunct="1">
                        <a:lnSpc>
                          <a:spcPts val="1100"/>
                        </a:lnSpc>
                        <a:spcBef>
                          <a:spcPts val="100"/>
                        </a:spcBef>
                        <a:spcAft>
                          <a:spcPct val="0"/>
                        </a:spcAft>
                        <a:buClr>
                          <a:srgbClr val="004FA6"/>
                        </a:buClr>
                        <a:buSzPct val="115000"/>
                        <a:buFontTx/>
                        <a:buNone/>
                        <a:tabLst/>
                      </a:pPr>
                      <a:r>
                        <a:rPr kumimoji="0" lang="en-US" sz="900" b="0" i="0" u="none" strike="noStrike" cap="none" normalizeH="0" baseline="0" dirty="0">
                          <a:ln>
                            <a:noFill/>
                          </a:ln>
                          <a:solidFill>
                            <a:schemeClr val="tx1"/>
                          </a:solidFill>
                          <a:effectLst/>
                          <a:latin typeface="+mn-lt"/>
                          <a:ea typeface="Geneva" charset="-128"/>
                          <a:cs typeface="Arial" pitchFamily="34" charset="0"/>
                        </a:rPr>
                        <a:t>(following Poland)</a:t>
                      </a:r>
                    </a:p>
                  </a:txBody>
                  <a:tcPr marL="0" marR="0" marT="0" marB="0" anchor="ctr" horzOverflow="overflow">
                    <a:lnL w="12700" cap="flat" cmpd="sng" algn="ctr">
                      <a:solidFill>
                        <a:schemeClr val="bg1"/>
                      </a:solidFill>
                      <a:prstDash val="solid"/>
                      <a:round/>
                      <a:headEnd type="none" w="med" len="med"/>
                      <a:tailEnd type="none" w="med" len="med"/>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6719">
                <a:tc>
                  <a:txBody>
                    <a:bodyPr/>
                    <a:lstStyle/>
                    <a:p>
                      <a:pPr marL="0" marR="0" lvl="0" indent="0" algn="l" defTabSz="957263" rtl="0" eaLnBrk="1" fontAlgn="base" latinLnBrk="0" hangingPunct="1">
                        <a:lnSpc>
                          <a:spcPts val="1000"/>
                        </a:lnSpc>
                        <a:spcBef>
                          <a:spcPct val="20000"/>
                        </a:spcBef>
                        <a:spcAft>
                          <a:spcPct val="0"/>
                        </a:spcAft>
                        <a:buClr>
                          <a:srgbClr val="004FA6"/>
                        </a:buClr>
                        <a:buSzPct val="115000"/>
                        <a:buFontTx/>
                        <a:buNone/>
                        <a:tabLst/>
                      </a:pPr>
                      <a:r>
                        <a:rPr kumimoji="0" lang="en-GB" sz="900" b="0" i="0" u="none" strike="noStrike" cap="none" normalizeH="0" baseline="0" dirty="0">
                          <a:ln>
                            <a:noFill/>
                          </a:ln>
                          <a:solidFill>
                            <a:schemeClr val="tx1"/>
                          </a:solidFill>
                          <a:effectLst/>
                          <a:latin typeface="+mn-lt"/>
                          <a:ea typeface="Geneva" charset="-128"/>
                          <a:cs typeface="Arial" pitchFamily="34" charset="0"/>
                        </a:rPr>
                        <a:t>GDP: EUR bn 132.7 (2012)</a:t>
                      </a:r>
                      <a:endParaRPr kumimoji="0" lang="en-US" sz="900" b="0" i="0" u="none" strike="noStrike" cap="none" normalizeH="0" baseline="0" dirty="0">
                        <a:ln>
                          <a:noFill/>
                        </a:ln>
                        <a:solidFill>
                          <a:schemeClr val="tx1"/>
                        </a:solidFill>
                        <a:effectLst/>
                        <a:latin typeface="+mn-lt"/>
                        <a:ea typeface="Geneva" charset="-128"/>
                        <a:cs typeface="Arial" pitchFamily="34" charset="0"/>
                      </a:endParaRPr>
                    </a:p>
                  </a:txBody>
                  <a:tcPr marL="0" marR="0" marT="0" marB="0" anchor="ctr" horzOverflow="overflow">
                    <a:lnL>
                      <a:noFill/>
                    </a:lnL>
                    <a:lnR w="12700" cap="flat" cmpd="sng" algn="ctr">
                      <a:solidFill>
                        <a:schemeClr val="bg1"/>
                      </a:solidFill>
                      <a:prstDash val="solid"/>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ts val="1200"/>
                        </a:lnSpc>
                        <a:spcBef>
                          <a:spcPct val="20000"/>
                        </a:spcBef>
                        <a:spcAft>
                          <a:spcPct val="0"/>
                        </a:spcAft>
                        <a:buClr>
                          <a:srgbClr val="004FA6"/>
                        </a:buClr>
                        <a:buSzPct val="115000"/>
                        <a:buFontTx/>
                        <a:buNone/>
                        <a:tabLst/>
                      </a:pPr>
                      <a:r>
                        <a:rPr kumimoji="0" lang="en-US" sz="900" b="0" i="0" u="none" strike="noStrike" cap="none" normalizeH="0" baseline="0" dirty="0">
                          <a:ln>
                            <a:noFill/>
                          </a:ln>
                          <a:solidFill>
                            <a:schemeClr val="tx1"/>
                          </a:solidFill>
                          <a:effectLst/>
                          <a:latin typeface="+mn-lt"/>
                          <a:ea typeface="Geneva" charset="-128"/>
                          <a:cs typeface="Arial" pitchFamily="34" charset="0"/>
                        </a:rPr>
                        <a:t>17</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ts val="1100"/>
                        </a:lnSpc>
                        <a:spcBef>
                          <a:spcPct val="20000"/>
                        </a:spcBef>
                        <a:spcAft>
                          <a:spcPct val="0"/>
                        </a:spcAft>
                        <a:buClr>
                          <a:srgbClr val="004FA6"/>
                        </a:buClr>
                        <a:buSzPct val="115000"/>
                        <a:buFontTx/>
                        <a:buNone/>
                        <a:tabLst/>
                      </a:pPr>
                      <a:r>
                        <a:rPr kumimoji="0" lang="en-US" sz="900" b="0" i="0" u="none" strike="noStrike" cap="none" normalizeH="0" baseline="0" dirty="0">
                          <a:ln>
                            <a:noFill/>
                          </a:ln>
                          <a:solidFill>
                            <a:schemeClr val="tx1"/>
                          </a:solidFill>
                          <a:effectLst/>
                          <a:latin typeface="+mn-lt"/>
                          <a:ea typeface="Geneva" charset="-128"/>
                          <a:cs typeface="Arial" pitchFamily="34" charset="0"/>
                        </a:rPr>
                        <a:t>3</a:t>
                      </a:r>
                    </a:p>
                    <a:p>
                      <a:pPr marL="0" marR="0" lvl="0" indent="0" algn="ctr" defTabSz="957263" rtl="0" eaLnBrk="1" fontAlgn="base" latinLnBrk="0" hangingPunct="1">
                        <a:lnSpc>
                          <a:spcPts val="1100"/>
                        </a:lnSpc>
                        <a:spcBef>
                          <a:spcPts val="100"/>
                        </a:spcBef>
                        <a:spcAft>
                          <a:spcPct val="0"/>
                        </a:spcAft>
                        <a:buClr>
                          <a:srgbClr val="004FA6"/>
                        </a:buClr>
                        <a:buSzPct val="115000"/>
                        <a:buFontTx/>
                        <a:buNone/>
                        <a:tabLst/>
                      </a:pPr>
                      <a:r>
                        <a:rPr kumimoji="0" lang="en-US" sz="900" b="0" i="0" u="none" strike="noStrike" cap="none" normalizeH="0" baseline="0" dirty="0">
                          <a:ln>
                            <a:noFill/>
                          </a:ln>
                          <a:solidFill>
                            <a:schemeClr val="tx1"/>
                          </a:solidFill>
                          <a:effectLst/>
                          <a:latin typeface="+mn-lt"/>
                          <a:ea typeface="Geneva" charset="-128"/>
                          <a:cs typeface="Arial" pitchFamily="34" charset="0"/>
                        </a:rPr>
                        <a:t>(following Poland </a:t>
                      </a:r>
                      <a:br>
                        <a:rPr kumimoji="0" lang="en-US" sz="900" b="0" i="0" u="none" strike="noStrike" cap="none" normalizeH="0" baseline="0" dirty="0">
                          <a:ln>
                            <a:noFill/>
                          </a:ln>
                          <a:solidFill>
                            <a:schemeClr val="tx1"/>
                          </a:solidFill>
                          <a:effectLst/>
                          <a:latin typeface="+mn-lt"/>
                          <a:ea typeface="Geneva" charset="-128"/>
                          <a:cs typeface="Arial" pitchFamily="34" charset="0"/>
                        </a:rPr>
                      </a:br>
                      <a:r>
                        <a:rPr kumimoji="0" lang="en-US" sz="900" b="0" i="0" u="none" strike="noStrike" cap="none" normalizeH="0" baseline="0" dirty="0">
                          <a:ln>
                            <a:noFill/>
                          </a:ln>
                          <a:solidFill>
                            <a:schemeClr val="tx1"/>
                          </a:solidFill>
                          <a:effectLst/>
                          <a:latin typeface="+mn-lt"/>
                          <a:ea typeface="Geneva" charset="-128"/>
                          <a:cs typeface="Arial" pitchFamily="34" charset="0"/>
                        </a:rPr>
                        <a:t>&amp; Czech Republic)</a:t>
                      </a:r>
                    </a:p>
                  </a:txBody>
                  <a:tcPr marL="0" marR="0" marT="0" marB="0" anchor="ctr" horzOverflow="overflow">
                    <a:lnL w="12700" cap="flat" cmpd="sng" algn="ctr">
                      <a:solidFill>
                        <a:schemeClr val="bg1"/>
                      </a:solidFill>
                      <a:prstDash val="solid"/>
                      <a:round/>
                      <a:headEnd type="none" w="med" len="med"/>
                      <a:tailEnd type="none" w="med" len="med"/>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6719">
                <a:tc>
                  <a:txBody>
                    <a:bodyPr/>
                    <a:lstStyle/>
                    <a:p>
                      <a:pPr marL="0" marR="0" lvl="0" indent="0" algn="l" defTabSz="957263" rtl="0" eaLnBrk="1" fontAlgn="base" latinLnBrk="0" hangingPunct="1">
                        <a:lnSpc>
                          <a:spcPts val="1000"/>
                        </a:lnSpc>
                        <a:spcBef>
                          <a:spcPct val="20000"/>
                        </a:spcBef>
                        <a:spcAft>
                          <a:spcPct val="0"/>
                        </a:spcAft>
                        <a:buClr>
                          <a:srgbClr val="004FA6"/>
                        </a:buClr>
                        <a:buSzPct val="115000"/>
                        <a:buFontTx/>
                        <a:buNone/>
                        <a:tabLst/>
                      </a:pPr>
                      <a:r>
                        <a:rPr kumimoji="0" lang="en-GB" sz="900" b="0" i="0" u="none" strike="noStrike" cap="none" normalizeH="0" baseline="0" dirty="0">
                          <a:ln>
                            <a:noFill/>
                          </a:ln>
                          <a:solidFill>
                            <a:schemeClr val="tx1"/>
                          </a:solidFill>
                          <a:effectLst/>
                          <a:latin typeface="+mn-lt"/>
                          <a:ea typeface="Geneva" charset="-128"/>
                          <a:cs typeface="Arial" pitchFamily="34" charset="0"/>
                        </a:rPr>
                        <a:t>GDP per capita: EUR 6,593 (2012)</a:t>
                      </a:r>
                      <a:endParaRPr kumimoji="0" lang="en-US" sz="900" b="0" i="0" u="none" strike="noStrike" cap="none" normalizeH="0" baseline="0" dirty="0">
                        <a:ln>
                          <a:noFill/>
                        </a:ln>
                        <a:solidFill>
                          <a:schemeClr val="tx1"/>
                        </a:solidFill>
                        <a:effectLst/>
                        <a:latin typeface="+mn-lt"/>
                        <a:ea typeface="Geneva" charset="-128"/>
                        <a:cs typeface="Arial" pitchFamily="34" charset="0"/>
                      </a:endParaRPr>
                    </a:p>
                  </a:txBody>
                  <a:tcPr marL="0" marR="0" marT="0" marB="0" anchor="ctr" horzOverflow="overflow">
                    <a:lnL>
                      <a:noFill/>
                    </a:lnL>
                    <a:lnR w="12700" cap="flat" cmpd="sng" algn="ctr">
                      <a:solidFill>
                        <a:schemeClr val="bg1"/>
                      </a:solidFill>
                      <a:prstDash val="solid"/>
                      <a:round/>
                      <a:headEnd type="none" w="med" len="med"/>
                      <a:tailEnd type="none" w="med" len="med"/>
                    </a:lnR>
                    <a:lnT w="9525" cap="flat" cmpd="sng" algn="ctr">
                      <a:solidFill>
                        <a:srgbClr val="9A9A9A"/>
                      </a:solidFill>
                      <a:prstDash val="sysDot"/>
                      <a:round/>
                      <a:headEnd type="none" w="med" len="med"/>
                      <a:tailEnd type="none" w="med" len="med"/>
                    </a:lnT>
                    <a:lnB>
                      <a:noFill/>
                    </a:lnB>
                    <a:lnTlToBr>
                      <a:noFill/>
                    </a:lnTlToBr>
                    <a:lnBlToTr>
                      <a:noFill/>
                    </a:lnBlToTr>
                    <a:noFill/>
                  </a:tcPr>
                </a:tc>
                <a:tc>
                  <a:txBody>
                    <a:bodyPr/>
                    <a:lstStyle/>
                    <a:p>
                      <a:pPr marL="0" marR="0" lvl="0" indent="0" algn="ctr" defTabSz="957263" rtl="0" eaLnBrk="1" fontAlgn="base" latinLnBrk="0" hangingPunct="1">
                        <a:lnSpc>
                          <a:spcPts val="1200"/>
                        </a:lnSpc>
                        <a:spcBef>
                          <a:spcPct val="20000"/>
                        </a:spcBef>
                        <a:spcAft>
                          <a:spcPct val="0"/>
                        </a:spcAft>
                        <a:buClr>
                          <a:srgbClr val="004FA6"/>
                        </a:buClr>
                        <a:buSzPct val="115000"/>
                        <a:buFontTx/>
                        <a:buNone/>
                        <a:tabLst/>
                      </a:pPr>
                      <a:r>
                        <a:rPr kumimoji="0" lang="en-US" sz="900" b="0" i="0" u="none" strike="noStrike" cap="none" normalizeH="0" baseline="0" dirty="0">
                          <a:ln>
                            <a:noFill/>
                          </a:ln>
                          <a:solidFill>
                            <a:schemeClr val="tx1"/>
                          </a:solidFill>
                          <a:effectLst/>
                          <a:latin typeface="+mn-lt"/>
                          <a:ea typeface="Geneva" charset="-128"/>
                          <a:cs typeface="Arial" pitchFamily="34" charset="0"/>
                        </a:rPr>
                        <a:t>27</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rgbClr val="9A9A9A"/>
                      </a:solidFill>
                      <a:prstDash val="sysDot"/>
                      <a:round/>
                      <a:headEnd type="none" w="med" len="med"/>
                      <a:tailEnd type="none" w="med" len="med"/>
                    </a:lnT>
                    <a:lnB>
                      <a:noFill/>
                    </a:lnB>
                    <a:lnTlToBr>
                      <a:noFill/>
                    </a:lnTlToBr>
                    <a:lnBlToTr>
                      <a:noFill/>
                    </a:lnBlToTr>
                    <a:noFill/>
                  </a:tcPr>
                </a:tc>
                <a:tc>
                  <a:txBody>
                    <a:bodyPr/>
                    <a:lstStyle/>
                    <a:p>
                      <a:pPr marL="0" marR="0" lvl="0" indent="0" algn="ctr" defTabSz="957263" rtl="0" eaLnBrk="1" fontAlgn="base" latinLnBrk="0" hangingPunct="1">
                        <a:lnSpc>
                          <a:spcPts val="1100"/>
                        </a:lnSpc>
                        <a:spcBef>
                          <a:spcPct val="20000"/>
                        </a:spcBef>
                        <a:spcAft>
                          <a:spcPct val="0"/>
                        </a:spcAft>
                        <a:buClr>
                          <a:srgbClr val="004FA6"/>
                        </a:buClr>
                        <a:buSzPct val="115000"/>
                        <a:buFontTx/>
                        <a:buNone/>
                        <a:tabLst/>
                      </a:pPr>
                      <a:r>
                        <a:rPr kumimoji="0" lang="en-US" sz="900" b="0" i="0" u="none" strike="noStrike" cap="none" normalizeH="0" baseline="0" dirty="0">
                          <a:ln>
                            <a:noFill/>
                          </a:ln>
                          <a:solidFill>
                            <a:schemeClr val="tx1"/>
                          </a:solidFill>
                          <a:effectLst/>
                          <a:latin typeface="+mn-lt"/>
                          <a:ea typeface="Geneva" charset="-128"/>
                          <a:cs typeface="Arial" pitchFamily="34" charset="0"/>
                        </a:rPr>
                        <a:t>11</a:t>
                      </a:r>
                    </a:p>
                  </a:txBody>
                  <a:tcPr marL="0" marR="0" marT="0" marB="0" anchor="ctr" horzOverflow="overflow">
                    <a:lnL w="12700" cap="flat" cmpd="sng" algn="ctr">
                      <a:solidFill>
                        <a:schemeClr val="bg1"/>
                      </a:solidFill>
                      <a:prstDash val="solid"/>
                      <a:round/>
                      <a:headEnd type="none" w="med" len="med"/>
                      <a:tailEnd type="none" w="med" len="med"/>
                    </a:lnL>
                    <a:lnR>
                      <a:noFill/>
                    </a:lnR>
                    <a:lnT w="9525" cap="flat" cmpd="sng" algn="ctr">
                      <a:solidFill>
                        <a:srgbClr val="9A9A9A"/>
                      </a:solidFill>
                      <a:prstDash val="sysDot"/>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4" name="Rectangle: Single Corner Rounded 33">
            <a:extLst>
              <a:ext uri="{FF2B5EF4-FFF2-40B4-BE49-F238E27FC236}">
                <a16:creationId xmlns:a16="http://schemas.microsoft.com/office/drawing/2014/main" id="{0A070F80-966E-ED8F-B53A-81E314A1262B}"/>
              </a:ext>
            </a:extLst>
          </p:cNvPr>
          <p:cNvSpPr/>
          <p:nvPr/>
        </p:nvSpPr>
        <p:spPr>
          <a:xfrm>
            <a:off x="546821" y="1657319"/>
            <a:ext cx="4342187" cy="382324"/>
          </a:xfrm>
          <a:prstGeom prst="round1Rect">
            <a:avLst>
              <a:gd name="adj" fmla="val 42577"/>
            </a:avLst>
          </a:prstGeom>
          <a:gradFill flip="none" rotWithShape="1">
            <a:gsLst>
              <a:gs pos="0">
                <a:srgbClr val="278CCB">
                  <a:shade val="30000"/>
                  <a:satMod val="115000"/>
                </a:srgbClr>
              </a:gs>
              <a:gs pos="50000">
                <a:srgbClr val="278CCB">
                  <a:shade val="67500"/>
                  <a:satMod val="115000"/>
                </a:srgbClr>
              </a:gs>
              <a:gs pos="100000">
                <a:srgbClr val="278CCB">
                  <a:shade val="100000"/>
                  <a:satMod val="115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3C3A74C1-7FD2-A8D3-9848-1CB52BB7F195}"/>
              </a:ext>
            </a:extLst>
          </p:cNvPr>
          <p:cNvSpPr txBox="1"/>
          <p:nvPr/>
        </p:nvSpPr>
        <p:spPr>
          <a:xfrm>
            <a:off x="998940" y="1679204"/>
            <a:ext cx="3890067" cy="338554"/>
          </a:xfrm>
          <a:prstGeom prst="rect">
            <a:avLst/>
          </a:prstGeom>
          <a:noFill/>
        </p:spPr>
        <p:txBody>
          <a:bodyPr wrap="square" lIns="0" rtlCol="0" anchor="ctr">
            <a:spAutoFit/>
          </a:bodyPr>
          <a:lstStyle>
            <a:defPPr>
              <a:defRPr lang="en-US"/>
            </a:defPPr>
            <a:lvl1pPr>
              <a:defRPr sz="1200"/>
            </a:lvl1pPr>
          </a:lstStyle>
          <a:p>
            <a:pPr marL="4763" lvl="1">
              <a:spcAft>
                <a:spcPts val="1800"/>
              </a:spcAft>
            </a:pPr>
            <a:r>
              <a:rPr lang="en-US" sz="1600" b="1" dirty="0">
                <a:solidFill>
                  <a:schemeClr val="bg1"/>
                </a:solidFill>
              </a:rPr>
              <a:t>Look before you leap - risk assessments</a:t>
            </a:r>
            <a:endParaRPr lang="en-US" sz="1600" dirty="0">
              <a:solidFill>
                <a:schemeClr val="tx1">
                  <a:lumMod val="65000"/>
                  <a:lumOff val="35000"/>
                </a:schemeClr>
              </a:solidFill>
            </a:endParaRPr>
          </a:p>
        </p:txBody>
      </p:sp>
      <p:sp>
        <p:nvSpPr>
          <p:cNvPr id="37" name="TextBox 36">
            <a:extLst>
              <a:ext uri="{FF2B5EF4-FFF2-40B4-BE49-F238E27FC236}">
                <a16:creationId xmlns:a16="http://schemas.microsoft.com/office/drawing/2014/main" id="{8BF4A3C9-3B22-36D3-B0A5-2556762EFD08}"/>
              </a:ext>
            </a:extLst>
          </p:cNvPr>
          <p:cNvSpPr txBox="1"/>
          <p:nvPr/>
        </p:nvSpPr>
        <p:spPr>
          <a:xfrm>
            <a:off x="546821" y="2132005"/>
            <a:ext cx="4362614" cy="3754874"/>
          </a:xfrm>
          <a:prstGeom prst="rect">
            <a:avLst/>
          </a:prstGeom>
          <a:noFill/>
        </p:spPr>
        <p:txBody>
          <a:bodyPr wrap="square" lIns="0" rtlCol="0" anchor="ctr">
            <a:spAutoFit/>
          </a:bodyPr>
          <a:lstStyle>
            <a:defPPr>
              <a:defRPr lang="en-US"/>
            </a:defPPr>
            <a:lvl1pPr>
              <a:defRPr sz="1200"/>
            </a:lvl1pPr>
          </a:lstStyle>
          <a:p>
            <a:pPr marL="4763" lvl="1">
              <a:spcAft>
                <a:spcPts val="1800"/>
              </a:spcAft>
            </a:pPr>
            <a:r>
              <a:rPr lang="en-US" sz="1600" dirty="0">
                <a:solidFill>
                  <a:schemeClr val="tx1">
                    <a:lumMod val="65000"/>
                    <a:lumOff val="35000"/>
                  </a:schemeClr>
                </a:solidFill>
              </a:rPr>
              <a:t>One of the key messages of the Opinion is that businesses and administrations wishing to use cloud computing should first conduct a</a:t>
            </a:r>
          </a:p>
          <a:p>
            <a:pPr marL="4763" lvl="1">
              <a:spcAft>
                <a:spcPts val="1800"/>
              </a:spcAft>
            </a:pPr>
            <a:r>
              <a:rPr lang="en-US" sz="1600" dirty="0">
                <a:solidFill>
                  <a:schemeClr val="tx1">
                    <a:lumMod val="65000"/>
                    <a:lumOff val="35000"/>
                  </a:schemeClr>
                </a:solidFill>
              </a:rPr>
              <a:t>comprehensive and thorough risk analysis. In this respect, cloud providers must provide their clients with all information required to properly assess the pros and cons of the envisaged cloud solution. The main drivers for cloud customers to acquire</a:t>
            </a:r>
          </a:p>
          <a:p>
            <a:pPr marL="4763" lvl="1">
              <a:spcAft>
                <a:spcPts val="1800"/>
              </a:spcAft>
            </a:pPr>
            <a:r>
              <a:rPr lang="en-US" sz="1600" dirty="0">
                <a:solidFill>
                  <a:schemeClr val="tx1">
                    <a:lumMod val="65000"/>
                    <a:lumOff val="35000"/>
                  </a:schemeClr>
                </a:solidFill>
              </a:rPr>
              <a:t> cloud services on the EU market should be based on security, transparency regarding all modalities of the solution and legal certainty. These and other risk factors should be carefully reviewed prior to moving into the cloud.</a:t>
            </a:r>
          </a:p>
        </p:txBody>
      </p:sp>
      <p:cxnSp>
        <p:nvCxnSpPr>
          <p:cNvPr id="36" name="Straight Arrow Connector 35">
            <a:extLst>
              <a:ext uri="{FF2B5EF4-FFF2-40B4-BE49-F238E27FC236}">
                <a16:creationId xmlns:a16="http://schemas.microsoft.com/office/drawing/2014/main" id="{E3233B35-935E-9647-BD32-C620151EBA04}"/>
              </a:ext>
            </a:extLst>
          </p:cNvPr>
          <p:cNvCxnSpPr/>
          <p:nvPr/>
        </p:nvCxnSpPr>
        <p:spPr>
          <a:xfrm>
            <a:off x="546820" y="2039643"/>
            <a:ext cx="4821646" cy="0"/>
          </a:xfrm>
          <a:prstGeom prst="straightConnector1">
            <a:avLst/>
          </a:prstGeom>
          <a:ln>
            <a:tailEnd type="oval"/>
          </a:ln>
        </p:spPr>
        <p:style>
          <a:lnRef idx="1">
            <a:schemeClr val="accent1"/>
          </a:lnRef>
          <a:fillRef idx="0">
            <a:schemeClr val="accent1"/>
          </a:fillRef>
          <a:effectRef idx="0">
            <a:schemeClr val="accent1"/>
          </a:effectRef>
          <a:fontRef idx="minor">
            <a:schemeClr val="tx1"/>
          </a:fontRef>
        </p:style>
      </p:cxnSp>
      <p:grpSp>
        <p:nvGrpSpPr>
          <p:cNvPr id="38" name="Graphic 14" descr="Clock">
            <a:extLst>
              <a:ext uri="{FF2B5EF4-FFF2-40B4-BE49-F238E27FC236}">
                <a16:creationId xmlns:a16="http://schemas.microsoft.com/office/drawing/2014/main" id="{FD5B3830-F176-1BFE-7E4D-924FFAC5FD73}"/>
              </a:ext>
            </a:extLst>
          </p:cNvPr>
          <p:cNvGrpSpPr/>
          <p:nvPr/>
        </p:nvGrpSpPr>
        <p:grpSpPr>
          <a:xfrm>
            <a:off x="606870" y="1685738"/>
            <a:ext cx="332020" cy="332020"/>
            <a:chOff x="1095915" y="3148913"/>
            <a:chExt cx="914400" cy="914400"/>
          </a:xfrm>
          <a:solidFill>
            <a:schemeClr val="bg1"/>
          </a:solidFill>
        </p:grpSpPr>
        <p:sp>
          <p:nvSpPr>
            <p:cNvPr id="39" name="Freeform: Shape 38">
              <a:extLst>
                <a:ext uri="{FF2B5EF4-FFF2-40B4-BE49-F238E27FC236}">
                  <a16:creationId xmlns:a16="http://schemas.microsoft.com/office/drawing/2014/main" id="{BDAE3BFE-548A-7070-34C2-3F9DCF1A702A}"/>
                </a:ext>
              </a:extLst>
            </p:cNvPr>
            <p:cNvSpPr/>
            <p:nvPr/>
          </p:nvSpPr>
          <p:spPr>
            <a:xfrm>
              <a:off x="1191165" y="3244163"/>
              <a:ext cx="723900" cy="723900"/>
            </a:xfrm>
            <a:custGeom>
              <a:avLst/>
              <a:gdLst>
                <a:gd name="connsiteX0" fmla="*/ 361950 w 723900"/>
                <a:gd name="connsiteY0" fmla="*/ 666750 h 723900"/>
                <a:gd name="connsiteX1" fmla="*/ 57150 w 723900"/>
                <a:gd name="connsiteY1" fmla="*/ 361950 h 723900"/>
                <a:gd name="connsiteX2" fmla="*/ 361950 w 723900"/>
                <a:gd name="connsiteY2" fmla="*/ 57150 h 723900"/>
                <a:gd name="connsiteX3" fmla="*/ 666750 w 723900"/>
                <a:gd name="connsiteY3" fmla="*/ 361950 h 723900"/>
                <a:gd name="connsiteX4" fmla="*/ 361950 w 723900"/>
                <a:gd name="connsiteY4" fmla="*/ 666750 h 723900"/>
                <a:gd name="connsiteX5" fmla="*/ 361950 w 723900"/>
                <a:gd name="connsiteY5" fmla="*/ 0 h 723900"/>
                <a:gd name="connsiteX6" fmla="*/ 0 w 723900"/>
                <a:gd name="connsiteY6" fmla="*/ 361950 h 723900"/>
                <a:gd name="connsiteX7" fmla="*/ 361950 w 723900"/>
                <a:gd name="connsiteY7" fmla="*/ 723900 h 723900"/>
                <a:gd name="connsiteX8" fmla="*/ 723900 w 723900"/>
                <a:gd name="connsiteY8" fmla="*/ 361950 h 723900"/>
                <a:gd name="connsiteX9" fmla="*/ 361950 w 723900"/>
                <a:gd name="connsiteY9" fmla="*/ 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3900" h="723900">
                  <a:moveTo>
                    <a:pt x="361950" y="666750"/>
                  </a:moveTo>
                  <a:cubicBezTo>
                    <a:pt x="194310" y="666750"/>
                    <a:pt x="57150" y="529590"/>
                    <a:pt x="57150" y="361950"/>
                  </a:cubicBezTo>
                  <a:cubicBezTo>
                    <a:pt x="57150" y="194310"/>
                    <a:pt x="194310" y="57150"/>
                    <a:pt x="361950" y="57150"/>
                  </a:cubicBezTo>
                  <a:cubicBezTo>
                    <a:pt x="529590" y="57150"/>
                    <a:pt x="666750" y="194310"/>
                    <a:pt x="666750" y="361950"/>
                  </a:cubicBezTo>
                  <a:cubicBezTo>
                    <a:pt x="666750" y="529590"/>
                    <a:pt x="529590" y="666750"/>
                    <a:pt x="361950" y="666750"/>
                  </a:cubicBezTo>
                  <a:close/>
                  <a:moveTo>
                    <a:pt x="361950" y="0"/>
                  </a:moveTo>
                  <a:cubicBezTo>
                    <a:pt x="161925" y="0"/>
                    <a:pt x="0" y="161925"/>
                    <a:pt x="0" y="361950"/>
                  </a:cubicBezTo>
                  <a:cubicBezTo>
                    <a:pt x="0" y="561975"/>
                    <a:pt x="161925" y="723900"/>
                    <a:pt x="361950" y="723900"/>
                  </a:cubicBezTo>
                  <a:cubicBezTo>
                    <a:pt x="561975" y="723900"/>
                    <a:pt x="723900" y="561975"/>
                    <a:pt x="723900" y="361950"/>
                  </a:cubicBezTo>
                  <a:cubicBezTo>
                    <a:pt x="723900" y="161925"/>
                    <a:pt x="561975" y="0"/>
                    <a:pt x="361950" y="0"/>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33AFBFCE-4C82-7A22-F12A-18444FD2E27F}"/>
                </a:ext>
              </a:extLst>
            </p:cNvPr>
            <p:cNvSpPr/>
            <p:nvPr/>
          </p:nvSpPr>
          <p:spPr>
            <a:xfrm>
              <a:off x="1534065" y="3415613"/>
              <a:ext cx="166687" cy="338137"/>
            </a:xfrm>
            <a:custGeom>
              <a:avLst/>
              <a:gdLst>
                <a:gd name="connsiteX0" fmla="*/ 38100 w 166687"/>
                <a:gd name="connsiteY0" fmla="*/ 0 h 338137"/>
                <a:gd name="connsiteX1" fmla="*/ 0 w 166687"/>
                <a:gd name="connsiteY1" fmla="*/ 0 h 338137"/>
                <a:gd name="connsiteX2" fmla="*/ 0 w 166687"/>
                <a:gd name="connsiteY2" fmla="*/ 190500 h 338137"/>
                <a:gd name="connsiteX3" fmla="*/ 5715 w 166687"/>
                <a:gd name="connsiteY3" fmla="*/ 203835 h 338137"/>
                <a:gd name="connsiteX4" fmla="*/ 140018 w 166687"/>
                <a:gd name="connsiteY4" fmla="*/ 338138 h 338137"/>
                <a:gd name="connsiteX5" fmla="*/ 166688 w 166687"/>
                <a:gd name="connsiteY5" fmla="*/ 311468 h 338137"/>
                <a:gd name="connsiteX6" fmla="*/ 38100 w 166687"/>
                <a:gd name="connsiteY6" fmla="*/ 182880 h 338137"/>
                <a:gd name="connsiteX7" fmla="*/ 38100 w 166687"/>
                <a:gd name="connsiteY7" fmla="*/ 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87" h="338137">
                  <a:moveTo>
                    <a:pt x="38100" y="0"/>
                  </a:moveTo>
                  <a:lnTo>
                    <a:pt x="0" y="0"/>
                  </a:lnTo>
                  <a:lnTo>
                    <a:pt x="0" y="190500"/>
                  </a:lnTo>
                  <a:cubicBezTo>
                    <a:pt x="0" y="196215"/>
                    <a:pt x="1905" y="200977"/>
                    <a:pt x="5715" y="203835"/>
                  </a:cubicBezTo>
                  <a:lnTo>
                    <a:pt x="140018" y="338138"/>
                  </a:lnTo>
                  <a:lnTo>
                    <a:pt x="166688" y="311468"/>
                  </a:lnTo>
                  <a:lnTo>
                    <a:pt x="38100" y="182880"/>
                  </a:lnTo>
                  <a:lnTo>
                    <a:pt x="38100" y="0"/>
                  </a:ln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7676476-3108-A9F8-AC2D-BC6AC4EB30E0}"/>
                </a:ext>
              </a:extLst>
            </p:cNvPr>
            <p:cNvSpPr/>
            <p:nvPr/>
          </p:nvSpPr>
          <p:spPr>
            <a:xfrm>
              <a:off x="1534065" y="3339413"/>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A037A96-DDCF-07E1-04EA-024CDCD4FBD7}"/>
                </a:ext>
              </a:extLst>
            </p:cNvPr>
            <p:cNvSpPr/>
            <p:nvPr/>
          </p:nvSpPr>
          <p:spPr>
            <a:xfrm>
              <a:off x="1534065" y="3834713"/>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AE95389-1A0C-51D5-ABAB-963F6E40DC4E}"/>
                </a:ext>
              </a:extLst>
            </p:cNvPr>
            <p:cNvSpPr/>
            <p:nvPr/>
          </p:nvSpPr>
          <p:spPr>
            <a:xfrm>
              <a:off x="1286415" y="3587063"/>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486B9C1-F889-7EE7-3709-B1EF406F283F}"/>
                </a:ext>
              </a:extLst>
            </p:cNvPr>
            <p:cNvSpPr/>
            <p:nvPr/>
          </p:nvSpPr>
          <p:spPr>
            <a:xfrm>
              <a:off x="1781715" y="3587063"/>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grpFill/>
            <a:ln w="9525" cap="flat">
              <a:noFill/>
              <a:prstDash val="solid"/>
              <a:miter/>
            </a:ln>
          </p:spPr>
          <p:txBody>
            <a:bodyPr rtlCol="0" anchor="ctr"/>
            <a:lstStyle/>
            <a:p>
              <a:endParaRPr lang="en-US"/>
            </a:p>
          </p:txBody>
        </p:sp>
      </p:grpSp>
      <p:cxnSp>
        <p:nvCxnSpPr>
          <p:cNvPr id="45" name="Straight Arrow Connector 44">
            <a:extLst>
              <a:ext uri="{FF2B5EF4-FFF2-40B4-BE49-F238E27FC236}">
                <a16:creationId xmlns:a16="http://schemas.microsoft.com/office/drawing/2014/main" id="{5314202A-4566-A01A-A1CC-90D07FC383E0}"/>
              </a:ext>
            </a:extLst>
          </p:cNvPr>
          <p:cNvCxnSpPr>
            <a:cxnSpLocks/>
          </p:cNvCxnSpPr>
          <p:nvPr/>
        </p:nvCxnSpPr>
        <p:spPr>
          <a:xfrm flipH="1">
            <a:off x="6106409" y="2039643"/>
            <a:ext cx="5399790" cy="0"/>
          </a:xfrm>
          <a:prstGeom prst="straightConnector1">
            <a:avLst/>
          </a:prstGeom>
          <a:ln>
            <a:tailEnd type="ova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0667AD84-FE83-80AE-834C-8CCC8218EC6A}"/>
              </a:ext>
            </a:extLst>
          </p:cNvPr>
          <p:cNvGrpSpPr/>
          <p:nvPr/>
        </p:nvGrpSpPr>
        <p:grpSpPr>
          <a:xfrm>
            <a:off x="5737437" y="1595453"/>
            <a:ext cx="0" cy="4745746"/>
            <a:chOff x="5753100" y="1905355"/>
            <a:chExt cx="0" cy="4125942"/>
          </a:xfrm>
        </p:grpSpPr>
        <p:cxnSp>
          <p:nvCxnSpPr>
            <p:cNvPr id="48" name="Straight Connector 47">
              <a:extLst>
                <a:ext uri="{FF2B5EF4-FFF2-40B4-BE49-F238E27FC236}">
                  <a16:creationId xmlns:a16="http://schemas.microsoft.com/office/drawing/2014/main" id="{3D5B111A-0827-1C3F-F86F-EFA04A149D75}"/>
                </a:ext>
              </a:extLst>
            </p:cNvPr>
            <p:cNvCxnSpPr/>
            <p:nvPr/>
          </p:nvCxnSpPr>
          <p:spPr>
            <a:xfrm>
              <a:off x="5753100" y="1905355"/>
              <a:ext cx="0" cy="2062971"/>
            </a:xfrm>
            <a:prstGeom prst="line">
              <a:avLst/>
            </a:prstGeom>
            <a:ln w="19050">
              <a:gradFill>
                <a:gsLst>
                  <a:gs pos="0">
                    <a:schemeClr val="accent1">
                      <a:lumMod val="5000"/>
                      <a:lumOff val="95000"/>
                    </a:schemeClr>
                  </a:gs>
                  <a:gs pos="72000">
                    <a:srgbClr val="278CC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E1314E7-C14B-4816-86EC-FA57F51D5164}"/>
                </a:ext>
              </a:extLst>
            </p:cNvPr>
            <p:cNvCxnSpPr>
              <a:cxnSpLocks/>
            </p:cNvCxnSpPr>
            <p:nvPr/>
          </p:nvCxnSpPr>
          <p:spPr>
            <a:xfrm flipH="1" flipV="1">
              <a:off x="5753100" y="3968326"/>
              <a:ext cx="0" cy="2062971"/>
            </a:xfrm>
            <a:prstGeom prst="line">
              <a:avLst/>
            </a:prstGeom>
            <a:ln w="19050">
              <a:gradFill>
                <a:gsLst>
                  <a:gs pos="0">
                    <a:schemeClr val="accent1">
                      <a:lumMod val="5000"/>
                      <a:lumOff val="95000"/>
                    </a:schemeClr>
                  </a:gs>
                  <a:gs pos="72000">
                    <a:srgbClr val="278CCB"/>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18086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3B428-D678-9605-C373-FB1E5902FB01}"/>
            </a:ext>
          </a:extLst>
        </p:cNvPr>
        <p:cNvGrpSpPr/>
        <p:nvPr/>
      </p:nvGrpSpPr>
      <p:grpSpPr>
        <a:xfrm>
          <a:off x="0" y="0"/>
          <a:ext cx="0" cy="0"/>
          <a:chOff x="0" y="0"/>
          <a:chExt cx="0" cy="0"/>
        </a:xfrm>
      </p:grpSpPr>
      <p:sp>
        <p:nvSpPr>
          <p:cNvPr id="1051" name="Rectangle 1050">
            <a:extLst>
              <a:ext uri="{FF2B5EF4-FFF2-40B4-BE49-F238E27FC236}">
                <a16:creationId xmlns:a16="http://schemas.microsoft.com/office/drawing/2014/main" id="{A1D1E84B-9C22-76C5-8B95-40267F2DFA23}"/>
              </a:ext>
            </a:extLst>
          </p:cNvPr>
          <p:cNvSpPr/>
          <p:nvPr/>
        </p:nvSpPr>
        <p:spPr>
          <a:xfrm>
            <a:off x="1" y="0"/>
            <a:ext cx="12191999"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4" name="Rectangle: Top Corners Rounded 1033">
            <a:extLst>
              <a:ext uri="{FF2B5EF4-FFF2-40B4-BE49-F238E27FC236}">
                <a16:creationId xmlns:a16="http://schemas.microsoft.com/office/drawing/2014/main" id="{574BC748-4F75-0335-6D56-3E049A3995B6}"/>
              </a:ext>
            </a:extLst>
          </p:cNvPr>
          <p:cNvSpPr/>
          <p:nvPr/>
        </p:nvSpPr>
        <p:spPr>
          <a:xfrm>
            <a:off x="387350" y="1595453"/>
            <a:ext cx="235535" cy="235535"/>
          </a:xfrm>
          <a:prstGeom prst="round2SameRect">
            <a:avLst>
              <a:gd name="adj1" fmla="val 50000"/>
              <a:gd name="adj2" fmla="val 0"/>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Rectangle: Top Corners Rounded 58">
            <a:extLst>
              <a:ext uri="{FF2B5EF4-FFF2-40B4-BE49-F238E27FC236}">
                <a16:creationId xmlns:a16="http://schemas.microsoft.com/office/drawing/2014/main" id="{CD28C3AA-3950-8487-D798-DC8594C9012E}"/>
              </a:ext>
            </a:extLst>
          </p:cNvPr>
          <p:cNvSpPr/>
          <p:nvPr/>
        </p:nvSpPr>
        <p:spPr>
          <a:xfrm rot="16200000" flipH="1">
            <a:off x="6855900" y="1005098"/>
            <a:ext cx="4745743" cy="5926459"/>
          </a:xfrm>
          <a:prstGeom prst="round2SameRect">
            <a:avLst>
              <a:gd name="adj1" fmla="val 8053"/>
              <a:gd name="adj2" fmla="val 0"/>
            </a:avLst>
          </a:prstGeom>
          <a:solidFill>
            <a:schemeClr val="bg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Top Corners Rounded 2">
            <a:extLst>
              <a:ext uri="{FF2B5EF4-FFF2-40B4-BE49-F238E27FC236}">
                <a16:creationId xmlns:a16="http://schemas.microsoft.com/office/drawing/2014/main" id="{624A2403-4B75-0164-306A-73028DB06902}"/>
              </a:ext>
            </a:extLst>
          </p:cNvPr>
          <p:cNvSpPr/>
          <p:nvPr/>
        </p:nvSpPr>
        <p:spPr>
          <a:xfrm rot="5400000">
            <a:off x="3681349" y="-3399420"/>
            <a:ext cx="830637" cy="8193338"/>
          </a:xfrm>
          <a:prstGeom prst="round2SameRect">
            <a:avLst>
              <a:gd name="adj1" fmla="val 50000"/>
              <a:gd name="adj2" fmla="val 0"/>
            </a:avLst>
          </a:prstGeom>
          <a:solidFill>
            <a:srgbClr val="278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8AA3005D-80C6-8C29-690C-3B9744CFC3BC}"/>
              </a:ext>
            </a:extLst>
          </p:cNvPr>
          <p:cNvSpPr/>
          <p:nvPr/>
        </p:nvSpPr>
        <p:spPr>
          <a:xfrm>
            <a:off x="7748587" y="918846"/>
            <a:ext cx="295275" cy="295275"/>
          </a:xfrm>
          <a:prstGeom prst="ellipse">
            <a:avLst/>
          </a:prstGeom>
          <a:gradFill flip="none" rotWithShape="1">
            <a:gsLst>
              <a:gs pos="0">
                <a:schemeClr val="bg1"/>
              </a:gs>
              <a:gs pos="50000">
                <a:srgbClr val="7FBBE0"/>
              </a:gs>
              <a:gs pos="100000">
                <a:srgbClr val="278CCB">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110D91E0-AD07-FBEE-2A4B-4E0DA975D864}"/>
              </a:ext>
            </a:extLst>
          </p:cNvPr>
          <p:cNvSpPr/>
          <p:nvPr/>
        </p:nvSpPr>
        <p:spPr>
          <a:xfrm>
            <a:off x="8079014" y="918846"/>
            <a:ext cx="228643" cy="228643"/>
          </a:xfrm>
          <a:prstGeom prst="ellipse">
            <a:avLst/>
          </a:prstGeom>
          <a:gradFill flip="none" rotWithShape="1">
            <a:gsLst>
              <a:gs pos="0">
                <a:schemeClr val="bg1"/>
              </a:gs>
              <a:gs pos="50000">
                <a:srgbClr val="7FBBE0"/>
              </a:gs>
              <a:gs pos="100000">
                <a:srgbClr val="278CCB">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66A270A-7226-8C9A-DC23-4F09C0679490}"/>
              </a:ext>
            </a:extLst>
          </p:cNvPr>
          <p:cNvSpPr txBox="1">
            <a:spLocks/>
          </p:cNvSpPr>
          <p:nvPr/>
        </p:nvSpPr>
        <p:spPr>
          <a:xfrm>
            <a:off x="387350" y="475648"/>
            <a:ext cx="11142800" cy="44319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chemeClr val="bg1"/>
                </a:solidFill>
                <a:latin typeface="Arial Black" pitchFamily="34" charset="0"/>
              </a:rPr>
              <a:t>Recommendations </a:t>
            </a:r>
          </a:p>
        </p:txBody>
      </p:sp>
      <p:grpSp>
        <p:nvGrpSpPr>
          <p:cNvPr id="1031" name="Group 1030">
            <a:extLst>
              <a:ext uri="{FF2B5EF4-FFF2-40B4-BE49-F238E27FC236}">
                <a16:creationId xmlns:a16="http://schemas.microsoft.com/office/drawing/2014/main" id="{7979AE21-855F-8A37-9175-309D6FC50133}"/>
              </a:ext>
            </a:extLst>
          </p:cNvPr>
          <p:cNvGrpSpPr/>
          <p:nvPr/>
        </p:nvGrpSpPr>
        <p:grpSpPr>
          <a:xfrm>
            <a:off x="6265541" y="1830988"/>
            <a:ext cx="5442374" cy="4431714"/>
            <a:chOff x="6381721" y="1830988"/>
            <a:chExt cx="5442374" cy="4431714"/>
          </a:xfrm>
        </p:grpSpPr>
        <p:sp>
          <p:nvSpPr>
            <p:cNvPr id="9" name="Shape">
              <a:extLst>
                <a:ext uri="{FF2B5EF4-FFF2-40B4-BE49-F238E27FC236}">
                  <a16:creationId xmlns:a16="http://schemas.microsoft.com/office/drawing/2014/main" id="{B111A1EB-9173-4AA5-9309-CB15C88CD6AE}"/>
                </a:ext>
              </a:extLst>
            </p:cNvPr>
            <p:cNvSpPr/>
            <p:nvPr/>
          </p:nvSpPr>
          <p:spPr>
            <a:xfrm>
              <a:off x="7552284" y="4010360"/>
              <a:ext cx="1038106" cy="1148232"/>
            </a:xfrm>
            <a:custGeom>
              <a:avLst/>
              <a:gdLst/>
              <a:ahLst/>
              <a:cxnLst>
                <a:cxn ang="0">
                  <a:pos x="wd2" y="hd2"/>
                </a:cxn>
                <a:cxn ang="5400000">
                  <a:pos x="wd2" y="hd2"/>
                </a:cxn>
                <a:cxn ang="10800000">
                  <a:pos x="wd2" y="hd2"/>
                </a:cxn>
                <a:cxn ang="16200000">
                  <a:pos x="wd2" y="hd2"/>
                </a:cxn>
              </a:cxnLst>
              <a:rect l="0" t="0" r="r" b="b"/>
              <a:pathLst>
                <a:path w="21265" h="21290" extrusionOk="0">
                  <a:moveTo>
                    <a:pt x="13933" y="0"/>
                  </a:moveTo>
                  <a:lnTo>
                    <a:pt x="2131" y="0"/>
                  </a:lnTo>
                  <a:cubicBezTo>
                    <a:pt x="832" y="0"/>
                    <a:pt x="-133" y="1041"/>
                    <a:pt x="15" y="2184"/>
                  </a:cubicBezTo>
                  <a:cubicBezTo>
                    <a:pt x="1092" y="9809"/>
                    <a:pt x="5508" y="16460"/>
                    <a:pt x="11929" y="20895"/>
                  </a:cubicBezTo>
                  <a:cubicBezTo>
                    <a:pt x="12968" y="21600"/>
                    <a:pt x="14453" y="21331"/>
                    <a:pt x="15084" y="20324"/>
                  </a:cubicBezTo>
                  <a:lnTo>
                    <a:pt x="20985" y="11086"/>
                  </a:lnTo>
                  <a:cubicBezTo>
                    <a:pt x="21467" y="10313"/>
                    <a:pt x="21319" y="9339"/>
                    <a:pt x="20613" y="8734"/>
                  </a:cubicBezTo>
                  <a:cubicBezTo>
                    <a:pt x="18349" y="6853"/>
                    <a:pt x="16679" y="4333"/>
                    <a:pt x="16011" y="1512"/>
                  </a:cubicBezTo>
                  <a:cubicBezTo>
                    <a:pt x="15789" y="605"/>
                    <a:pt x="14935" y="0"/>
                    <a:pt x="13933" y="0"/>
                  </a:cubicBezTo>
                  <a:close/>
                </a:path>
              </a:pathLst>
            </a:custGeom>
            <a:solidFill>
              <a:schemeClr val="accent3">
                <a:lumMod val="40000"/>
                <a:lumOff val="60000"/>
              </a:schemeClr>
            </a:solidFill>
            <a:ln w="12700">
              <a:solidFill>
                <a:srgbClr val="E7E7E8"/>
              </a:solidFill>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29" name="Shape">
              <a:extLst>
                <a:ext uri="{FF2B5EF4-FFF2-40B4-BE49-F238E27FC236}">
                  <a16:creationId xmlns:a16="http://schemas.microsoft.com/office/drawing/2014/main" id="{BE84B317-B8C7-AADC-FF48-705F29110437}"/>
                </a:ext>
              </a:extLst>
            </p:cNvPr>
            <p:cNvSpPr/>
            <p:nvPr/>
          </p:nvSpPr>
          <p:spPr>
            <a:xfrm>
              <a:off x="9508999" y="4010360"/>
              <a:ext cx="1045245" cy="1155481"/>
            </a:xfrm>
            <a:custGeom>
              <a:avLst/>
              <a:gdLst/>
              <a:ahLst/>
              <a:cxnLst>
                <a:cxn ang="0">
                  <a:pos x="wd2" y="hd2"/>
                </a:cxn>
                <a:cxn ang="5400000">
                  <a:pos x="wd2" y="hd2"/>
                </a:cxn>
                <a:cxn ang="10800000">
                  <a:pos x="wd2" y="hd2"/>
                </a:cxn>
                <a:cxn ang="16200000">
                  <a:pos x="wd2" y="hd2"/>
                </a:cxn>
              </a:cxnLst>
              <a:rect l="0" t="0" r="r" b="b"/>
              <a:pathLst>
                <a:path w="21265" h="21292" extrusionOk="0">
                  <a:moveTo>
                    <a:pt x="277" y="11151"/>
                  </a:moveTo>
                  <a:lnTo>
                    <a:pt x="6138" y="20331"/>
                  </a:lnTo>
                  <a:cubicBezTo>
                    <a:pt x="6765" y="21333"/>
                    <a:pt x="8239" y="21600"/>
                    <a:pt x="9271" y="20899"/>
                  </a:cubicBezTo>
                  <a:cubicBezTo>
                    <a:pt x="15722" y="16492"/>
                    <a:pt x="20182" y="9815"/>
                    <a:pt x="21251" y="2170"/>
                  </a:cubicBezTo>
                  <a:cubicBezTo>
                    <a:pt x="21398" y="1002"/>
                    <a:pt x="20440" y="0"/>
                    <a:pt x="19149" y="0"/>
                  </a:cubicBezTo>
                  <a:lnTo>
                    <a:pt x="7428" y="0"/>
                  </a:lnTo>
                  <a:cubicBezTo>
                    <a:pt x="6433" y="0"/>
                    <a:pt x="5585" y="634"/>
                    <a:pt x="5364" y="1502"/>
                  </a:cubicBezTo>
                  <a:cubicBezTo>
                    <a:pt x="4700" y="4373"/>
                    <a:pt x="3005" y="6877"/>
                    <a:pt x="682" y="8747"/>
                  </a:cubicBezTo>
                  <a:cubicBezTo>
                    <a:pt x="-55" y="9381"/>
                    <a:pt x="-202" y="10383"/>
                    <a:pt x="277" y="11151"/>
                  </a:cubicBezTo>
                  <a:close/>
                </a:path>
              </a:pathLst>
            </a:custGeom>
            <a:solidFill>
              <a:srgbClr val="BDD7EE"/>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30" name="Shape">
              <a:extLst>
                <a:ext uri="{FF2B5EF4-FFF2-40B4-BE49-F238E27FC236}">
                  <a16:creationId xmlns:a16="http://schemas.microsoft.com/office/drawing/2014/main" id="{226571C6-AEAE-8EC2-75B6-BDF9DB0098F8}"/>
                </a:ext>
              </a:extLst>
            </p:cNvPr>
            <p:cNvSpPr/>
            <p:nvPr/>
          </p:nvSpPr>
          <p:spPr>
            <a:xfrm>
              <a:off x="8416615" y="4626362"/>
              <a:ext cx="1299032" cy="819144"/>
            </a:xfrm>
            <a:custGeom>
              <a:avLst/>
              <a:gdLst/>
              <a:ahLst/>
              <a:cxnLst>
                <a:cxn ang="0">
                  <a:pos x="wd2" y="hd2"/>
                </a:cxn>
                <a:cxn ang="5400000">
                  <a:pos x="wd2" y="hd2"/>
                </a:cxn>
                <a:cxn ang="10800000">
                  <a:pos x="wd2" y="hd2"/>
                </a:cxn>
                <a:cxn ang="16200000">
                  <a:pos x="wd2" y="hd2"/>
                </a:cxn>
              </a:cxnLst>
              <a:rect l="0" t="0" r="r" b="b"/>
              <a:pathLst>
                <a:path w="21042" h="21323" extrusionOk="0">
                  <a:moveTo>
                    <a:pt x="10609" y="1091"/>
                  </a:moveTo>
                  <a:cubicBezTo>
                    <a:pt x="9318" y="1091"/>
                    <a:pt x="8056" y="761"/>
                    <a:pt x="6882" y="147"/>
                  </a:cubicBezTo>
                  <a:cubicBezTo>
                    <a:pt x="6119" y="-277"/>
                    <a:pt x="5297" y="242"/>
                    <a:pt x="4886" y="1374"/>
                  </a:cubicBezTo>
                  <a:lnTo>
                    <a:pt x="220" y="14343"/>
                  </a:lnTo>
                  <a:cubicBezTo>
                    <a:pt x="-279" y="15758"/>
                    <a:pt x="103" y="17550"/>
                    <a:pt x="1042" y="18210"/>
                  </a:cubicBezTo>
                  <a:cubicBezTo>
                    <a:pt x="3976" y="20238"/>
                    <a:pt x="7205" y="21323"/>
                    <a:pt x="10609" y="21323"/>
                  </a:cubicBezTo>
                  <a:cubicBezTo>
                    <a:pt x="13955" y="21323"/>
                    <a:pt x="17124" y="20238"/>
                    <a:pt x="20000" y="18305"/>
                  </a:cubicBezTo>
                  <a:cubicBezTo>
                    <a:pt x="20940" y="17692"/>
                    <a:pt x="21321" y="15852"/>
                    <a:pt x="20822" y="14437"/>
                  </a:cubicBezTo>
                  <a:lnTo>
                    <a:pt x="16156" y="1468"/>
                  </a:lnTo>
                  <a:cubicBezTo>
                    <a:pt x="15774" y="383"/>
                    <a:pt x="14952" y="-136"/>
                    <a:pt x="14189" y="242"/>
                  </a:cubicBezTo>
                  <a:cubicBezTo>
                    <a:pt x="13045" y="808"/>
                    <a:pt x="11842" y="1091"/>
                    <a:pt x="10609" y="1091"/>
                  </a:cubicBezTo>
                  <a:close/>
                </a:path>
              </a:pathLst>
            </a:custGeom>
            <a:solidFill>
              <a:srgbClr val="FFF2CC"/>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31" name="Shape">
              <a:extLst>
                <a:ext uri="{FF2B5EF4-FFF2-40B4-BE49-F238E27FC236}">
                  <a16:creationId xmlns:a16="http://schemas.microsoft.com/office/drawing/2014/main" id="{644EC522-7559-009F-CA80-4ED8FF0FEE7B}"/>
                </a:ext>
              </a:extLst>
            </p:cNvPr>
            <p:cNvSpPr/>
            <p:nvPr/>
          </p:nvSpPr>
          <p:spPr>
            <a:xfrm>
              <a:off x="9522028" y="2705883"/>
              <a:ext cx="1046044" cy="1154108"/>
            </a:xfrm>
            <a:custGeom>
              <a:avLst/>
              <a:gdLst/>
              <a:ahLst/>
              <a:cxnLst>
                <a:cxn ang="0">
                  <a:pos x="wd2" y="hd2"/>
                </a:cxn>
                <a:cxn ang="5400000">
                  <a:pos x="wd2" y="hd2"/>
                </a:cxn>
                <a:cxn ang="10800000">
                  <a:pos x="wd2" y="hd2"/>
                </a:cxn>
                <a:cxn ang="16200000">
                  <a:pos x="wd2" y="hd2"/>
                </a:cxn>
              </a:cxnLst>
              <a:rect l="0" t="0" r="r" b="b"/>
              <a:pathLst>
                <a:path w="21245" h="21299" extrusionOk="0">
                  <a:moveTo>
                    <a:pt x="6143" y="970"/>
                  </a:moveTo>
                  <a:lnTo>
                    <a:pt x="292" y="10165"/>
                  </a:lnTo>
                  <a:cubicBezTo>
                    <a:pt x="-223" y="10934"/>
                    <a:pt x="-39" y="11937"/>
                    <a:pt x="697" y="12539"/>
                  </a:cubicBezTo>
                  <a:cubicBezTo>
                    <a:pt x="3015" y="14411"/>
                    <a:pt x="4671" y="16952"/>
                    <a:pt x="5370" y="19794"/>
                  </a:cubicBezTo>
                  <a:cubicBezTo>
                    <a:pt x="5591" y="20664"/>
                    <a:pt x="6437" y="21299"/>
                    <a:pt x="7431" y="21299"/>
                  </a:cubicBezTo>
                  <a:lnTo>
                    <a:pt x="19132" y="21299"/>
                  </a:lnTo>
                  <a:cubicBezTo>
                    <a:pt x="20420" y="21299"/>
                    <a:pt x="21377" y="20262"/>
                    <a:pt x="21230" y="19126"/>
                  </a:cubicBezTo>
                  <a:cubicBezTo>
                    <a:pt x="20163" y="11469"/>
                    <a:pt x="15710" y="4815"/>
                    <a:pt x="9271" y="368"/>
                  </a:cubicBezTo>
                  <a:cubicBezTo>
                    <a:pt x="8240" y="-301"/>
                    <a:pt x="6768" y="-33"/>
                    <a:pt x="6143" y="970"/>
                  </a:cubicBezTo>
                  <a:close/>
                </a:path>
              </a:pathLst>
            </a:custGeom>
            <a:solidFill>
              <a:schemeClr val="accent3">
                <a:lumMod val="40000"/>
                <a:lumOff val="6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32" name="Shape">
              <a:extLst>
                <a:ext uri="{FF2B5EF4-FFF2-40B4-BE49-F238E27FC236}">
                  <a16:creationId xmlns:a16="http://schemas.microsoft.com/office/drawing/2014/main" id="{ED60207B-A6A3-ED06-E5C0-387F065BD1DB}"/>
                </a:ext>
              </a:extLst>
            </p:cNvPr>
            <p:cNvSpPr/>
            <p:nvPr/>
          </p:nvSpPr>
          <p:spPr>
            <a:xfrm>
              <a:off x="7552284" y="2705883"/>
              <a:ext cx="1038106" cy="1148234"/>
            </a:xfrm>
            <a:custGeom>
              <a:avLst/>
              <a:gdLst/>
              <a:ahLst/>
              <a:cxnLst>
                <a:cxn ang="0">
                  <a:pos x="wd2" y="hd2"/>
                </a:cxn>
                <a:cxn ang="5400000">
                  <a:pos x="wd2" y="hd2"/>
                </a:cxn>
                <a:cxn ang="10800000">
                  <a:pos x="wd2" y="hd2"/>
                </a:cxn>
                <a:cxn ang="16200000">
                  <a:pos x="wd2" y="hd2"/>
                </a:cxn>
              </a:cxnLst>
              <a:rect l="0" t="0" r="r" b="b"/>
              <a:pathLst>
                <a:path w="21265" h="21290" extrusionOk="0">
                  <a:moveTo>
                    <a:pt x="20985" y="10204"/>
                  </a:moveTo>
                  <a:lnTo>
                    <a:pt x="15084" y="967"/>
                  </a:lnTo>
                  <a:cubicBezTo>
                    <a:pt x="14453" y="-41"/>
                    <a:pt x="12968" y="-310"/>
                    <a:pt x="11929" y="395"/>
                  </a:cubicBezTo>
                  <a:cubicBezTo>
                    <a:pt x="5508" y="4830"/>
                    <a:pt x="1092" y="11481"/>
                    <a:pt x="15" y="19106"/>
                  </a:cubicBezTo>
                  <a:cubicBezTo>
                    <a:pt x="-133" y="20282"/>
                    <a:pt x="832" y="21290"/>
                    <a:pt x="2131" y="21290"/>
                  </a:cubicBezTo>
                  <a:lnTo>
                    <a:pt x="13933" y="21290"/>
                  </a:lnTo>
                  <a:cubicBezTo>
                    <a:pt x="14935" y="21290"/>
                    <a:pt x="15789" y="20652"/>
                    <a:pt x="16011" y="19778"/>
                  </a:cubicBezTo>
                  <a:cubicBezTo>
                    <a:pt x="16679" y="16957"/>
                    <a:pt x="18313" y="14437"/>
                    <a:pt x="20613" y="12556"/>
                  </a:cubicBezTo>
                  <a:cubicBezTo>
                    <a:pt x="21319" y="11951"/>
                    <a:pt x="21467" y="10977"/>
                    <a:pt x="20985" y="10204"/>
                  </a:cubicBezTo>
                  <a:close/>
                </a:path>
              </a:pathLst>
            </a:custGeom>
            <a:solidFill>
              <a:schemeClr val="accent5">
                <a:lumMod val="40000"/>
                <a:lumOff val="6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33" name="Shape">
              <a:extLst>
                <a:ext uri="{FF2B5EF4-FFF2-40B4-BE49-F238E27FC236}">
                  <a16:creationId xmlns:a16="http://schemas.microsoft.com/office/drawing/2014/main" id="{48394DD8-C448-0CAC-68B5-D5DA9916FEAA}"/>
                </a:ext>
              </a:extLst>
            </p:cNvPr>
            <p:cNvSpPr/>
            <p:nvPr/>
          </p:nvSpPr>
          <p:spPr>
            <a:xfrm>
              <a:off x="8416615" y="2409486"/>
              <a:ext cx="1299032" cy="818399"/>
            </a:xfrm>
            <a:custGeom>
              <a:avLst/>
              <a:gdLst/>
              <a:ahLst/>
              <a:cxnLst>
                <a:cxn ang="0">
                  <a:pos x="wd2" y="hd2"/>
                </a:cxn>
                <a:cxn ang="5400000">
                  <a:pos x="wd2" y="hd2"/>
                </a:cxn>
                <a:cxn ang="10800000">
                  <a:pos x="wd2" y="hd2"/>
                </a:cxn>
                <a:cxn ang="16200000">
                  <a:pos x="wd2" y="hd2"/>
                </a:cxn>
              </a:cxnLst>
              <a:rect l="0" t="0" r="r" b="b"/>
              <a:pathLst>
                <a:path w="21042" h="21350" extrusionOk="0">
                  <a:moveTo>
                    <a:pt x="10609" y="20229"/>
                  </a:moveTo>
                  <a:cubicBezTo>
                    <a:pt x="11871" y="20229"/>
                    <a:pt x="13074" y="20560"/>
                    <a:pt x="14189" y="21127"/>
                  </a:cubicBezTo>
                  <a:cubicBezTo>
                    <a:pt x="14952" y="21505"/>
                    <a:pt x="15774" y="20986"/>
                    <a:pt x="16156" y="19898"/>
                  </a:cubicBezTo>
                  <a:lnTo>
                    <a:pt x="20822" y="6901"/>
                  </a:lnTo>
                  <a:cubicBezTo>
                    <a:pt x="21321" y="5483"/>
                    <a:pt x="20939" y="3639"/>
                    <a:pt x="20000" y="3025"/>
                  </a:cubicBezTo>
                  <a:cubicBezTo>
                    <a:pt x="17095" y="1087"/>
                    <a:pt x="13925" y="0"/>
                    <a:pt x="10609" y="0"/>
                  </a:cubicBezTo>
                  <a:cubicBezTo>
                    <a:pt x="7205" y="0"/>
                    <a:pt x="3976" y="1134"/>
                    <a:pt x="1042" y="3119"/>
                  </a:cubicBezTo>
                  <a:cubicBezTo>
                    <a:pt x="102" y="3781"/>
                    <a:pt x="-279" y="5577"/>
                    <a:pt x="220" y="6995"/>
                  </a:cubicBezTo>
                  <a:lnTo>
                    <a:pt x="4886" y="19993"/>
                  </a:lnTo>
                  <a:cubicBezTo>
                    <a:pt x="5297" y="21127"/>
                    <a:pt x="6119" y="21600"/>
                    <a:pt x="6882" y="21222"/>
                  </a:cubicBezTo>
                  <a:cubicBezTo>
                    <a:pt x="8056" y="20560"/>
                    <a:pt x="9288" y="20229"/>
                    <a:pt x="10609" y="20229"/>
                  </a:cubicBezTo>
                  <a:close/>
                </a:path>
              </a:pathLst>
            </a:custGeom>
            <a:solidFill>
              <a:schemeClr val="accent4">
                <a:lumMod val="20000"/>
                <a:lumOff val="8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34" name="Freeform: Shape 33">
              <a:extLst>
                <a:ext uri="{FF2B5EF4-FFF2-40B4-BE49-F238E27FC236}">
                  <a16:creationId xmlns:a16="http://schemas.microsoft.com/office/drawing/2014/main" id="{A492799E-F87E-D56F-9662-D4E4043FCC10}"/>
                </a:ext>
              </a:extLst>
            </p:cNvPr>
            <p:cNvSpPr/>
            <p:nvPr/>
          </p:nvSpPr>
          <p:spPr>
            <a:xfrm>
              <a:off x="8312850" y="1836231"/>
              <a:ext cx="1506562" cy="724581"/>
            </a:xfrm>
            <a:custGeom>
              <a:avLst/>
              <a:gdLst>
                <a:gd name="connsiteX0" fmla="*/ 892162 w 1762443"/>
                <a:gd name="connsiteY0" fmla="*/ 0 h 847647"/>
                <a:gd name="connsiteX1" fmla="*/ 1220701 w 1762443"/>
                <a:gd name="connsiteY1" fmla="*/ 328490 h 847647"/>
                <a:gd name="connsiteX2" fmla="*/ 1180452 w 1762443"/>
                <a:gd name="connsiteY2" fmla="*/ 485362 h 847647"/>
                <a:gd name="connsiteX3" fmla="*/ 1714546 w 1762443"/>
                <a:gd name="connsiteY3" fmla="*/ 644317 h 847647"/>
                <a:gd name="connsiteX4" fmla="*/ 1750572 w 1762443"/>
                <a:gd name="connsiteY4" fmla="*/ 765116 h 847647"/>
                <a:gd name="connsiteX5" fmla="*/ 1729371 w 1762443"/>
                <a:gd name="connsiteY5" fmla="*/ 801189 h 847647"/>
                <a:gd name="connsiteX6" fmla="*/ 1621293 w 1762443"/>
                <a:gd name="connsiteY6" fmla="*/ 835096 h 847647"/>
                <a:gd name="connsiteX7" fmla="*/ 885785 w 1762443"/>
                <a:gd name="connsiteY7" fmla="*/ 673975 h 847647"/>
                <a:gd name="connsiteX8" fmla="*/ 139758 w 1762443"/>
                <a:gd name="connsiteY8" fmla="*/ 839345 h 847647"/>
                <a:gd name="connsiteX9" fmla="*/ 31598 w 1762443"/>
                <a:gd name="connsiteY9" fmla="*/ 805438 h 847647"/>
                <a:gd name="connsiteX10" fmla="*/ 10479 w 1762443"/>
                <a:gd name="connsiteY10" fmla="*/ 769364 h 847647"/>
                <a:gd name="connsiteX11" fmla="*/ 48576 w 1762443"/>
                <a:gd name="connsiteY11" fmla="*/ 650732 h 847647"/>
                <a:gd name="connsiteX12" fmla="*/ 603871 w 1762443"/>
                <a:gd name="connsiteY12" fmla="*/ 485362 h 847647"/>
                <a:gd name="connsiteX13" fmla="*/ 563622 w 1762443"/>
                <a:gd name="connsiteY13" fmla="*/ 328490 h 847647"/>
                <a:gd name="connsiteX14" fmla="*/ 892162 w 1762443"/>
                <a:gd name="connsiteY14" fmla="*/ 0 h 84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62443" h="847647">
                  <a:moveTo>
                    <a:pt x="892162" y="0"/>
                  </a:moveTo>
                  <a:cubicBezTo>
                    <a:pt x="1074444" y="0"/>
                    <a:pt x="1220701" y="148375"/>
                    <a:pt x="1220701" y="328490"/>
                  </a:cubicBezTo>
                  <a:cubicBezTo>
                    <a:pt x="1220701" y="385724"/>
                    <a:pt x="1205877" y="438709"/>
                    <a:pt x="1180452" y="485362"/>
                  </a:cubicBezTo>
                  <a:cubicBezTo>
                    <a:pt x="1369029" y="512937"/>
                    <a:pt x="1547088" y="568005"/>
                    <a:pt x="1714546" y="644317"/>
                  </a:cubicBezTo>
                  <a:cubicBezTo>
                    <a:pt x="1759020" y="665561"/>
                    <a:pt x="1775997" y="720628"/>
                    <a:pt x="1750572" y="765116"/>
                  </a:cubicBezTo>
                  <a:lnTo>
                    <a:pt x="1729371" y="801189"/>
                  </a:lnTo>
                  <a:cubicBezTo>
                    <a:pt x="1708169" y="837178"/>
                    <a:pt x="1661543" y="854174"/>
                    <a:pt x="1621293" y="835096"/>
                  </a:cubicBezTo>
                  <a:cubicBezTo>
                    <a:pt x="1398760" y="731209"/>
                    <a:pt x="1148650" y="673975"/>
                    <a:pt x="885785" y="673975"/>
                  </a:cubicBezTo>
                  <a:cubicBezTo>
                    <a:pt x="618779" y="673975"/>
                    <a:pt x="366515" y="733375"/>
                    <a:pt x="139758" y="839345"/>
                  </a:cubicBezTo>
                  <a:cubicBezTo>
                    <a:pt x="99426" y="858422"/>
                    <a:pt x="52799" y="843593"/>
                    <a:pt x="31598" y="805438"/>
                  </a:cubicBezTo>
                  <a:lnTo>
                    <a:pt x="10479" y="769364"/>
                  </a:lnTo>
                  <a:cubicBezTo>
                    <a:pt x="-12876" y="726960"/>
                    <a:pt x="4102" y="671892"/>
                    <a:pt x="48576" y="650732"/>
                  </a:cubicBezTo>
                  <a:cubicBezTo>
                    <a:pt x="222411" y="570171"/>
                    <a:pt x="408917" y="512937"/>
                    <a:pt x="603871" y="485362"/>
                  </a:cubicBezTo>
                  <a:cubicBezTo>
                    <a:pt x="578446" y="438709"/>
                    <a:pt x="563622" y="385724"/>
                    <a:pt x="563622" y="328490"/>
                  </a:cubicBezTo>
                  <a:cubicBezTo>
                    <a:pt x="563622" y="146208"/>
                    <a:pt x="712032" y="0"/>
                    <a:pt x="892162" y="0"/>
                  </a:cubicBezTo>
                  <a:close/>
                </a:path>
              </a:pathLst>
            </a:custGeom>
            <a:solidFill>
              <a:srgbClr val="FFCC1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9DE0826B-9795-E903-1B78-BD3C36BCB2A8}"/>
                </a:ext>
              </a:extLst>
            </p:cNvPr>
            <p:cNvSpPr/>
            <p:nvPr/>
          </p:nvSpPr>
          <p:spPr>
            <a:xfrm>
              <a:off x="9900234" y="2524701"/>
              <a:ext cx="1023980" cy="1327927"/>
            </a:xfrm>
            <a:custGeom>
              <a:avLst/>
              <a:gdLst>
                <a:gd name="connsiteX0" fmla="*/ 119810 w 1197897"/>
                <a:gd name="connsiteY0" fmla="*/ 1377 h 1553468"/>
                <a:gd name="connsiteX1" fmla="*/ 150832 w 1197897"/>
                <a:gd name="connsiteY1" fmla="*/ 14672 h 1553468"/>
                <a:gd name="connsiteX2" fmla="*/ 583210 w 1197897"/>
                <a:gd name="connsiteY2" fmla="*/ 425874 h 1553468"/>
                <a:gd name="connsiteX3" fmla="*/ 869384 w 1197897"/>
                <a:gd name="connsiteY3" fmla="*/ 256325 h 1553468"/>
                <a:gd name="connsiteX4" fmla="*/ 1197897 w 1197897"/>
                <a:gd name="connsiteY4" fmla="*/ 584822 h 1553468"/>
                <a:gd name="connsiteX5" fmla="*/ 871489 w 1197897"/>
                <a:gd name="connsiteY5" fmla="*/ 911287 h 1553468"/>
                <a:gd name="connsiteX6" fmla="*/ 860884 w 1197897"/>
                <a:gd name="connsiteY6" fmla="*/ 911287 h 1553468"/>
                <a:gd name="connsiteX7" fmla="*/ 992273 w 1197897"/>
                <a:gd name="connsiteY7" fmla="*/ 1464446 h 1553468"/>
                <a:gd name="connsiteX8" fmla="*/ 911723 w 1197897"/>
                <a:gd name="connsiteY8" fmla="*/ 1553468 h 1553468"/>
                <a:gd name="connsiteX9" fmla="*/ 862989 w 1197897"/>
                <a:gd name="connsiteY9" fmla="*/ 1553468 h 1553468"/>
                <a:gd name="connsiteX10" fmla="*/ 782439 w 1197897"/>
                <a:gd name="connsiteY10" fmla="*/ 1479259 h 1553468"/>
                <a:gd name="connsiteX11" fmla="*/ 34258 w 1197897"/>
                <a:gd name="connsiteY11" fmla="*/ 188505 h 1553468"/>
                <a:gd name="connsiteX12" fmla="*/ 10943 w 1197897"/>
                <a:gd name="connsiteY12" fmla="*/ 82564 h 1553468"/>
                <a:gd name="connsiteX13" fmla="*/ 34258 w 1197897"/>
                <a:gd name="connsiteY13" fmla="*/ 40159 h 1553468"/>
                <a:gd name="connsiteX14" fmla="*/ 119810 w 1197897"/>
                <a:gd name="connsiteY14" fmla="*/ 1377 h 1553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97897" h="1553468">
                  <a:moveTo>
                    <a:pt x="119810" y="1377"/>
                  </a:moveTo>
                  <a:cubicBezTo>
                    <a:pt x="130705" y="3426"/>
                    <a:pt x="141300" y="7792"/>
                    <a:pt x="150832" y="14672"/>
                  </a:cubicBezTo>
                  <a:cubicBezTo>
                    <a:pt x="314036" y="129181"/>
                    <a:pt x="460321" y="269032"/>
                    <a:pt x="583210" y="425874"/>
                  </a:cubicBezTo>
                  <a:cubicBezTo>
                    <a:pt x="638340" y="324145"/>
                    <a:pt x="746414" y="256325"/>
                    <a:pt x="869384" y="256325"/>
                  </a:cubicBezTo>
                  <a:cubicBezTo>
                    <a:pt x="1051612" y="256325"/>
                    <a:pt x="1197897" y="404672"/>
                    <a:pt x="1197897" y="584822"/>
                  </a:cubicBezTo>
                  <a:cubicBezTo>
                    <a:pt x="1197897" y="767151"/>
                    <a:pt x="1051612" y="913392"/>
                    <a:pt x="871489" y="911287"/>
                  </a:cubicBezTo>
                  <a:cubicBezTo>
                    <a:pt x="867198" y="911287"/>
                    <a:pt x="865093" y="911287"/>
                    <a:pt x="860884" y="911287"/>
                  </a:cubicBezTo>
                  <a:cubicBezTo>
                    <a:pt x="930828" y="1085047"/>
                    <a:pt x="975353" y="1269410"/>
                    <a:pt x="992273" y="1464446"/>
                  </a:cubicBezTo>
                  <a:cubicBezTo>
                    <a:pt x="996563" y="1513169"/>
                    <a:pt x="960458" y="1553468"/>
                    <a:pt x="911723" y="1553468"/>
                  </a:cubicBezTo>
                  <a:lnTo>
                    <a:pt x="862989" y="1553468"/>
                  </a:lnTo>
                  <a:cubicBezTo>
                    <a:pt x="820649" y="1553468"/>
                    <a:pt x="786729" y="1521664"/>
                    <a:pt x="782439" y="1479259"/>
                  </a:cubicBezTo>
                  <a:cubicBezTo>
                    <a:pt x="735809" y="945196"/>
                    <a:pt x="449716" y="478881"/>
                    <a:pt x="34258" y="188505"/>
                  </a:cubicBezTo>
                  <a:cubicBezTo>
                    <a:pt x="338" y="165197"/>
                    <a:pt x="-10267" y="118580"/>
                    <a:pt x="10943" y="82564"/>
                  </a:cubicBezTo>
                  <a:lnTo>
                    <a:pt x="34258" y="40159"/>
                  </a:lnTo>
                  <a:cubicBezTo>
                    <a:pt x="51744" y="9934"/>
                    <a:pt x="87127" y="-4770"/>
                    <a:pt x="119810" y="1377"/>
                  </a:cubicBezTo>
                  <a:close/>
                </a:path>
              </a:pathLst>
            </a:custGeom>
            <a:solidFill>
              <a:srgbClr val="4C4C4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CAC26437-2D97-2885-B727-648923B90937}"/>
                </a:ext>
              </a:extLst>
            </p:cNvPr>
            <p:cNvSpPr/>
            <p:nvPr/>
          </p:nvSpPr>
          <p:spPr>
            <a:xfrm>
              <a:off x="7208050" y="2524701"/>
              <a:ext cx="1007608" cy="1324727"/>
            </a:xfrm>
            <a:custGeom>
              <a:avLst/>
              <a:gdLst>
                <a:gd name="connsiteX0" fmla="*/ 1058067 w 1178745"/>
                <a:gd name="connsiteY0" fmla="*/ 1623 h 1549724"/>
                <a:gd name="connsiteX1" fmla="*/ 1144546 w 1178745"/>
                <a:gd name="connsiteY1" fmla="*/ 40685 h 1549724"/>
                <a:gd name="connsiteX2" fmla="*/ 1167794 w 1178745"/>
                <a:gd name="connsiteY2" fmla="*/ 85160 h 1549724"/>
                <a:gd name="connsiteX3" fmla="*/ 1144465 w 1178745"/>
                <a:gd name="connsiteY3" fmla="*/ 191176 h 1549724"/>
                <a:gd name="connsiteX4" fmla="*/ 404764 w 1178745"/>
                <a:gd name="connsiteY4" fmla="*/ 1475527 h 1549724"/>
                <a:gd name="connsiteX5" fmla="*/ 324276 w 1178745"/>
                <a:gd name="connsiteY5" fmla="*/ 1549724 h 1549724"/>
                <a:gd name="connsiteX6" fmla="*/ 275534 w 1178745"/>
                <a:gd name="connsiteY6" fmla="*/ 1549724 h 1549724"/>
                <a:gd name="connsiteX7" fmla="*/ 194966 w 1178745"/>
                <a:gd name="connsiteY7" fmla="*/ 1460702 h 1549724"/>
                <a:gd name="connsiteX8" fmla="*/ 326360 w 1178745"/>
                <a:gd name="connsiteY8" fmla="*/ 907549 h 1549724"/>
                <a:gd name="connsiteX9" fmla="*/ 0 w 1178745"/>
                <a:gd name="connsiteY9" fmla="*/ 579013 h 1549724"/>
                <a:gd name="connsiteX10" fmla="*/ 328525 w 1178745"/>
                <a:gd name="connsiteY10" fmla="*/ 250476 h 1549724"/>
                <a:gd name="connsiteX11" fmla="*/ 610392 w 1178745"/>
                <a:gd name="connsiteY11" fmla="*/ 411599 h 1549724"/>
                <a:gd name="connsiteX12" fmla="*/ 1025818 w 1178745"/>
                <a:gd name="connsiteY12" fmla="*/ 15229 h 1549724"/>
                <a:gd name="connsiteX13" fmla="*/ 1058067 w 1178745"/>
                <a:gd name="connsiteY13" fmla="*/ 1623 h 154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745" h="1549724">
                  <a:moveTo>
                    <a:pt x="1058067" y="1623"/>
                  </a:moveTo>
                  <a:cubicBezTo>
                    <a:pt x="1091651" y="-5024"/>
                    <a:pt x="1127049" y="8902"/>
                    <a:pt x="1144546" y="40685"/>
                  </a:cubicBezTo>
                  <a:lnTo>
                    <a:pt x="1167794" y="85160"/>
                  </a:lnTo>
                  <a:cubicBezTo>
                    <a:pt x="1189038" y="121173"/>
                    <a:pt x="1178376" y="167818"/>
                    <a:pt x="1144465" y="191176"/>
                  </a:cubicBezTo>
                  <a:cubicBezTo>
                    <a:pt x="733288" y="481529"/>
                    <a:pt x="451421" y="945660"/>
                    <a:pt x="404764" y="1475527"/>
                  </a:cubicBezTo>
                  <a:cubicBezTo>
                    <a:pt x="400595" y="1517905"/>
                    <a:pt x="366684" y="1549724"/>
                    <a:pt x="324276" y="1549724"/>
                  </a:cubicBezTo>
                  <a:lnTo>
                    <a:pt x="275534" y="1549724"/>
                  </a:lnTo>
                  <a:cubicBezTo>
                    <a:pt x="228877" y="1549724"/>
                    <a:pt x="190718" y="1509444"/>
                    <a:pt x="194966" y="1460702"/>
                  </a:cubicBezTo>
                  <a:cubicBezTo>
                    <a:pt x="211962" y="1267832"/>
                    <a:pt x="258539" y="1081327"/>
                    <a:pt x="326360" y="907549"/>
                  </a:cubicBezTo>
                  <a:cubicBezTo>
                    <a:pt x="146225" y="905379"/>
                    <a:pt x="0" y="759154"/>
                    <a:pt x="0" y="579013"/>
                  </a:cubicBezTo>
                  <a:cubicBezTo>
                    <a:pt x="0" y="396701"/>
                    <a:pt x="148389" y="250476"/>
                    <a:pt x="328525" y="250476"/>
                  </a:cubicBezTo>
                  <a:cubicBezTo>
                    <a:pt x="449337" y="250476"/>
                    <a:pt x="553153" y="314043"/>
                    <a:pt x="610392" y="411599"/>
                  </a:cubicBezTo>
                  <a:cubicBezTo>
                    <a:pt x="729120" y="258937"/>
                    <a:pt x="869011" y="125440"/>
                    <a:pt x="1025818" y="15229"/>
                  </a:cubicBezTo>
                  <a:cubicBezTo>
                    <a:pt x="1035879" y="8341"/>
                    <a:pt x="1046872" y="3839"/>
                    <a:pt x="1058067" y="1623"/>
                  </a:cubicBezTo>
                  <a:close/>
                </a:path>
              </a:pathLst>
            </a:custGeom>
            <a:solidFill>
              <a:srgbClr val="278CC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CB2AF7F0-8FB1-966E-84CF-B983DABEE4F4}"/>
                </a:ext>
              </a:extLst>
            </p:cNvPr>
            <p:cNvSpPr/>
            <p:nvPr/>
          </p:nvSpPr>
          <p:spPr>
            <a:xfrm>
              <a:off x="8795255" y="3183144"/>
              <a:ext cx="541751" cy="180262"/>
            </a:xfrm>
            <a:custGeom>
              <a:avLst/>
              <a:gdLst>
                <a:gd name="connsiteX0" fmla="*/ 321139 w 633764"/>
                <a:gd name="connsiteY0" fmla="*/ 0 h 210878"/>
                <a:gd name="connsiteX1" fmla="*/ 573403 w 633764"/>
                <a:gd name="connsiteY1" fmla="*/ 38155 h 210878"/>
                <a:gd name="connsiteX2" fmla="*/ 622100 w 633764"/>
                <a:gd name="connsiteY2" fmla="*/ 161037 h 210878"/>
                <a:gd name="connsiteX3" fmla="*/ 522552 w 633764"/>
                <a:gd name="connsiteY3" fmla="*/ 199193 h 210878"/>
                <a:gd name="connsiteX4" fmla="*/ 323292 w 633764"/>
                <a:gd name="connsiteY4" fmla="*/ 169535 h 210878"/>
                <a:gd name="connsiteX5" fmla="*/ 98606 w 633764"/>
                <a:gd name="connsiteY5" fmla="*/ 207690 h 210878"/>
                <a:gd name="connsiteX6" fmla="*/ 24401 w 633764"/>
                <a:gd name="connsiteY6" fmla="*/ 182281 h 210878"/>
                <a:gd name="connsiteX7" fmla="*/ 11730 w 633764"/>
                <a:gd name="connsiteY7" fmla="*/ 165286 h 210878"/>
                <a:gd name="connsiteX8" fmla="*/ 58356 w 633764"/>
                <a:gd name="connsiteY8" fmla="*/ 42404 h 210878"/>
                <a:gd name="connsiteX9" fmla="*/ 321139 w 633764"/>
                <a:gd name="connsiteY9" fmla="*/ 0 h 210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3764" h="210878">
                  <a:moveTo>
                    <a:pt x="321139" y="0"/>
                  </a:moveTo>
                  <a:cubicBezTo>
                    <a:pt x="408098" y="0"/>
                    <a:pt x="492821" y="12746"/>
                    <a:pt x="573403" y="38155"/>
                  </a:cubicBezTo>
                  <a:cubicBezTo>
                    <a:pt x="626324" y="52984"/>
                    <a:pt x="649678" y="114467"/>
                    <a:pt x="622100" y="161037"/>
                  </a:cubicBezTo>
                  <a:cubicBezTo>
                    <a:pt x="600898" y="195027"/>
                    <a:pt x="560649" y="211939"/>
                    <a:pt x="522552" y="199193"/>
                  </a:cubicBezTo>
                  <a:cubicBezTo>
                    <a:pt x="458948" y="180115"/>
                    <a:pt x="391120" y="169535"/>
                    <a:pt x="323292" y="169535"/>
                  </a:cubicBezTo>
                  <a:cubicBezTo>
                    <a:pt x="244863" y="169535"/>
                    <a:pt x="168588" y="182281"/>
                    <a:pt x="98606" y="207690"/>
                  </a:cubicBezTo>
                  <a:cubicBezTo>
                    <a:pt x="71028" y="216188"/>
                    <a:pt x="41379" y="207690"/>
                    <a:pt x="24401" y="182281"/>
                  </a:cubicBezTo>
                  <a:lnTo>
                    <a:pt x="11730" y="165286"/>
                  </a:lnTo>
                  <a:cubicBezTo>
                    <a:pt x="-15849" y="118716"/>
                    <a:pt x="7423" y="59316"/>
                    <a:pt x="58356" y="42404"/>
                  </a:cubicBezTo>
                  <a:cubicBezTo>
                    <a:pt x="141009" y="14829"/>
                    <a:pt x="230039" y="0"/>
                    <a:pt x="321139" y="0"/>
                  </a:cubicBez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7E747952-CA68-50B1-E373-2225F79C5DAA}"/>
                </a:ext>
              </a:extLst>
            </p:cNvPr>
            <p:cNvSpPr/>
            <p:nvPr/>
          </p:nvSpPr>
          <p:spPr>
            <a:xfrm>
              <a:off x="9443035" y="3361197"/>
              <a:ext cx="345944" cy="493231"/>
            </a:xfrm>
            <a:custGeom>
              <a:avLst/>
              <a:gdLst>
                <a:gd name="connsiteX0" fmla="*/ 72839 w 404701"/>
                <a:gd name="connsiteY0" fmla="*/ 1017 h 577004"/>
                <a:gd name="connsiteX1" fmla="*/ 140142 w 404701"/>
                <a:gd name="connsiteY1" fmla="*/ 21666 h 577004"/>
                <a:gd name="connsiteX2" fmla="*/ 402921 w 404701"/>
                <a:gd name="connsiteY2" fmla="*/ 477380 h 577004"/>
                <a:gd name="connsiteX3" fmla="*/ 324557 w 404701"/>
                <a:gd name="connsiteY3" fmla="*/ 577004 h 577004"/>
                <a:gd name="connsiteX4" fmla="*/ 318161 w 404701"/>
                <a:gd name="connsiteY4" fmla="*/ 577004 h 577004"/>
                <a:gd name="connsiteX5" fmla="*/ 239716 w 404701"/>
                <a:gd name="connsiteY5" fmla="*/ 511290 h 577004"/>
                <a:gd name="connsiteX6" fmla="*/ 27778 w 404701"/>
                <a:gd name="connsiteY6" fmla="*/ 148883 h 577004"/>
                <a:gd name="connsiteX7" fmla="*/ 10858 w 404701"/>
                <a:gd name="connsiteY7" fmla="*/ 47153 h 577004"/>
                <a:gd name="connsiteX8" fmla="*/ 15068 w 404701"/>
                <a:gd name="connsiteY8" fmla="*/ 40763 h 577004"/>
                <a:gd name="connsiteX9" fmla="*/ 72839 w 404701"/>
                <a:gd name="connsiteY9" fmla="*/ 1017 h 57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4701" h="577004">
                  <a:moveTo>
                    <a:pt x="72839" y="1017"/>
                  </a:moveTo>
                  <a:cubicBezTo>
                    <a:pt x="96164" y="-2695"/>
                    <a:pt x="121078" y="3659"/>
                    <a:pt x="140142" y="21666"/>
                  </a:cubicBezTo>
                  <a:cubicBezTo>
                    <a:pt x="267322" y="140387"/>
                    <a:pt x="362686" y="297230"/>
                    <a:pt x="402921" y="477380"/>
                  </a:cubicBezTo>
                  <a:cubicBezTo>
                    <a:pt x="413526" y="528281"/>
                    <a:pt x="375396" y="577004"/>
                    <a:pt x="324557" y="577004"/>
                  </a:cubicBezTo>
                  <a:lnTo>
                    <a:pt x="318161" y="577004"/>
                  </a:lnTo>
                  <a:cubicBezTo>
                    <a:pt x="280032" y="577004"/>
                    <a:pt x="246112" y="549484"/>
                    <a:pt x="239716" y="511290"/>
                  </a:cubicBezTo>
                  <a:cubicBezTo>
                    <a:pt x="207982" y="369261"/>
                    <a:pt x="131642" y="244223"/>
                    <a:pt x="27778" y="148883"/>
                  </a:cubicBezTo>
                  <a:cubicBezTo>
                    <a:pt x="-1852" y="123469"/>
                    <a:pt x="-8247" y="81063"/>
                    <a:pt x="10858" y="47153"/>
                  </a:cubicBezTo>
                  <a:lnTo>
                    <a:pt x="15068" y="40763"/>
                  </a:lnTo>
                  <a:cubicBezTo>
                    <a:pt x="27778" y="18508"/>
                    <a:pt x="49514" y="4730"/>
                    <a:pt x="72839" y="1017"/>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BE84F686-DCF6-6903-3380-7B70C871B935}"/>
                </a:ext>
              </a:extLst>
            </p:cNvPr>
            <p:cNvSpPr/>
            <p:nvPr/>
          </p:nvSpPr>
          <p:spPr>
            <a:xfrm>
              <a:off x="8333463" y="3361197"/>
              <a:ext cx="342434" cy="486473"/>
            </a:xfrm>
            <a:custGeom>
              <a:avLst/>
              <a:gdLst>
                <a:gd name="connsiteX0" fmla="*/ 325797 w 400595"/>
                <a:gd name="connsiteY0" fmla="*/ 858 h 569098"/>
                <a:gd name="connsiteX1" fmla="*/ 385371 w 400595"/>
                <a:gd name="connsiteY1" fmla="*/ 41401 h 569098"/>
                <a:gd name="connsiteX2" fmla="*/ 389620 w 400595"/>
                <a:gd name="connsiteY2" fmla="*/ 47765 h 569098"/>
                <a:gd name="connsiteX3" fmla="*/ 374789 w 400595"/>
                <a:gd name="connsiteY3" fmla="*/ 149443 h 569098"/>
                <a:gd name="connsiteX4" fmla="*/ 311217 w 400595"/>
                <a:gd name="connsiteY4" fmla="*/ 215179 h 569098"/>
                <a:gd name="connsiteX5" fmla="*/ 169161 w 400595"/>
                <a:gd name="connsiteY5" fmla="*/ 505532 h 569098"/>
                <a:gd name="connsiteX6" fmla="*/ 90757 w 400595"/>
                <a:gd name="connsiteY6" fmla="*/ 569098 h 569098"/>
                <a:gd name="connsiteX7" fmla="*/ 82260 w 400595"/>
                <a:gd name="connsiteY7" fmla="*/ 569098 h 569098"/>
                <a:gd name="connsiteX8" fmla="*/ 1772 w 400595"/>
                <a:gd name="connsiteY8" fmla="*/ 469518 h 569098"/>
                <a:gd name="connsiteX9" fmla="*/ 258226 w 400595"/>
                <a:gd name="connsiteY9" fmla="*/ 22309 h 569098"/>
                <a:gd name="connsiteX10" fmla="*/ 325797 w 400595"/>
                <a:gd name="connsiteY10" fmla="*/ 858 h 56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595" h="569098">
                  <a:moveTo>
                    <a:pt x="325797" y="858"/>
                  </a:moveTo>
                  <a:cubicBezTo>
                    <a:pt x="349376" y="4303"/>
                    <a:pt x="371623" y="18079"/>
                    <a:pt x="385371" y="41401"/>
                  </a:cubicBezTo>
                  <a:lnTo>
                    <a:pt x="389620" y="47765"/>
                  </a:lnTo>
                  <a:cubicBezTo>
                    <a:pt x="408700" y="81682"/>
                    <a:pt x="402367" y="124059"/>
                    <a:pt x="374789" y="149443"/>
                  </a:cubicBezTo>
                  <a:cubicBezTo>
                    <a:pt x="351461" y="170704"/>
                    <a:pt x="332381" y="191893"/>
                    <a:pt x="311217" y="215179"/>
                  </a:cubicBezTo>
                  <a:cubicBezTo>
                    <a:pt x="243396" y="297837"/>
                    <a:pt x="194654" y="397418"/>
                    <a:pt x="169161" y="505532"/>
                  </a:cubicBezTo>
                  <a:cubicBezTo>
                    <a:pt x="160743" y="543715"/>
                    <a:pt x="128917" y="569098"/>
                    <a:pt x="90757" y="569098"/>
                  </a:cubicBezTo>
                  <a:lnTo>
                    <a:pt x="82260" y="569098"/>
                  </a:lnTo>
                  <a:cubicBezTo>
                    <a:pt x="29269" y="569098"/>
                    <a:pt x="-8810" y="520357"/>
                    <a:pt x="1772" y="469518"/>
                  </a:cubicBezTo>
                  <a:cubicBezTo>
                    <a:pt x="39932" y="295740"/>
                    <a:pt x="131081" y="140982"/>
                    <a:pt x="258226" y="22309"/>
                  </a:cubicBezTo>
                  <a:cubicBezTo>
                    <a:pt x="277306" y="4302"/>
                    <a:pt x="302218" y="-2586"/>
                    <a:pt x="325797" y="858"/>
                  </a:cubicBezTo>
                  <a:close/>
                </a:path>
              </a:pathLst>
            </a:custGeom>
            <a:solidFill>
              <a:srgbClr val="401B5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2E73B8A5-B698-B63D-70F5-ACBA9BBAAF11}"/>
                </a:ext>
              </a:extLst>
            </p:cNvPr>
            <p:cNvSpPr/>
            <p:nvPr/>
          </p:nvSpPr>
          <p:spPr>
            <a:xfrm>
              <a:off x="7208048" y="4010359"/>
              <a:ext cx="1008085" cy="1322957"/>
            </a:xfrm>
            <a:custGeom>
              <a:avLst/>
              <a:gdLst>
                <a:gd name="connsiteX0" fmla="*/ 275541 w 1179303"/>
                <a:gd name="connsiteY0" fmla="*/ 0 h 1547654"/>
                <a:gd name="connsiteX1" fmla="*/ 324284 w 1179303"/>
                <a:gd name="connsiteY1" fmla="*/ 0 h 1547654"/>
                <a:gd name="connsiteX2" fmla="*/ 404854 w 1179303"/>
                <a:gd name="connsiteY2" fmla="*/ 74172 h 1547654"/>
                <a:gd name="connsiteX3" fmla="*/ 1144493 w 1179303"/>
                <a:gd name="connsiteY3" fmla="*/ 1358631 h 1547654"/>
                <a:gd name="connsiteX4" fmla="*/ 1167822 w 1179303"/>
                <a:gd name="connsiteY4" fmla="*/ 1464579 h 1547654"/>
                <a:gd name="connsiteX5" fmla="*/ 1144573 w 1179303"/>
                <a:gd name="connsiteY5" fmla="*/ 1506973 h 1547654"/>
                <a:gd name="connsiteX6" fmla="*/ 1025843 w 1179303"/>
                <a:gd name="connsiteY6" fmla="*/ 1532395 h 1547654"/>
                <a:gd name="connsiteX7" fmla="*/ 606158 w 1179303"/>
                <a:gd name="connsiteY7" fmla="*/ 1131855 h 1547654"/>
                <a:gd name="connsiteX8" fmla="*/ 328533 w 1179303"/>
                <a:gd name="connsiteY8" fmla="*/ 1286554 h 1547654"/>
                <a:gd name="connsiteX9" fmla="*/ 0 w 1179303"/>
                <a:gd name="connsiteY9" fmla="*/ 958018 h 1547654"/>
                <a:gd name="connsiteX10" fmla="*/ 322199 w 1179303"/>
                <a:gd name="connsiteY10" fmla="*/ 631649 h 1547654"/>
                <a:gd name="connsiteX11" fmla="*/ 194971 w 1179303"/>
                <a:gd name="connsiteY11" fmla="*/ 89049 h 1547654"/>
                <a:gd name="connsiteX12" fmla="*/ 275541 w 1179303"/>
                <a:gd name="connsiteY12" fmla="*/ 0 h 1547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9303" h="1547654">
                  <a:moveTo>
                    <a:pt x="275541" y="0"/>
                  </a:moveTo>
                  <a:lnTo>
                    <a:pt x="324284" y="0"/>
                  </a:lnTo>
                  <a:cubicBezTo>
                    <a:pt x="366693" y="0"/>
                    <a:pt x="400605" y="31778"/>
                    <a:pt x="404854" y="74172"/>
                  </a:cubicBezTo>
                  <a:cubicBezTo>
                    <a:pt x="451432" y="604061"/>
                    <a:pt x="733306" y="1068228"/>
                    <a:pt x="1144493" y="1358631"/>
                  </a:cubicBezTo>
                  <a:cubicBezTo>
                    <a:pt x="1180569" y="1384053"/>
                    <a:pt x="1189067" y="1428541"/>
                    <a:pt x="1167822" y="1464579"/>
                  </a:cubicBezTo>
                  <a:lnTo>
                    <a:pt x="1144573" y="1506973"/>
                  </a:lnTo>
                  <a:cubicBezTo>
                    <a:pt x="1121244" y="1549368"/>
                    <a:pt x="1066087" y="1559984"/>
                    <a:pt x="1025843" y="1532395"/>
                  </a:cubicBezTo>
                  <a:cubicBezTo>
                    <a:pt x="866867" y="1420091"/>
                    <a:pt x="724888" y="1284459"/>
                    <a:pt x="606158" y="1131855"/>
                  </a:cubicBezTo>
                  <a:cubicBezTo>
                    <a:pt x="548917" y="1225093"/>
                    <a:pt x="445098" y="1286554"/>
                    <a:pt x="328533" y="1286554"/>
                  </a:cubicBezTo>
                  <a:cubicBezTo>
                    <a:pt x="148393" y="1286554"/>
                    <a:pt x="0" y="1140305"/>
                    <a:pt x="0" y="958018"/>
                  </a:cubicBezTo>
                  <a:cubicBezTo>
                    <a:pt x="0" y="779992"/>
                    <a:pt x="144144" y="633744"/>
                    <a:pt x="322199" y="631649"/>
                  </a:cubicBezTo>
                  <a:cubicBezTo>
                    <a:pt x="256461" y="459907"/>
                    <a:pt x="211967" y="277692"/>
                    <a:pt x="194971" y="89049"/>
                  </a:cubicBezTo>
                  <a:cubicBezTo>
                    <a:pt x="190722" y="40300"/>
                    <a:pt x="228883" y="0"/>
                    <a:pt x="275541" y="0"/>
                  </a:cubicBezTo>
                  <a:close/>
                </a:path>
              </a:pathLst>
            </a:custGeom>
            <a:solidFill>
              <a:srgbClr val="4C4C4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91C08CAB-6525-10D8-9C71-D75B704628C0}"/>
                </a:ext>
              </a:extLst>
            </p:cNvPr>
            <p:cNvSpPr/>
            <p:nvPr/>
          </p:nvSpPr>
          <p:spPr>
            <a:xfrm>
              <a:off x="9424933" y="4010361"/>
              <a:ext cx="349107" cy="492466"/>
            </a:xfrm>
            <a:custGeom>
              <a:avLst/>
              <a:gdLst>
                <a:gd name="connsiteX0" fmla="*/ 317589 w 408401"/>
                <a:gd name="connsiteY0" fmla="*/ 0 h 576109"/>
                <a:gd name="connsiteX1" fmla="*/ 326120 w 408401"/>
                <a:gd name="connsiteY1" fmla="*/ 0 h 576109"/>
                <a:gd name="connsiteX2" fmla="*/ 406637 w 408401"/>
                <a:gd name="connsiteY2" fmla="*/ 99636 h 576109"/>
                <a:gd name="connsiteX3" fmla="*/ 139576 w 408401"/>
                <a:gd name="connsiteY3" fmla="*/ 555319 h 576109"/>
                <a:gd name="connsiteX4" fmla="*/ 14536 w 408401"/>
                <a:gd name="connsiteY4" fmla="*/ 536248 h 576109"/>
                <a:gd name="connsiteX5" fmla="*/ 10311 w 408401"/>
                <a:gd name="connsiteY5" fmla="*/ 529866 h 576109"/>
                <a:gd name="connsiteX6" fmla="*/ 27210 w 408401"/>
                <a:gd name="connsiteY6" fmla="*/ 428128 h 576109"/>
                <a:gd name="connsiteX7" fmla="*/ 52641 w 408401"/>
                <a:gd name="connsiteY7" fmla="*/ 404851 h 576109"/>
                <a:gd name="connsiteX8" fmla="*/ 239185 w 408401"/>
                <a:gd name="connsiteY8" fmla="*/ 65699 h 576109"/>
                <a:gd name="connsiteX9" fmla="*/ 317589 w 408401"/>
                <a:gd name="connsiteY9" fmla="*/ 0 h 57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401" h="576109">
                  <a:moveTo>
                    <a:pt x="317589" y="0"/>
                  </a:moveTo>
                  <a:lnTo>
                    <a:pt x="326120" y="0"/>
                  </a:lnTo>
                  <a:cubicBezTo>
                    <a:pt x="379094" y="2103"/>
                    <a:pt x="417199" y="48730"/>
                    <a:pt x="406637" y="99636"/>
                  </a:cubicBezTo>
                  <a:cubicBezTo>
                    <a:pt x="368531" y="277660"/>
                    <a:pt x="273147" y="436612"/>
                    <a:pt x="139576" y="555319"/>
                  </a:cubicBezTo>
                  <a:cubicBezTo>
                    <a:pt x="101471" y="589256"/>
                    <a:pt x="39966" y="580772"/>
                    <a:pt x="14536" y="536248"/>
                  </a:cubicBezTo>
                  <a:lnTo>
                    <a:pt x="10311" y="529866"/>
                  </a:lnTo>
                  <a:cubicBezTo>
                    <a:pt x="-8782" y="496002"/>
                    <a:pt x="-333" y="453581"/>
                    <a:pt x="27210" y="428128"/>
                  </a:cubicBezTo>
                  <a:cubicBezTo>
                    <a:pt x="35741" y="419644"/>
                    <a:pt x="44191" y="413335"/>
                    <a:pt x="52641" y="404851"/>
                  </a:cubicBezTo>
                  <a:cubicBezTo>
                    <a:pt x="143801" y="313700"/>
                    <a:pt x="209530" y="197096"/>
                    <a:pt x="239185" y="65699"/>
                  </a:cubicBezTo>
                  <a:cubicBezTo>
                    <a:pt x="247635" y="27556"/>
                    <a:pt x="279484" y="0"/>
                    <a:pt x="317589" y="0"/>
                  </a:cubicBez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8E98E7D8-E5CF-A950-9DB8-6E77EB72FE90}"/>
                </a:ext>
              </a:extLst>
            </p:cNvPr>
            <p:cNvSpPr/>
            <p:nvPr/>
          </p:nvSpPr>
          <p:spPr>
            <a:xfrm>
              <a:off x="9885297" y="4010359"/>
              <a:ext cx="1025769" cy="1328389"/>
            </a:xfrm>
            <a:custGeom>
              <a:avLst/>
              <a:gdLst>
                <a:gd name="connsiteX0" fmla="*/ 862975 w 1199990"/>
                <a:gd name="connsiteY0" fmla="*/ 0 h 1554008"/>
                <a:gd name="connsiteX1" fmla="*/ 911724 w 1199990"/>
                <a:gd name="connsiteY1" fmla="*/ 0 h 1554008"/>
                <a:gd name="connsiteX2" fmla="*/ 992240 w 1199990"/>
                <a:gd name="connsiteY2" fmla="*/ 89048 h 1554008"/>
                <a:gd name="connsiteX3" fmla="*/ 865087 w 1199990"/>
                <a:gd name="connsiteY3" fmla="*/ 633708 h 1554008"/>
                <a:gd name="connsiteX4" fmla="*/ 871425 w 1199990"/>
                <a:gd name="connsiteY4" fmla="*/ 633708 h 1554008"/>
                <a:gd name="connsiteX5" fmla="*/ 1199990 w 1199990"/>
                <a:gd name="connsiteY5" fmla="*/ 957994 h 1554008"/>
                <a:gd name="connsiteX6" fmla="*/ 871506 w 1199990"/>
                <a:gd name="connsiteY6" fmla="*/ 1286559 h 1554008"/>
                <a:gd name="connsiteX7" fmla="*/ 587464 w 1199990"/>
                <a:gd name="connsiteY7" fmla="*/ 1123328 h 1554008"/>
                <a:gd name="connsiteX8" fmla="*/ 150840 w 1199990"/>
                <a:gd name="connsiteY8" fmla="*/ 1538766 h 1554008"/>
                <a:gd name="connsiteX9" fmla="*/ 34249 w 1199990"/>
                <a:gd name="connsiteY9" fmla="*/ 1513313 h 1554008"/>
                <a:gd name="connsiteX10" fmla="*/ 10931 w 1199990"/>
                <a:gd name="connsiteY10" fmla="*/ 1470965 h 1554008"/>
                <a:gd name="connsiteX11" fmla="*/ 34249 w 1199990"/>
                <a:gd name="connsiteY11" fmla="*/ 1364948 h 1554008"/>
                <a:gd name="connsiteX12" fmla="*/ 782459 w 1199990"/>
                <a:gd name="connsiteY12" fmla="*/ 74183 h 1554008"/>
                <a:gd name="connsiteX13" fmla="*/ 862975 w 1199990"/>
                <a:gd name="connsiteY13" fmla="*/ 0 h 1554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90" h="1554008">
                  <a:moveTo>
                    <a:pt x="862975" y="0"/>
                  </a:moveTo>
                  <a:lnTo>
                    <a:pt x="911724" y="0"/>
                  </a:lnTo>
                  <a:cubicBezTo>
                    <a:pt x="958360" y="0"/>
                    <a:pt x="996546" y="42421"/>
                    <a:pt x="992240" y="89048"/>
                  </a:cubicBezTo>
                  <a:cubicBezTo>
                    <a:pt x="975340" y="279763"/>
                    <a:pt x="930817" y="462065"/>
                    <a:pt x="865087" y="633708"/>
                  </a:cubicBezTo>
                  <a:cubicBezTo>
                    <a:pt x="867200" y="633708"/>
                    <a:pt x="869312" y="633708"/>
                    <a:pt x="871425" y="633708"/>
                  </a:cubicBezTo>
                  <a:cubicBezTo>
                    <a:pt x="1051632" y="633708"/>
                    <a:pt x="1197878" y="779970"/>
                    <a:pt x="1199990" y="957994"/>
                  </a:cubicBezTo>
                  <a:cubicBezTo>
                    <a:pt x="1199990" y="1140297"/>
                    <a:pt x="1051632" y="1286559"/>
                    <a:pt x="871506" y="1286559"/>
                  </a:cubicBezTo>
                  <a:cubicBezTo>
                    <a:pt x="750691" y="1286559"/>
                    <a:pt x="644663" y="1220861"/>
                    <a:pt x="587464" y="1123328"/>
                  </a:cubicBezTo>
                  <a:cubicBezTo>
                    <a:pt x="462424" y="1282281"/>
                    <a:pt x="316179" y="1422162"/>
                    <a:pt x="150840" y="1538766"/>
                  </a:cubicBezTo>
                  <a:cubicBezTo>
                    <a:pt x="112734" y="1566322"/>
                    <a:pt x="57567" y="1555735"/>
                    <a:pt x="34249" y="1513313"/>
                  </a:cubicBezTo>
                  <a:lnTo>
                    <a:pt x="10931" y="1470965"/>
                  </a:lnTo>
                  <a:cubicBezTo>
                    <a:pt x="-10274" y="1434925"/>
                    <a:pt x="369" y="1388298"/>
                    <a:pt x="34249" y="1364948"/>
                  </a:cubicBezTo>
                  <a:cubicBezTo>
                    <a:pt x="449668" y="1074598"/>
                    <a:pt x="735822" y="608328"/>
                    <a:pt x="782459" y="74183"/>
                  </a:cubicBezTo>
                  <a:cubicBezTo>
                    <a:pt x="786684" y="31762"/>
                    <a:pt x="820564" y="0"/>
                    <a:pt x="862975" y="0"/>
                  </a:cubicBezTo>
                  <a:close/>
                </a:path>
              </a:pathLst>
            </a:custGeom>
            <a:solidFill>
              <a:srgbClr val="278CC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2690544E-1C30-A046-5D74-1F8582E38D1E}"/>
                </a:ext>
              </a:extLst>
            </p:cNvPr>
            <p:cNvSpPr/>
            <p:nvPr/>
          </p:nvSpPr>
          <p:spPr>
            <a:xfrm>
              <a:off x="8334187" y="4010361"/>
              <a:ext cx="341103" cy="486554"/>
            </a:xfrm>
            <a:custGeom>
              <a:avLst/>
              <a:gdLst>
                <a:gd name="connsiteX0" fmla="*/ 82340 w 399037"/>
                <a:gd name="connsiteY0" fmla="*/ 0 h 569192"/>
                <a:gd name="connsiteX1" fmla="*/ 90838 w 399037"/>
                <a:gd name="connsiteY1" fmla="*/ 0 h 569192"/>
                <a:gd name="connsiteX2" fmla="*/ 169243 w 399037"/>
                <a:gd name="connsiteY2" fmla="*/ 65721 h 569192"/>
                <a:gd name="connsiteX3" fmla="*/ 249813 w 399037"/>
                <a:gd name="connsiteY3" fmla="*/ 267075 h 569192"/>
                <a:gd name="connsiteX4" fmla="*/ 372712 w 399037"/>
                <a:gd name="connsiteY4" fmla="*/ 419679 h 569192"/>
                <a:gd name="connsiteX5" fmla="*/ 389708 w 399037"/>
                <a:gd name="connsiteY5" fmla="*/ 521439 h 569192"/>
                <a:gd name="connsiteX6" fmla="*/ 385459 w 399037"/>
                <a:gd name="connsiteY6" fmla="*/ 527794 h 569192"/>
                <a:gd name="connsiteX7" fmla="*/ 258230 w 399037"/>
                <a:gd name="connsiteY7" fmla="*/ 546861 h 569192"/>
                <a:gd name="connsiteX8" fmla="*/ 1770 w 399037"/>
                <a:gd name="connsiteY8" fmla="*/ 99665 h 569192"/>
                <a:gd name="connsiteX9" fmla="*/ 82340 w 399037"/>
                <a:gd name="connsiteY9" fmla="*/ 0 h 569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037" h="569192">
                  <a:moveTo>
                    <a:pt x="82340" y="0"/>
                  </a:moveTo>
                  <a:lnTo>
                    <a:pt x="90838" y="0"/>
                  </a:lnTo>
                  <a:cubicBezTo>
                    <a:pt x="128998" y="0"/>
                    <a:pt x="160745" y="27588"/>
                    <a:pt x="169243" y="65721"/>
                  </a:cubicBezTo>
                  <a:cubicBezTo>
                    <a:pt x="186159" y="137798"/>
                    <a:pt x="213737" y="205614"/>
                    <a:pt x="249813" y="267075"/>
                  </a:cubicBezTo>
                  <a:cubicBezTo>
                    <a:pt x="283724" y="322180"/>
                    <a:pt x="323969" y="375190"/>
                    <a:pt x="372712" y="419679"/>
                  </a:cubicBezTo>
                  <a:cubicBezTo>
                    <a:pt x="400290" y="445101"/>
                    <a:pt x="406623" y="487495"/>
                    <a:pt x="389708" y="521439"/>
                  </a:cubicBezTo>
                  <a:lnTo>
                    <a:pt x="385459" y="527794"/>
                  </a:lnTo>
                  <a:cubicBezTo>
                    <a:pt x="357880" y="574449"/>
                    <a:pt x="296391" y="582899"/>
                    <a:pt x="258230" y="546861"/>
                  </a:cubicBezTo>
                  <a:cubicBezTo>
                    <a:pt x="131082" y="428201"/>
                    <a:pt x="39930" y="273430"/>
                    <a:pt x="1770" y="99665"/>
                  </a:cubicBezTo>
                  <a:cubicBezTo>
                    <a:pt x="-8812" y="48749"/>
                    <a:pt x="29348" y="0"/>
                    <a:pt x="82340"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3FCE75C9-714B-DF2D-20BE-9119344C02EB}"/>
                </a:ext>
              </a:extLst>
            </p:cNvPr>
            <p:cNvSpPr/>
            <p:nvPr/>
          </p:nvSpPr>
          <p:spPr>
            <a:xfrm>
              <a:off x="8795586" y="4495388"/>
              <a:ext cx="541088" cy="179233"/>
            </a:xfrm>
            <a:custGeom>
              <a:avLst/>
              <a:gdLst>
                <a:gd name="connsiteX0" fmla="*/ 79647 w 632989"/>
                <a:gd name="connsiteY0" fmla="*/ 7 h 209675"/>
                <a:gd name="connsiteX1" fmla="*/ 102057 w 632989"/>
                <a:gd name="connsiteY1" fmla="*/ 4073 h 209675"/>
                <a:gd name="connsiteX2" fmla="*/ 322436 w 632989"/>
                <a:gd name="connsiteY2" fmla="*/ 40145 h 209675"/>
                <a:gd name="connsiteX3" fmla="*/ 521697 w 632989"/>
                <a:gd name="connsiteY3" fmla="*/ 10488 h 209675"/>
                <a:gd name="connsiteX4" fmla="*/ 621327 w 632989"/>
                <a:gd name="connsiteY4" fmla="*/ 48559 h 209675"/>
                <a:gd name="connsiteX5" fmla="*/ 572547 w 632989"/>
                <a:gd name="connsiteY5" fmla="*/ 171520 h 209675"/>
                <a:gd name="connsiteX6" fmla="*/ 320366 w 632989"/>
                <a:gd name="connsiteY6" fmla="*/ 209675 h 209675"/>
                <a:gd name="connsiteX7" fmla="*/ 53277 w 632989"/>
                <a:gd name="connsiteY7" fmla="*/ 167272 h 209675"/>
                <a:gd name="connsiteX8" fmla="*/ 10875 w 632989"/>
                <a:gd name="connsiteY8" fmla="*/ 48559 h 209675"/>
                <a:gd name="connsiteX9" fmla="*/ 23629 w 632989"/>
                <a:gd name="connsiteY9" fmla="*/ 29482 h 209675"/>
                <a:gd name="connsiteX10" fmla="*/ 79647 w 632989"/>
                <a:gd name="connsiteY10" fmla="*/ 7 h 20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2989" h="209675">
                  <a:moveTo>
                    <a:pt x="79647" y="7"/>
                  </a:moveTo>
                  <a:cubicBezTo>
                    <a:pt x="87067" y="106"/>
                    <a:pt x="94624" y="1428"/>
                    <a:pt x="102057" y="4073"/>
                  </a:cubicBezTo>
                  <a:cubicBezTo>
                    <a:pt x="171956" y="27399"/>
                    <a:pt x="246161" y="40145"/>
                    <a:pt x="322436" y="40145"/>
                  </a:cubicBezTo>
                  <a:cubicBezTo>
                    <a:pt x="392418" y="40145"/>
                    <a:pt x="460246" y="29482"/>
                    <a:pt x="521697" y="10488"/>
                  </a:cubicBezTo>
                  <a:cubicBezTo>
                    <a:pt x="559876" y="-175"/>
                    <a:pt x="600125" y="14653"/>
                    <a:pt x="621327" y="48559"/>
                  </a:cubicBezTo>
                  <a:cubicBezTo>
                    <a:pt x="648905" y="95211"/>
                    <a:pt x="625550" y="156692"/>
                    <a:pt x="572547" y="171520"/>
                  </a:cubicBezTo>
                  <a:cubicBezTo>
                    <a:pt x="492048" y="196929"/>
                    <a:pt x="409395" y="209675"/>
                    <a:pt x="320366" y="209675"/>
                  </a:cubicBezTo>
                  <a:cubicBezTo>
                    <a:pt x="227113" y="209675"/>
                    <a:pt x="138083" y="194846"/>
                    <a:pt x="53277" y="167272"/>
                  </a:cubicBezTo>
                  <a:cubicBezTo>
                    <a:pt x="6651" y="150360"/>
                    <a:pt x="-14551" y="93128"/>
                    <a:pt x="10875" y="48559"/>
                  </a:cubicBezTo>
                  <a:lnTo>
                    <a:pt x="23629" y="29482"/>
                  </a:lnTo>
                  <a:cubicBezTo>
                    <a:pt x="36362" y="10425"/>
                    <a:pt x="57388" y="-290"/>
                    <a:pt x="79647" y="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19B091D5-3D5F-6536-ABD1-BAB9C6E49EC9}"/>
                </a:ext>
              </a:extLst>
            </p:cNvPr>
            <p:cNvSpPr/>
            <p:nvPr/>
          </p:nvSpPr>
          <p:spPr>
            <a:xfrm>
              <a:off x="8312855" y="5282044"/>
              <a:ext cx="1506552" cy="724559"/>
            </a:xfrm>
            <a:custGeom>
              <a:avLst/>
              <a:gdLst>
                <a:gd name="connsiteX0" fmla="*/ 110196 w 1762431"/>
                <a:gd name="connsiteY0" fmla="*/ 187 h 847621"/>
                <a:gd name="connsiteX1" fmla="*/ 141082 w 1762431"/>
                <a:gd name="connsiteY1" fmla="*/ 8303 h 847621"/>
                <a:gd name="connsiteX2" fmla="*/ 887191 w 1762431"/>
                <a:gd name="connsiteY2" fmla="*/ 173668 h 847621"/>
                <a:gd name="connsiteX3" fmla="*/ 1622615 w 1762431"/>
                <a:gd name="connsiteY3" fmla="*/ 12552 h 847621"/>
                <a:gd name="connsiteX4" fmla="*/ 1730776 w 1762431"/>
                <a:gd name="connsiteY4" fmla="*/ 46458 h 847621"/>
                <a:gd name="connsiteX5" fmla="*/ 1751894 w 1762431"/>
                <a:gd name="connsiteY5" fmla="*/ 82530 h 847621"/>
                <a:gd name="connsiteX6" fmla="*/ 1715868 w 1762431"/>
                <a:gd name="connsiteY6" fmla="*/ 203325 h 847621"/>
                <a:gd name="connsiteX7" fmla="*/ 1181774 w 1762431"/>
                <a:gd name="connsiteY7" fmla="*/ 362275 h 847621"/>
                <a:gd name="connsiteX8" fmla="*/ 1222024 w 1762431"/>
                <a:gd name="connsiteY8" fmla="*/ 519142 h 847621"/>
                <a:gd name="connsiteX9" fmla="*/ 893568 w 1762431"/>
                <a:gd name="connsiteY9" fmla="*/ 847621 h 847621"/>
                <a:gd name="connsiteX10" fmla="*/ 565028 w 1762431"/>
                <a:gd name="connsiteY10" fmla="*/ 519142 h 847621"/>
                <a:gd name="connsiteX11" fmla="*/ 605278 w 1762431"/>
                <a:gd name="connsiteY11" fmla="*/ 362275 h 847621"/>
                <a:gd name="connsiteX12" fmla="*/ 49982 w 1762431"/>
                <a:gd name="connsiteY12" fmla="*/ 196910 h 847621"/>
                <a:gd name="connsiteX13" fmla="*/ 11803 w 1762431"/>
                <a:gd name="connsiteY13" fmla="*/ 78281 h 847621"/>
                <a:gd name="connsiteX14" fmla="*/ 33005 w 1762431"/>
                <a:gd name="connsiteY14" fmla="*/ 42209 h 847621"/>
                <a:gd name="connsiteX15" fmla="*/ 110196 w 1762431"/>
                <a:gd name="connsiteY15" fmla="*/ 187 h 84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62431" h="847621">
                  <a:moveTo>
                    <a:pt x="110196" y="187"/>
                  </a:moveTo>
                  <a:cubicBezTo>
                    <a:pt x="120559" y="884"/>
                    <a:pt x="131020" y="3534"/>
                    <a:pt x="141082" y="8303"/>
                  </a:cubicBezTo>
                  <a:cubicBezTo>
                    <a:pt x="367921" y="114270"/>
                    <a:pt x="620102" y="173668"/>
                    <a:pt x="887191" y="173668"/>
                  </a:cubicBezTo>
                  <a:cubicBezTo>
                    <a:pt x="1149972" y="173668"/>
                    <a:pt x="1398013" y="116436"/>
                    <a:pt x="1622615" y="12552"/>
                  </a:cubicBezTo>
                  <a:cubicBezTo>
                    <a:pt x="1662948" y="-6525"/>
                    <a:pt x="1709574" y="8303"/>
                    <a:pt x="1730776" y="46458"/>
                  </a:cubicBezTo>
                  <a:lnTo>
                    <a:pt x="1751894" y="82530"/>
                  </a:lnTo>
                  <a:cubicBezTo>
                    <a:pt x="1775249" y="127016"/>
                    <a:pt x="1758271" y="182082"/>
                    <a:pt x="1715868" y="203325"/>
                  </a:cubicBezTo>
                  <a:cubicBezTo>
                    <a:pt x="1548410" y="279634"/>
                    <a:pt x="1370434" y="334700"/>
                    <a:pt x="1181774" y="362275"/>
                  </a:cubicBezTo>
                  <a:cubicBezTo>
                    <a:pt x="1207200" y="408927"/>
                    <a:pt x="1222024" y="461910"/>
                    <a:pt x="1222024" y="519142"/>
                  </a:cubicBezTo>
                  <a:cubicBezTo>
                    <a:pt x="1222024" y="701417"/>
                    <a:pt x="1073697" y="847621"/>
                    <a:pt x="893568" y="847621"/>
                  </a:cubicBezTo>
                  <a:cubicBezTo>
                    <a:pt x="711285" y="847621"/>
                    <a:pt x="565028" y="699251"/>
                    <a:pt x="565028" y="519142"/>
                  </a:cubicBezTo>
                  <a:cubicBezTo>
                    <a:pt x="565028" y="461910"/>
                    <a:pt x="579853" y="408927"/>
                    <a:pt x="605278" y="362275"/>
                  </a:cubicBezTo>
                  <a:cubicBezTo>
                    <a:pt x="410241" y="334700"/>
                    <a:pt x="223735" y="277468"/>
                    <a:pt x="49982" y="196910"/>
                  </a:cubicBezTo>
                  <a:cubicBezTo>
                    <a:pt x="3356" y="175750"/>
                    <a:pt x="-13622" y="120601"/>
                    <a:pt x="11803" y="78281"/>
                  </a:cubicBezTo>
                  <a:lnTo>
                    <a:pt x="33005" y="42209"/>
                  </a:lnTo>
                  <a:cubicBezTo>
                    <a:pt x="48906" y="13594"/>
                    <a:pt x="79109" y="-1901"/>
                    <a:pt x="110196" y="187"/>
                  </a:cubicBezTo>
                  <a:close/>
                </a:path>
              </a:pathLst>
            </a:custGeom>
            <a:solidFill>
              <a:srgbClr val="FFCC1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TextBox 38">
              <a:extLst>
                <a:ext uri="{FF2B5EF4-FFF2-40B4-BE49-F238E27FC236}">
                  <a16:creationId xmlns:a16="http://schemas.microsoft.com/office/drawing/2014/main" id="{7B95D373-97B3-99A7-6E26-7CD2A2E55FAC}"/>
                </a:ext>
              </a:extLst>
            </p:cNvPr>
            <p:cNvSpPr txBox="1"/>
            <p:nvPr/>
          </p:nvSpPr>
          <p:spPr>
            <a:xfrm>
              <a:off x="8826718" y="1948891"/>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t>01</a:t>
              </a:r>
            </a:p>
          </p:txBody>
        </p:sp>
        <p:sp>
          <p:nvSpPr>
            <p:cNvPr id="47" name="TextBox 39">
              <a:extLst>
                <a:ext uri="{FF2B5EF4-FFF2-40B4-BE49-F238E27FC236}">
                  <a16:creationId xmlns:a16="http://schemas.microsoft.com/office/drawing/2014/main" id="{D81258CE-CE34-101E-DC06-EA027CB8984F}"/>
                </a:ext>
              </a:extLst>
            </p:cNvPr>
            <p:cNvSpPr txBox="1"/>
            <p:nvPr/>
          </p:nvSpPr>
          <p:spPr>
            <a:xfrm>
              <a:off x="10388819" y="2854642"/>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solidFill>
                    <a:schemeClr val="bg1"/>
                  </a:solidFill>
                </a:rPr>
                <a:t>02</a:t>
              </a:r>
            </a:p>
          </p:txBody>
        </p:sp>
        <p:sp>
          <p:nvSpPr>
            <p:cNvPr id="48" name="TextBox 40">
              <a:extLst>
                <a:ext uri="{FF2B5EF4-FFF2-40B4-BE49-F238E27FC236}">
                  <a16:creationId xmlns:a16="http://schemas.microsoft.com/office/drawing/2014/main" id="{C53CA656-6215-7FF3-49FF-C3F5D0F537F5}"/>
                </a:ext>
              </a:extLst>
            </p:cNvPr>
            <p:cNvSpPr txBox="1"/>
            <p:nvPr/>
          </p:nvSpPr>
          <p:spPr>
            <a:xfrm>
              <a:off x="10368804" y="4655396"/>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t>03</a:t>
              </a:r>
            </a:p>
          </p:txBody>
        </p:sp>
        <p:sp>
          <p:nvSpPr>
            <p:cNvPr id="49" name="TextBox 41">
              <a:extLst>
                <a:ext uri="{FF2B5EF4-FFF2-40B4-BE49-F238E27FC236}">
                  <a16:creationId xmlns:a16="http://schemas.microsoft.com/office/drawing/2014/main" id="{6FB0B2DD-0869-ABDB-D0C8-3C281CB51822}"/>
                </a:ext>
              </a:extLst>
            </p:cNvPr>
            <p:cNvSpPr txBox="1"/>
            <p:nvPr/>
          </p:nvSpPr>
          <p:spPr>
            <a:xfrm>
              <a:off x="8826718" y="5574953"/>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t>04</a:t>
              </a:r>
            </a:p>
          </p:txBody>
        </p:sp>
        <p:sp>
          <p:nvSpPr>
            <p:cNvPr id="50" name="TextBox 42">
              <a:extLst>
                <a:ext uri="{FF2B5EF4-FFF2-40B4-BE49-F238E27FC236}">
                  <a16:creationId xmlns:a16="http://schemas.microsoft.com/office/drawing/2014/main" id="{5BEF6E1A-3363-8CF9-24AB-829A2A2E2ED7}"/>
                </a:ext>
              </a:extLst>
            </p:cNvPr>
            <p:cNvSpPr txBox="1"/>
            <p:nvPr/>
          </p:nvSpPr>
          <p:spPr>
            <a:xfrm>
              <a:off x="7240165" y="4655396"/>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solidFill>
                    <a:schemeClr val="bg1"/>
                  </a:solidFill>
                </a:rPr>
                <a:t>05</a:t>
              </a:r>
            </a:p>
          </p:txBody>
        </p:sp>
        <p:sp>
          <p:nvSpPr>
            <p:cNvPr id="51" name="TextBox 43">
              <a:extLst>
                <a:ext uri="{FF2B5EF4-FFF2-40B4-BE49-F238E27FC236}">
                  <a16:creationId xmlns:a16="http://schemas.microsoft.com/office/drawing/2014/main" id="{611C1FA7-6CFC-4A81-522B-8BB198FA1430}"/>
                </a:ext>
              </a:extLst>
            </p:cNvPr>
            <p:cNvSpPr txBox="1"/>
            <p:nvPr/>
          </p:nvSpPr>
          <p:spPr>
            <a:xfrm>
              <a:off x="7236353" y="2870924"/>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solidFill>
                    <a:schemeClr val="bg1"/>
                  </a:solidFill>
                </a:rPr>
                <a:t>06</a:t>
              </a:r>
            </a:p>
          </p:txBody>
        </p:sp>
        <p:pic>
          <p:nvPicPr>
            <p:cNvPr id="52" name="Graphic 30" descr="Bar graph with upward trend with solid fill">
              <a:extLst>
                <a:ext uri="{FF2B5EF4-FFF2-40B4-BE49-F238E27FC236}">
                  <a16:creationId xmlns:a16="http://schemas.microsoft.com/office/drawing/2014/main" id="{347DAF8B-6EDB-8970-CC60-00E86037DB8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68841" y="4181414"/>
              <a:ext cx="508068" cy="508068"/>
            </a:xfrm>
            <a:prstGeom prst="rect">
              <a:avLst/>
            </a:prstGeom>
          </p:spPr>
        </p:pic>
        <p:pic>
          <p:nvPicPr>
            <p:cNvPr id="53" name="Graphic 31" descr="Brainstorm with solid fill">
              <a:extLst>
                <a:ext uri="{FF2B5EF4-FFF2-40B4-BE49-F238E27FC236}">
                  <a16:creationId xmlns:a16="http://schemas.microsoft.com/office/drawing/2014/main" id="{6A8985B6-E143-3D3D-CE40-48E5BB6C67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11082" y="2571130"/>
              <a:ext cx="508068" cy="508068"/>
            </a:xfrm>
            <a:prstGeom prst="rect">
              <a:avLst/>
            </a:prstGeom>
          </p:spPr>
        </p:pic>
        <p:pic>
          <p:nvPicPr>
            <p:cNvPr id="54" name="Graphic 32" descr="Bullseye with solid fill">
              <a:extLst>
                <a:ext uri="{FF2B5EF4-FFF2-40B4-BE49-F238E27FC236}">
                  <a16:creationId xmlns:a16="http://schemas.microsoft.com/office/drawing/2014/main" id="{6B56DFDA-CF87-3372-1D90-9C98C404143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05831" y="4815672"/>
              <a:ext cx="508068" cy="508068"/>
            </a:xfrm>
            <a:prstGeom prst="rect">
              <a:avLst/>
            </a:prstGeom>
          </p:spPr>
        </p:pic>
        <p:pic>
          <p:nvPicPr>
            <p:cNvPr id="55" name="Graphic 33" descr="Database with solid fill">
              <a:extLst>
                <a:ext uri="{FF2B5EF4-FFF2-40B4-BE49-F238E27FC236}">
                  <a16:creationId xmlns:a16="http://schemas.microsoft.com/office/drawing/2014/main" id="{FEAF7511-287E-FE6E-8543-D6791D9AA4A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92963" y="4181414"/>
              <a:ext cx="508068" cy="508068"/>
            </a:xfrm>
            <a:prstGeom prst="rect">
              <a:avLst/>
            </a:prstGeom>
          </p:spPr>
        </p:pic>
        <p:pic>
          <p:nvPicPr>
            <p:cNvPr id="56" name="Graphic 34" descr="Gears with solid fill">
              <a:extLst>
                <a:ext uri="{FF2B5EF4-FFF2-40B4-BE49-F238E27FC236}">
                  <a16:creationId xmlns:a16="http://schemas.microsoft.com/office/drawing/2014/main" id="{AFE42640-D4FB-951F-3C67-1935C865BE3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792963" y="3109509"/>
              <a:ext cx="508068" cy="508068"/>
            </a:xfrm>
            <a:prstGeom prst="rect">
              <a:avLst/>
            </a:prstGeom>
          </p:spPr>
        </p:pic>
        <p:pic>
          <p:nvPicPr>
            <p:cNvPr id="57" name="Graphic 36" descr="Lightbulb with solid fill">
              <a:extLst>
                <a:ext uri="{FF2B5EF4-FFF2-40B4-BE49-F238E27FC236}">
                  <a16:creationId xmlns:a16="http://schemas.microsoft.com/office/drawing/2014/main" id="{B58193A2-03A7-93C3-18A0-FB24F044952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761328" y="3109509"/>
              <a:ext cx="508068" cy="508068"/>
            </a:xfrm>
            <a:prstGeom prst="rect">
              <a:avLst/>
            </a:prstGeom>
          </p:spPr>
        </p:pic>
        <p:sp>
          <p:nvSpPr>
            <p:cNvPr id="60" name="TextBox 59">
              <a:extLst>
                <a:ext uri="{FF2B5EF4-FFF2-40B4-BE49-F238E27FC236}">
                  <a16:creationId xmlns:a16="http://schemas.microsoft.com/office/drawing/2014/main" id="{30967849-6CA7-7E06-0611-A23755984B60}"/>
                </a:ext>
              </a:extLst>
            </p:cNvPr>
            <p:cNvSpPr txBox="1"/>
            <p:nvPr/>
          </p:nvSpPr>
          <p:spPr>
            <a:xfrm>
              <a:off x="8595005" y="3622563"/>
              <a:ext cx="1033617" cy="584775"/>
            </a:xfrm>
            <a:prstGeom prst="rect">
              <a:avLst/>
            </a:prstGeom>
            <a:noFill/>
          </p:spPr>
          <p:txBody>
            <a:bodyPr wrap="none" lIns="0" rtlCol="0">
              <a:spAutoFit/>
            </a:bodyPr>
            <a:lstStyle>
              <a:defPPr>
                <a:defRPr lang="en-US"/>
              </a:defPPr>
              <a:lvl1pPr>
                <a:defRPr sz="1200"/>
              </a:lvl1pPr>
            </a:lstStyle>
            <a:p>
              <a:pPr marL="4763" lvl="1" algn="ctr">
                <a:spcAft>
                  <a:spcPts val="1200"/>
                </a:spcAft>
              </a:pPr>
              <a:r>
                <a:rPr lang="en-US" sz="1600" b="1" dirty="0"/>
                <a:t>Cloud</a:t>
              </a:r>
              <a:br>
                <a:rPr lang="en-US" sz="1600" b="1" dirty="0"/>
              </a:br>
              <a:r>
                <a:rPr lang="en-US" sz="1600" b="1" dirty="0"/>
                <a:t>Computing</a:t>
              </a:r>
              <a:endParaRPr lang="en-US" sz="1600" dirty="0"/>
            </a:p>
          </p:txBody>
        </p:sp>
        <p:sp>
          <p:nvSpPr>
            <p:cNvPr id="1024" name="TextBox 1023">
              <a:extLst>
                <a:ext uri="{FF2B5EF4-FFF2-40B4-BE49-F238E27FC236}">
                  <a16:creationId xmlns:a16="http://schemas.microsoft.com/office/drawing/2014/main" id="{04683BCD-8C81-4D13-2E37-1F498C09CFED}"/>
                </a:ext>
              </a:extLst>
            </p:cNvPr>
            <p:cNvSpPr txBox="1"/>
            <p:nvPr/>
          </p:nvSpPr>
          <p:spPr>
            <a:xfrm>
              <a:off x="9439295" y="1830988"/>
              <a:ext cx="906275" cy="338554"/>
            </a:xfrm>
            <a:prstGeom prst="rect">
              <a:avLst/>
            </a:prstGeom>
            <a:noFill/>
          </p:spPr>
          <p:txBody>
            <a:bodyPr wrap="none" lIns="0" rtlCol="0">
              <a:spAutoFit/>
            </a:bodyPr>
            <a:lstStyle>
              <a:defPPr>
                <a:defRPr lang="en-US"/>
              </a:defPPr>
              <a:lvl1pPr>
                <a:defRPr sz="1200"/>
              </a:lvl1pPr>
            </a:lstStyle>
            <a:p>
              <a:pPr marL="4763" lvl="1" algn="ctr">
                <a:spcAft>
                  <a:spcPts val="1200"/>
                </a:spcAft>
              </a:pPr>
              <a:r>
                <a:rPr lang="en-US" sz="1600" b="1" dirty="0"/>
                <a:t>Efficiency</a:t>
              </a:r>
              <a:endParaRPr lang="en-US" sz="1600" dirty="0"/>
            </a:p>
          </p:txBody>
        </p:sp>
        <p:sp>
          <p:nvSpPr>
            <p:cNvPr id="1025" name="TextBox 1024">
              <a:extLst>
                <a:ext uri="{FF2B5EF4-FFF2-40B4-BE49-F238E27FC236}">
                  <a16:creationId xmlns:a16="http://schemas.microsoft.com/office/drawing/2014/main" id="{81F8DEA5-4038-481E-3D72-76E4780B93FD}"/>
                </a:ext>
              </a:extLst>
            </p:cNvPr>
            <p:cNvSpPr txBox="1"/>
            <p:nvPr/>
          </p:nvSpPr>
          <p:spPr>
            <a:xfrm>
              <a:off x="10734373" y="3273275"/>
              <a:ext cx="1089722" cy="338554"/>
            </a:xfrm>
            <a:prstGeom prst="rect">
              <a:avLst/>
            </a:prstGeom>
            <a:noFill/>
          </p:spPr>
          <p:txBody>
            <a:bodyPr wrap="none" lIns="0" rtlCol="0">
              <a:spAutoFit/>
            </a:bodyPr>
            <a:lstStyle>
              <a:defPPr>
                <a:defRPr lang="en-US"/>
              </a:defPPr>
              <a:lvl1pPr>
                <a:defRPr sz="1200"/>
              </a:lvl1pPr>
            </a:lstStyle>
            <a:p>
              <a:pPr marL="4763" lvl="1" algn="ctr">
                <a:spcAft>
                  <a:spcPts val="1200"/>
                </a:spcAft>
              </a:pPr>
              <a:r>
                <a:rPr lang="en-US" sz="1600" b="1" dirty="0"/>
                <a:t>Accessibilty</a:t>
              </a:r>
              <a:endParaRPr lang="en-US" sz="1600" dirty="0"/>
            </a:p>
          </p:txBody>
        </p:sp>
        <p:sp>
          <p:nvSpPr>
            <p:cNvPr id="1027" name="TextBox 1026">
              <a:extLst>
                <a:ext uri="{FF2B5EF4-FFF2-40B4-BE49-F238E27FC236}">
                  <a16:creationId xmlns:a16="http://schemas.microsoft.com/office/drawing/2014/main" id="{C5C38DAC-5032-D80F-5EDB-CE5B7D24F0B7}"/>
                </a:ext>
              </a:extLst>
            </p:cNvPr>
            <p:cNvSpPr txBox="1"/>
            <p:nvPr/>
          </p:nvSpPr>
          <p:spPr>
            <a:xfrm>
              <a:off x="10310772" y="5132420"/>
              <a:ext cx="1288494" cy="338554"/>
            </a:xfrm>
            <a:prstGeom prst="rect">
              <a:avLst/>
            </a:prstGeom>
            <a:noFill/>
          </p:spPr>
          <p:txBody>
            <a:bodyPr wrap="none" lIns="0" rtlCol="0">
              <a:spAutoFit/>
            </a:bodyPr>
            <a:lstStyle>
              <a:defPPr>
                <a:defRPr lang="en-US"/>
              </a:defPPr>
              <a:lvl1pPr>
                <a:defRPr sz="1200"/>
              </a:lvl1pPr>
            </a:lstStyle>
            <a:p>
              <a:pPr marL="4763" lvl="1" algn="ctr">
                <a:spcAft>
                  <a:spcPts val="1200"/>
                </a:spcAft>
              </a:pPr>
              <a:r>
                <a:rPr lang="en-US" sz="1600" b="1" dirty="0"/>
                <a:t>Opportunities</a:t>
              </a:r>
              <a:endParaRPr lang="en-US" sz="1600" dirty="0"/>
            </a:p>
          </p:txBody>
        </p:sp>
        <p:sp>
          <p:nvSpPr>
            <p:cNvPr id="1028" name="TextBox 1027">
              <a:extLst>
                <a:ext uri="{FF2B5EF4-FFF2-40B4-BE49-F238E27FC236}">
                  <a16:creationId xmlns:a16="http://schemas.microsoft.com/office/drawing/2014/main" id="{C4AF6680-9893-AB37-32F8-8F0CA584924C}"/>
                </a:ext>
              </a:extLst>
            </p:cNvPr>
            <p:cNvSpPr txBox="1"/>
            <p:nvPr/>
          </p:nvSpPr>
          <p:spPr>
            <a:xfrm>
              <a:off x="8572047" y="5924148"/>
              <a:ext cx="1018485" cy="338554"/>
            </a:xfrm>
            <a:prstGeom prst="rect">
              <a:avLst/>
            </a:prstGeom>
            <a:noFill/>
          </p:spPr>
          <p:txBody>
            <a:bodyPr wrap="square" lIns="0" rIns="36000" rtlCol="0">
              <a:spAutoFit/>
            </a:bodyPr>
            <a:lstStyle>
              <a:defPPr>
                <a:defRPr lang="en-US"/>
              </a:defPPr>
              <a:lvl1pPr>
                <a:defRPr sz="1200"/>
              </a:lvl1pPr>
            </a:lstStyle>
            <a:p>
              <a:pPr marL="4763" lvl="1" algn="ctr">
                <a:spcAft>
                  <a:spcPts val="1200"/>
                </a:spcAft>
              </a:pPr>
              <a:r>
                <a:rPr lang="en-US" sz="1600" b="1" dirty="0"/>
                <a:t>Innovation</a:t>
              </a:r>
              <a:endParaRPr lang="en-US" sz="1600" dirty="0"/>
            </a:p>
          </p:txBody>
        </p:sp>
        <p:sp>
          <p:nvSpPr>
            <p:cNvPr id="1029" name="TextBox 1028">
              <a:extLst>
                <a:ext uri="{FF2B5EF4-FFF2-40B4-BE49-F238E27FC236}">
                  <a16:creationId xmlns:a16="http://schemas.microsoft.com/office/drawing/2014/main" id="{1101C879-8C19-8AE2-8577-BF72DAD9ED5F}"/>
                </a:ext>
              </a:extLst>
            </p:cNvPr>
            <p:cNvSpPr txBox="1"/>
            <p:nvPr/>
          </p:nvSpPr>
          <p:spPr>
            <a:xfrm>
              <a:off x="6914704" y="5132420"/>
              <a:ext cx="1018485" cy="338554"/>
            </a:xfrm>
            <a:prstGeom prst="rect">
              <a:avLst/>
            </a:prstGeom>
            <a:noFill/>
          </p:spPr>
          <p:txBody>
            <a:bodyPr wrap="square" lIns="0" rIns="36000" rtlCol="0">
              <a:spAutoFit/>
            </a:bodyPr>
            <a:lstStyle>
              <a:defPPr>
                <a:defRPr lang="en-US"/>
              </a:defPPr>
              <a:lvl1pPr>
                <a:defRPr sz="1200"/>
              </a:lvl1pPr>
            </a:lstStyle>
            <a:p>
              <a:pPr marL="4763" lvl="1" algn="ctr">
                <a:spcAft>
                  <a:spcPts val="1200"/>
                </a:spcAft>
              </a:pPr>
              <a:r>
                <a:rPr lang="en-US" sz="1600" b="1" dirty="0"/>
                <a:t>Flexibility</a:t>
              </a:r>
              <a:endParaRPr lang="en-US" sz="1600" dirty="0"/>
            </a:p>
          </p:txBody>
        </p:sp>
        <p:sp>
          <p:nvSpPr>
            <p:cNvPr id="1030" name="TextBox 1029">
              <a:extLst>
                <a:ext uri="{FF2B5EF4-FFF2-40B4-BE49-F238E27FC236}">
                  <a16:creationId xmlns:a16="http://schemas.microsoft.com/office/drawing/2014/main" id="{70A93A7A-4A9C-42E9-481F-0859872EEE95}"/>
                </a:ext>
              </a:extLst>
            </p:cNvPr>
            <p:cNvSpPr txBox="1"/>
            <p:nvPr/>
          </p:nvSpPr>
          <p:spPr>
            <a:xfrm>
              <a:off x="6381721" y="3273274"/>
              <a:ext cx="1018485" cy="338554"/>
            </a:xfrm>
            <a:prstGeom prst="rect">
              <a:avLst/>
            </a:prstGeom>
            <a:noFill/>
          </p:spPr>
          <p:txBody>
            <a:bodyPr wrap="square" lIns="0" rIns="36000" rtlCol="0">
              <a:spAutoFit/>
            </a:bodyPr>
            <a:lstStyle>
              <a:defPPr>
                <a:defRPr lang="en-US"/>
              </a:defPPr>
              <a:lvl1pPr>
                <a:defRPr sz="1200"/>
              </a:lvl1pPr>
            </a:lstStyle>
            <a:p>
              <a:pPr marL="4763" lvl="1" algn="r">
                <a:spcAft>
                  <a:spcPts val="1200"/>
                </a:spcAft>
              </a:pPr>
              <a:r>
                <a:rPr lang="en-US" sz="1600" b="1" dirty="0"/>
                <a:t>Saving</a:t>
              </a:r>
              <a:endParaRPr lang="en-US" sz="1600" dirty="0"/>
            </a:p>
          </p:txBody>
        </p:sp>
      </p:grpSp>
      <p:sp>
        <p:nvSpPr>
          <p:cNvPr id="1032" name="Rectangle: Top Corners Rounded 1031">
            <a:extLst>
              <a:ext uri="{FF2B5EF4-FFF2-40B4-BE49-F238E27FC236}">
                <a16:creationId xmlns:a16="http://schemas.microsoft.com/office/drawing/2014/main" id="{B0596F14-BCA7-4ED4-DDF9-82A54885C846}"/>
              </a:ext>
            </a:extLst>
          </p:cNvPr>
          <p:cNvSpPr/>
          <p:nvPr/>
        </p:nvSpPr>
        <p:spPr>
          <a:xfrm rot="5400000">
            <a:off x="2878362" y="-1132244"/>
            <a:ext cx="169737" cy="5926463"/>
          </a:xfrm>
          <a:prstGeom prst="round2SameRect">
            <a:avLst>
              <a:gd name="adj1" fmla="val 50000"/>
              <a:gd name="adj2" fmla="val 0"/>
            </a:avLst>
          </a:prstGeom>
          <a:solidFill>
            <a:srgbClr val="278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3" name="Rectangle: Diagonal Corners Rounded 1032">
            <a:extLst>
              <a:ext uri="{FF2B5EF4-FFF2-40B4-BE49-F238E27FC236}">
                <a16:creationId xmlns:a16="http://schemas.microsoft.com/office/drawing/2014/main" id="{D2157486-8DFC-7B22-E7C8-6DDE1FBA2882}"/>
              </a:ext>
            </a:extLst>
          </p:cNvPr>
          <p:cNvSpPr/>
          <p:nvPr/>
        </p:nvSpPr>
        <p:spPr>
          <a:xfrm flipH="1">
            <a:off x="482019" y="1595453"/>
            <a:ext cx="4978310" cy="4745746"/>
          </a:xfrm>
          <a:prstGeom prst="round2DiagRect">
            <a:avLst>
              <a:gd name="adj1" fmla="val 4242"/>
              <a:gd name="adj2" fmla="val 0"/>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99F56392-3DD3-FC8A-2177-FF0C436073CC}"/>
              </a:ext>
            </a:extLst>
          </p:cNvPr>
          <p:cNvSpPr txBox="1"/>
          <p:nvPr/>
        </p:nvSpPr>
        <p:spPr>
          <a:xfrm>
            <a:off x="728771" y="1752335"/>
            <a:ext cx="4484806" cy="4431983"/>
          </a:xfrm>
          <a:prstGeom prst="rect">
            <a:avLst/>
          </a:prstGeom>
          <a:noFill/>
        </p:spPr>
        <p:txBody>
          <a:bodyPr wrap="square" lIns="0" rtlCol="0" anchor="ctr">
            <a:spAutoFit/>
          </a:bodyPr>
          <a:lstStyle>
            <a:defPPr>
              <a:defRPr lang="en-US"/>
            </a:defPPr>
            <a:lvl1pPr>
              <a:defRPr sz="1200"/>
            </a:lvl1pPr>
          </a:lstStyle>
          <a:p>
            <a:pPr marL="4763" lvl="1">
              <a:spcAft>
                <a:spcPts val="1200"/>
              </a:spcAft>
            </a:pPr>
            <a:r>
              <a:rPr lang="en-US" sz="1400" b="1" dirty="0">
                <a:solidFill>
                  <a:schemeClr val="tx1">
                    <a:lumMod val="65000"/>
                    <a:lumOff val="35000"/>
                  </a:schemeClr>
                </a:solidFill>
              </a:rPr>
              <a:t>The cloud computing contract should, in addition to the mandatory data processing wording (i.e. that the cloud provider is processing the data upon the instructions of the customer and that the provider will take all technical and </a:t>
            </a:r>
            <a:r>
              <a:rPr lang="en-US" sz="1400" b="1" dirty="0" err="1">
                <a:solidFill>
                  <a:schemeClr val="tx1">
                    <a:lumMod val="65000"/>
                    <a:lumOff val="35000"/>
                  </a:schemeClr>
                </a:solidFill>
              </a:rPr>
              <a:t>organisational</a:t>
            </a:r>
            <a:r>
              <a:rPr lang="en-US" sz="1400" b="1" dirty="0">
                <a:solidFill>
                  <a:schemeClr val="tx1">
                    <a:lumMod val="65000"/>
                    <a:lumOff val="35000"/>
                  </a:schemeClr>
                </a:solidFill>
              </a:rPr>
              <a:t> measures to protect the personal data) also deal with the following topics (among others):</a:t>
            </a:r>
          </a:p>
          <a:p>
            <a:pPr marL="228600" lvl="1" indent="-223838">
              <a:spcAft>
                <a:spcPts val="1200"/>
              </a:spcAft>
              <a:buFont typeface="Arial" pitchFamily="34" charset="0"/>
              <a:buChar char="•"/>
            </a:pPr>
            <a:r>
              <a:rPr lang="en-US" sz="1400" dirty="0">
                <a:solidFill>
                  <a:schemeClr val="tx1">
                    <a:lumMod val="65000"/>
                    <a:lumOff val="35000"/>
                  </a:schemeClr>
                </a:solidFill>
              </a:rPr>
              <a:t>detailed instructions of the customer, including applicable (objective and measurable) service level requirements and penalties for non-compliance therewith;</a:t>
            </a:r>
          </a:p>
          <a:p>
            <a:pPr marL="228600" lvl="1" indent="-223838">
              <a:spcAft>
                <a:spcPts val="1200"/>
              </a:spcAft>
              <a:buFont typeface="Arial" pitchFamily="34" charset="0"/>
              <a:buChar char="•"/>
            </a:pPr>
            <a:r>
              <a:rPr lang="en-US" sz="1400" dirty="0">
                <a:solidFill>
                  <a:schemeClr val="tx1">
                    <a:lumMod val="65000"/>
                    <a:lumOff val="35000"/>
                  </a:schemeClr>
                </a:solidFill>
              </a:rPr>
              <a:t>specification of the security measures used by the cloud provider depending on the risks represented by the processing and the nature of the data. The cloud customer should in particular pay attention that such measures are implemented ensuring availability, integrity and confidentiality of the cloud data;</a:t>
            </a:r>
          </a:p>
          <a:p>
            <a:pPr marL="228600" lvl="1" indent="-223838">
              <a:spcAft>
                <a:spcPts val="1200"/>
              </a:spcAft>
              <a:buFont typeface="Arial" pitchFamily="34" charset="0"/>
              <a:buChar char="•"/>
            </a:pPr>
            <a:r>
              <a:rPr lang="en-US" sz="1400" dirty="0">
                <a:solidFill>
                  <a:schemeClr val="tx1">
                    <a:lumMod val="65000"/>
                    <a:lumOff val="35000"/>
                  </a:schemeClr>
                </a:solidFill>
              </a:rPr>
              <a:t>strong contractual confidentiality obligations for the provider and its staff;</a:t>
            </a:r>
          </a:p>
        </p:txBody>
      </p:sp>
      <p:grpSp>
        <p:nvGrpSpPr>
          <p:cNvPr id="1044" name="Group 1043">
            <a:extLst>
              <a:ext uri="{FF2B5EF4-FFF2-40B4-BE49-F238E27FC236}">
                <a16:creationId xmlns:a16="http://schemas.microsoft.com/office/drawing/2014/main" id="{6455D825-21B1-EF54-5BD4-F93E4A5CD863}"/>
              </a:ext>
            </a:extLst>
          </p:cNvPr>
          <p:cNvGrpSpPr/>
          <p:nvPr/>
        </p:nvGrpSpPr>
        <p:grpSpPr>
          <a:xfrm>
            <a:off x="482019" y="3280000"/>
            <a:ext cx="346708" cy="169738"/>
            <a:chOff x="482019" y="3280000"/>
            <a:chExt cx="346708" cy="169738"/>
          </a:xfrm>
        </p:grpSpPr>
        <p:sp>
          <p:nvSpPr>
            <p:cNvPr id="1037" name="Rectangle 1036">
              <a:extLst>
                <a:ext uri="{FF2B5EF4-FFF2-40B4-BE49-F238E27FC236}">
                  <a16:creationId xmlns:a16="http://schemas.microsoft.com/office/drawing/2014/main" id="{443D9582-0098-84D2-5183-DD11FEBBCCF1}"/>
                </a:ext>
              </a:extLst>
            </p:cNvPr>
            <p:cNvSpPr/>
            <p:nvPr/>
          </p:nvSpPr>
          <p:spPr>
            <a:xfrm>
              <a:off x="482019" y="3327443"/>
              <a:ext cx="269143" cy="69634"/>
            </a:xfrm>
            <a:prstGeom prst="rect">
              <a:avLst/>
            </a:prstGeom>
            <a:solidFill>
              <a:srgbClr val="7FBB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78CCB"/>
                </a:solidFill>
              </a:endParaRPr>
            </a:p>
          </p:txBody>
        </p:sp>
        <p:sp>
          <p:nvSpPr>
            <p:cNvPr id="1038" name="Rectangle: Rounded Corners 1037">
              <a:extLst>
                <a:ext uri="{FF2B5EF4-FFF2-40B4-BE49-F238E27FC236}">
                  <a16:creationId xmlns:a16="http://schemas.microsoft.com/office/drawing/2014/main" id="{127116C3-369E-3B1D-4A60-CF5DE159CDEC}"/>
                </a:ext>
              </a:extLst>
            </p:cNvPr>
            <p:cNvSpPr/>
            <p:nvPr/>
          </p:nvSpPr>
          <p:spPr>
            <a:xfrm rot="2700000">
              <a:off x="658989" y="3280000"/>
              <a:ext cx="169738" cy="169738"/>
            </a:xfrm>
            <a:prstGeom prst="roundRect">
              <a:avLst/>
            </a:prstGeom>
            <a:gradFill flip="none" rotWithShape="1">
              <a:gsLst>
                <a:gs pos="0">
                  <a:srgbClr val="278CCB">
                    <a:shade val="30000"/>
                    <a:satMod val="115000"/>
                  </a:srgbClr>
                </a:gs>
                <a:gs pos="50000">
                  <a:srgbClr val="278CCB">
                    <a:shade val="67500"/>
                    <a:satMod val="115000"/>
                  </a:srgbClr>
                </a:gs>
                <a:gs pos="100000">
                  <a:srgbClr val="278CCB">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045" name="Group 1044">
            <a:extLst>
              <a:ext uri="{FF2B5EF4-FFF2-40B4-BE49-F238E27FC236}">
                <a16:creationId xmlns:a16="http://schemas.microsoft.com/office/drawing/2014/main" id="{221EB999-40CC-B6FD-F7CC-37EF02E47077}"/>
              </a:ext>
            </a:extLst>
          </p:cNvPr>
          <p:cNvGrpSpPr/>
          <p:nvPr/>
        </p:nvGrpSpPr>
        <p:grpSpPr>
          <a:xfrm>
            <a:off x="482019" y="4296967"/>
            <a:ext cx="346708" cy="169738"/>
            <a:chOff x="482019" y="3280000"/>
            <a:chExt cx="346708" cy="169738"/>
          </a:xfrm>
        </p:grpSpPr>
        <p:sp>
          <p:nvSpPr>
            <p:cNvPr id="1046" name="Rectangle 1045">
              <a:extLst>
                <a:ext uri="{FF2B5EF4-FFF2-40B4-BE49-F238E27FC236}">
                  <a16:creationId xmlns:a16="http://schemas.microsoft.com/office/drawing/2014/main" id="{133AEEFC-5E46-86A1-D4BF-307B4B4C5B54}"/>
                </a:ext>
              </a:extLst>
            </p:cNvPr>
            <p:cNvSpPr/>
            <p:nvPr/>
          </p:nvSpPr>
          <p:spPr>
            <a:xfrm>
              <a:off x="482019" y="3327443"/>
              <a:ext cx="269143" cy="69634"/>
            </a:xfrm>
            <a:prstGeom prst="rect">
              <a:avLst/>
            </a:prstGeom>
            <a:solidFill>
              <a:srgbClr val="7FBB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78CCB"/>
                </a:solidFill>
              </a:endParaRPr>
            </a:p>
          </p:txBody>
        </p:sp>
        <p:sp>
          <p:nvSpPr>
            <p:cNvPr id="1047" name="Rectangle: Rounded Corners 1046">
              <a:extLst>
                <a:ext uri="{FF2B5EF4-FFF2-40B4-BE49-F238E27FC236}">
                  <a16:creationId xmlns:a16="http://schemas.microsoft.com/office/drawing/2014/main" id="{81F8B5DE-68EB-80EB-5E90-AD0286F1E832}"/>
                </a:ext>
              </a:extLst>
            </p:cNvPr>
            <p:cNvSpPr/>
            <p:nvPr/>
          </p:nvSpPr>
          <p:spPr>
            <a:xfrm rot="2700000">
              <a:off x="658989" y="3280000"/>
              <a:ext cx="169738" cy="169738"/>
            </a:xfrm>
            <a:prstGeom prst="roundRect">
              <a:avLst/>
            </a:prstGeom>
            <a:gradFill flip="none" rotWithShape="1">
              <a:gsLst>
                <a:gs pos="0">
                  <a:srgbClr val="278CCB">
                    <a:shade val="30000"/>
                    <a:satMod val="115000"/>
                  </a:srgbClr>
                </a:gs>
                <a:gs pos="50000">
                  <a:srgbClr val="278CCB">
                    <a:shade val="67500"/>
                    <a:satMod val="115000"/>
                  </a:srgbClr>
                </a:gs>
                <a:gs pos="100000">
                  <a:srgbClr val="278CCB">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048" name="Group 1047">
            <a:extLst>
              <a:ext uri="{FF2B5EF4-FFF2-40B4-BE49-F238E27FC236}">
                <a16:creationId xmlns:a16="http://schemas.microsoft.com/office/drawing/2014/main" id="{DF0B377C-21F0-770A-5861-51CEF41AAC94}"/>
              </a:ext>
            </a:extLst>
          </p:cNvPr>
          <p:cNvGrpSpPr/>
          <p:nvPr/>
        </p:nvGrpSpPr>
        <p:grpSpPr>
          <a:xfrm>
            <a:off x="482019" y="5715483"/>
            <a:ext cx="346708" cy="169738"/>
            <a:chOff x="482019" y="3280000"/>
            <a:chExt cx="346708" cy="169738"/>
          </a:xfrm>
        </p:grpSpPr>
        <p:sp>
          <p:nvSpPr>
            <p:cNvPr id="1049" name="Rectangle 1048">
              <a:extLst>
                <a:ext uri="{FF2B5EF4-FFF2-40B4-BE49-F238E27FC236}">
                  <a16:creationId xmlns:a16="http://schemas.microsoft.com/office/drawing/2014/main" id="{DDB6BD93-CEDE-3FFC-FC6B-E8108EEDC911}"/>
                </a:ext>
              </a:extLst>
            </p:cNvPr>
            <p:cNvSpPr/>
            <p:nvPr/>
          </p:nvSpPr>
          <p:spPr>
            <a:xfrm>
              <a:off x="482019" y="3327443"/>
              <a:ext cx="269143" cy="69634"/>
            </a:xfrm>
            <a:prstGeom prst="rect">
              <a:avLst/>
            </a:prstGeom>
            <a:solidFill>
              <a:srgbClr val="7FBB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78CCB"/>
                </a:solidFill>
              </a:endParaRPr>
            </a:p>
          </p:txBody>
        </p:sp>
        <p:sp>
          <p:nvSpPr>
            <p:cNvPr id="1050" name="Rectangle: Rounded Corners 1049">
              <a:extLst>
                <a:ext uri="{FF2B5EF4-FFF2-40B4-BE49-F238E27FC236}">
                  <a16:creationId xmlns:a16="http://schemas.microsoft.com/office/drawing/2014/main" id="{47C71EB7-3370-E589-6B02-C20F08E7E3C4}"/>
                </a:ext>
              </a:extLst>
            </p:cNvPr>
            <p:cNvSpPr/>
            <p:nvPr/>
          </p:nvSpPr>
          <p:spPr>
            <a:xfrm rot="2700000">
              <a:off x="658989" y="3280000"/>
              <a:ext cx="169738" cy="169738"/>
            </a:xfrm>
            <a:prstGeom prst="roundRect">
              <a:avLst/>
            </a:prstGeom>
            <a:gradFill flip="none" rotWithShape="1">
              <a:gsLst>
                <a:gs pos="0">
                  <a:srgbClr val="278CCB">
                    <a:shade val="30000"/>
                    <a:satMod val="115000"/>
                  </a:srgbClr>
                </a:gs>
                <a:gs pos="50000">
                  <a:srgbClr val="278CCB">
                    <a:shade val="67500"/>
                    <a:satMod val="115000"/>
                  </a:srgbClr>
                </a:gs>
                <a:gs pos="100000">
                  <a:srgbClr val="278CCB">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47302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EE618-D629-40A8-9C7A-1BB5E28D52E3}"/>
            </a:ext>
          </a:extLst>
        </p:cNvPr>
        <p:cNvGrpSpPr/>
        <p:nvPr/>
      </p:nvGrpSpPr>
      <p:grpSpPr>
        <a:xfrm>
          <a:off x="0" y="0"/>
          <a:ext cx="0" cy="0"/>
          <a:chOff x="0" y="0"/>
          <a:chExt cx="0" cy="0"/>
        </a:xfrm>
      </p:grpSpPr>
      <p:sp>
        <p:nvSpPr>
          <p:cNvPr id="1034" name="Rectangle: Top Corners Rounded 1033">
            <a:extLst>
              <a:ext uri="{FF2B5EF4-FFF2-40B4-BE49-F238E27FC236}">
                <a16:creationId xmlns:a16="http://schemas.microsoft.com/office/drawing/2014/main" id="{691DC640-6F49-D161-7B03-7C16B9232DED}"/>
              </a:ext>
            </a:extLst>
          </p:cNvPr>
          <p:cNvSpPr/>
          <p:nvPr/>
        </p:nvSpPr>
        <p:spPr>
          <a:xfrm>
            <a:off x="387350" y="1595453"/>
            <a:ext cx="235535" cy="235535"/>
          </a:xfrm>
          <a:prstGeom prst="round2SameRect">
            <a:avLst>
              <a:gd name="adj1" fmla="val 50000"/>
              <a:gd name="adj2" fmla="val 0"/>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Rectangle: Top Corners Rounded 58">
            <a:extLst>
              <a:ext uri="{FF2B5EF4-FFF2-40B4-BE49-F238E27FC236}">
                <a16:creationId xmlns:a16="http://schemas.microsoft.com/office/drawing/2014/main" id="{91D8D96C-A7B9-001E-D160-1D9190E8C4CD}"/>
              </a:ext>
            </a:extLst>
          </p:cNvPr>
          <p:cNvSpPr/>
          <p:nvPr/>
        </p:nvSpPr>
        <p:spPr>
          <a:xfrm rot="16200000" flipH="1">
            <a:off x="6855900" y="1005097"/>
            <a:ext cx="4745743" cy="5926460"/>
          </a:xfrm>
          <a:prstGeom prst="round2SameRect">
            <a:avLst>
              <a:gd name="adj1" fmla="val 8053"/>
              <a:gd name="adj2" fmla="val 0"/>
            </a:avLst>
          </a:prstGeom>
          <a:solidFill>
            <a:schemeClr val="bg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Top Corners Rounded 2">
            <a:extLst>
              <a:ext uri="{FF2B5EF4-FFF2-40B4-BE49-F238E27FC236}">
                <a16:creationId xmlns:a16="http://schemas.microsoft.com/office/drawing/2014/main" id="{D4813A80-0333-9537-2064-92E5DA877AE7}"/>
              </a:ext>
            </a:extLst>
          </p:cNvPr>
          <p:cNvSpPr/>
          <p:nvPr/>
        </p:nvSpPr>
        <p:spPr>
          <a:xfrm rot="5400000">
            <a:off x="3681349" y="-3399420"/>
            <a:ext cx="830637" cy="8193338"/>
          </a:xfrm>
          <a:prstGeom prst="round2SameRect">
            <a:avLst>
              <a:gd name="adj1" fmla="val 50000"/>
              <a:gd name="adj2" fmla="val 0"/>
            </a:avLst>
          </a:prstGeom>
          <a:solidFill>
            <a:srgbClr val="278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3D67D6B5-F705-16AA-83EB-F2B6CD9A851A}"/>
              </a:ext>
            </a:extLst>
          </p:cNvPr>
          <p:cNvSpPr/>
          <p:nvPr/>
        </p:nvSpPr>
        <p:spPr>
          <a:xfrm>
            <a:off x="7748587" y="918846"/>
            <a:ext cx="295275" cy="295275"/>
          </a:xfrm>
          <a:prstGeom prst="ellipse">
            <a:avLst/>
          </a:prstGeom>
          <a:gradFill flip="none" rotWithShape="1">
            <a:gsLst>
              <a:gs pos="0">
                <a:schemeClr val="bg1"/>
              </a:gs>
              <a:gs pos="50000">
                <a:srgbClr val="7FBBE0"/>
              </a:gs>
              <a:gs pos="100000">
                <a:srgbClr val="278CCB">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29A4AF1F-D028-7412-946A-06B43C1CB7E3}"/>
              </a:ext>
            </a:extLst>
          </p:cNvPr>
          <p:cNvSpPr/>
          <p:nvPr/>
        </p:nvSpPr>
        <p:spPr>
          <a:xfrm>
            <a:off x="8079014" y="918846"/>
            <a:ext cx="228643" cy="228643"/>
          </a:xfrm>
          <a:prstGeom prst="ellipse">
            <a:avLst/>
          </a:prstGeom>
          <a:gradFill flip="none" rotWithShape="1">
            <a:gsLst>
              <a:gs pos="0">
                <a:schemeClr val="bg1"/>
              </a:gs>
              <a:gs pos="50000">
                <a:srgbClr val="7FBBE0"/>
              </a:gs>
              <a:gs pos="100000">
                <a:srgbClr val="278CCB">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0ED71DA-D521-F44A-252B-81B2AE8D363F}"/>
              </a:ext>
            </a:extLst>
          </p:cNvPr>
          <p:cNvSpPr txBox="1">
            <a:spLocks/>
          </p:cNvSpPr>
          <p:nvPr/>
        </p:nvSpPr>
        <p:spPr>
          <a:xfrm>
            <a:off x="387350" y="475648"/>
            <a:ext cx="11142800" cy="44319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chemeClr val="bg1"/>
                </a:solidFill>
                <a:latin typeface="Arial Black" pitchFamily="34" charset="0"/>
              </a:rPr>
              <a:t>Recommendations </a:t>
            </a:r>
          </a:p>
        </p:txBody>
      </p:sp>
      <p:grpSp>
        <p:nvGrpSpPr>
          <p:cNvPr id="1031" name="Group 1030">
            <a:extLst>
              <a:ext uri="{FF2B5EF4-FFF2-40B4-BE49-F238E27FC236}">
                <a16:creationId xmlns:a16="http://schemas.microsoft.com/office/drawing/2014/main" id="{F617F137-39B1-1665-5942-22CBA1C6EF0B}"/>
              </a:ext>
            </a:extLst>
          </p:cNvPr>
          <p:cNvGrpSpPr/>
          <p:nvPr/>
        </p:nvGrpSpPr>
        <p:grpSpPr>
          <a:xfrm>
            <a:off x="6265541" y="1830988"/>
            <a:ext cx="5442374" cy="4431714"/>
            <a:chOff x="6381721" y="1830988"/>
            <a:chExt cx="5442374" cy="4431714"/>
          </a:xfrm>
        </p:grpSpPr>
        <p:sp>
          <p:nvSpPr>
            <p:cNvPr id="9" name="Shape">
              <a:extLst>
                <a:ext uri="{FF2B5EF4-FFF2-40B4-BE49-F238E27FC236}">
                  <a16:creationId xmlns:a16="http://schemas.microsoft.com/office/drawing/2014/main" id="{291F1DA1-041D-B301-3B9B-5094A8844937}"/>
                </a:ext>
              </a:extLst>
            </p:cNvPr>
            <p:cNvSpPr/>
            <p:nvPr/>
          </p:nvSpPr>
          <p:spPr>
            <a:xfrm>
              <a:off x="7552284" y="4010360"/>
              <a:ext cx="1038106" cy="1148232"/>
            </a:xfrm>
            <a:custGeom>
              <a:avLst/>
              <a:gdLst/>
              <a:ahLst/>
              <a:cxnLst>
                <a:cxn ang="0">
                  <a:pos x="wd2" y="hd2"/>
                </a:cxn>
                <a:cxn ang="5400000">
                  <a:pos x="wd2" y="hd2"/>
                </a:cxn>
                <a:cxn ang="10800000">
                  <a:pos x="wd2" y="hd2"/>
                </a:cxn>
                <a:cxn ang="16200000">
                  <a:pos x="wd2" y="hd2"/>
                </a:cxn>
              </a:cxnLst>
              <a:rect l="0" t="0" r="r" b="b"/>
              <a:pathLst>
                <a:path w="21265" h="21290" extrusionOk="0">
                  <a:moveTo>
                    <a:pt x="13933" y="0"/>
                  </a:moveTo>
                  <a:lnTo>
                    <a:pt x="2131" y="0"/>
                  </a:lnTo>
                  <a:cubicBezTo>
                    <a:pt x="832" y="0"/>
                    <a:pt x="-133" y="1041"/>
                    <a:pt x="15" y="2184"/>
                  </a:cubicBezTo>
                  <a:cubicBezTo>
                    <a:pt x="1092" y="9809"/>
                    <a:pt x="5508" y="16460"/>
                    <a:pt x="11929" y="20895"/>
                  </a:cubicBezTo>
                  <a:cubicBezTo>
                    <a:pt x="12968" y="21600"/>
                    <a:pt x="14453" y="21331"/>
                    <a:pt x="15084" y="20324"/>
                  </a:cubicBezTo>
                  <a:lnTo>
                    <a:pt x="20985" y="11086"/>
                  </a:lnTo>
                  <a:cubicBezTo>
                    <a:pt x="21467" y="10313"/>
                    <a:pt x="21319" y="9339"/>
                    <a:pt x="20613" y="8734"/>
                  </a:cubicBezTo>
                  <a:cubicBezTo>
                    <a:pt x="18349" y="6853"/>
                    <a:pt x="16679" y="4333"/>
                    <a:pt x="16011" y="1512"/>
                  </a:cubicBezTo>
                  <a:cubicBezTo>
                    <a:pt x="15789" y="605"/>
                    <a:pt x="14935" y="0"/>
                    <a:pt x="13933" y="0"/>
                  </a:cubicBezTo>
                  <a:close/>
                </a:path>
              </a:pathLst>
            </a:custGeom>
            <a:solidFill>
              <a:schemeClr val="accent3">
                <a:lumMod val="40000"/>
                <a:lumOff val="60000"/>
              </a:schemeClr>
            </a:solidFill>
            <a:ln w="12700">
              <a:solidFill>
                <a:srgbClr val="E7E7E8"/>
              </a:solidFill>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29" name="Shape">
              <a:extLst>
                <a:ext uri="{FF2B5EF4-FFF2-40B4-BE49-F238E27FC236}">
                  <a16:creationId xmlns:a16="http://schemas.microsoft.com/office/drawing/2014/main" id="{920B5E7E-8024-92AB-0687-D95B05A72187}"/>
                </a:ext>
              </a:extLst>
            </p:cNvPr>
            <p:cNvSpPr/>
            <p:nvPr/>
          </p:nvSpPr>
          <p:spPr>
            <a:xfrm>
              <a:off x="9508999" y="4010360"/>
              <a:ext cx="1045245" cy="1155481"/>
            </a:xfrm>
            <a:custGeom>
              <a:avLst/>
              <a:gdLst/>
              <a:ahLst/>
              <a:cxnLst>
                <a:cxn ang="0">
                  <a:pos x="wd2" y="hd2"/>
                </a:cxn>
                <a:cxn ang="5400000">
                  <a:pos x="wd2" y="hd2"/>
                </a:cxn>
                <a:cxn ang="10800000">
                  <a:pos x="wd2" y="hd2"/>
                </a:cxn>
                <a:cxn ang="16200000">
                  <a:pos x="wd2" y="hd2"/>
                </a:cxn>
              </a:cxnLst>
              <a:rect l="0" t="0" r="r" b="b"/>
              <a:pathLst>
                <a:path w="21265" h="21292" extrusionOk="0">
                  <a:moveTo>
                    <a:pt x="277" y="11151"/>
                  </a:moveTo>
                  <a:lnTo>
                    <a:pt x="6138" y="20331"/>
                  </a:lnTo>
                  <a:cubicBezTo>
                    <a:pt x="6765" y="21333"/>
                    <a:pt x="8239" y="21600"/>
                    <a:pt x="9271" y="20899"/>
                  </a:cubicBezTo>
                  <a:cubicBezTo>
                    <a:pt x="15722" y="16492"/>
                    <a:pt x="20182" y="9815"/>
                    <a:pt x="21251" y="2170"/>
                  </a:cubicBezTo>
                  <a:cubicBezTo>
                    <a:pt x="21398" y="1002"/>
                    <a:pt x="20440" y="0"/>
                    <a:pt x="19149" y="0"/>
                  </a:cubicBezTo>
                  <a:lnTo>
                    <a:pt x="7428" y="0"/>
                  </a:lnTo>
                  <a:cubicBezTo>
                    <a:pt x="6433" y="0"/>
                    <a:pt x="5585" y="634"/>
                    <a:pt x="5364" y="1502"/>
                  </a:cubicBezTo>
                  <a:cubicBezTo>
                    <a:pt x="4700" y="4373"/>
                    <a:pt x="3005" y="6877"/>
                    <a:pt x="682" y="8747"/>
                  </a:cubicBezTo>
                  <a:cubicBezTo>
                    <a:pt x="-55" y="9381"/>
                    <a:pt x="-202" y="10383"/>
                    <a:pt x="277" y="11151"/>
                  </a:cubicBezTo>
                  <a:close/>
                </a:path>
              </a:pathLst>
            </a:custGeom>
            <a:solidFill>
              <a:srgbClr val="BDD7EE"/>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30" name="Shape">
              <a:extLst>
                <a:ext uri="{FF2B5EF4-FFF2-40B4-BE49-F238E27FC236}">
                  <a16:creationId xmlns:a16="http://schemas.microsoft.com/office/drawing/2014/main" id="{F0DEDC47-36A8-B671-4A57-7C14B4DEC6C5}"/>
                </a:ext>
              </a:extLst>
            </p:cNvPr>
            <p:cNvSpPr/>
            <p:nvPr/>
          </p:nvSpPr>
          <p:spPr>
            <a:xfrm>
              <a:off x="8416615" y="4626362"/>
              <a:ext cx="1299032" cy="819144"/>
            </a:xfrm>
            <a:custGeom>
              <a:avLst/>
              <a:gdLst/>
              <a:ahLst/>
              <a:cxnLst>
                <a:cxn ang="0">
                  <a:pos x="wd2" y="hd2"/>
                </a:cxn>
                <a:cxn ang="5400000">
                  <a:pos x="wd2" y="hd2"/>
                </a:cxn>
                <a:cxn ang="10800000">
                  <a:pos x="wd2" y="hd2"/>
                </a:cxn>
                <a:cxn ang="16200000">
                  <a:pos x="wd2" y="hd2"/>
                </a:cxn>
              </a:cxnLst>
              <a:rect l="0" t="0" r="r" b="b"/>
              <a:pathLst>
                <a:path w="21042" h="21323" extrusionOk="0">
                  <a:moveTo>
                    <a:pt x="10609" y="1091"/>
                  </a:moveTo>
                  <a:cubicBezTo>
                    <a:pt x="9318" y="1091"/>
                    <a:pt x="8056" y="761"/>
                    <a:pt x="6882" y="147"/>
                  </a:cubicBezTo>
                  <a:cubicBezTo>
                    <a:pt x="6119" y="-277"/>
                    <a:pt x="5297" y="242"/>
                    <a:pt x="4886" y="1374"/>
                  </a:cubicBezTo>
                  <a:lnTo>
                    <a:pt x="220" y="14343"/>
                  </a:lnTo>
                  <a:cubicBezTo>
                    <a:pt x="-279" y="15758"/>
                    <a:pt x="103" y="17550"/>
                    <a:pt x="1042" y="18210"/>
                  </a:cubicBezTo>
                  <a:cubicBezTo>
                    <a:pt x="3976" y="20238"/>
                    <a:pt x="7205" y="21323"/>
                    <a:pt x="10609" y="21323"/>
                  </a:cubicBezTo>
                  <a:cubicBezTo>
                    <a:pt x="13955" y="21323"/>
                    <a:pt x="17124" y="20238"/>
                    <a:pt x="20000" y="18305"/>
                  </a:cubicBezTo>
                  <a:cubicBezTo>
                    <a:pt x="20940" y="17692"/>
                    <a:pt x="21321" y="15852"/>
                    <a:pt x="20822" y="14437"/>
                  </a:cubicBezTo>
                  <a:lnTo>
                    <a:pt x="16156" y="1468"/>
                  </a:lnTo>
                  <a:cubicBezTo>
                    <a:pt x="15774" y="383"/>
                    <a:pt x="14952" y="-136"/>
                    <a:pt x="14189" y="242"/>
                  </a:cubicBezTo>
                  <a:cubicBezTo>
                    <a:pt x="13045" y="808"/>
                    <a:pt x="11842" y="1091"/>
                    <a:pt x="10609" y="1091"/>
                  </a:cubicBezTo>
                  <a:close/>
                </a:path>
              </a:pathLst>
            </a:custGeom>
            <a:solidFill>
              <a:srgbClr val="FFF2CC"/>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31" name="Shape">
              <a:extLst>
                <a:ext uri="{FF2B5EF4-FFF2-40B4-BE49-F238E27FC236}">
                  <a16:creationId xmlns:a16="http://schemas.microsoft.com/office/drawing/2014/main" id="{1AFF1948-379C-E480-2C37-07DF3AF21AF9}"/>
                </a:ext>
              </a:extLst>
            </p:cNvPr>
            <p:cNvSpPr/>
            <p:nvPr/>
          </p:nvSpPr>
          <p:spPr>
            <a:xfrm>
              <a:off x="9522028" y="2705883"/>
              <a:ext cx="1046044" cy="1154108"/>
            </a:xfrm>
            <a:custGeom>
              <a:avLst/>
              <a:gdLst/>
              <a:ahLst/>
              <a:cxnLst>
                <a:cxn ang="0">
                  <a:pos x="wd2" y="hd2"/>
                </a:cxn>
                <a:cxn ang="5400000">
                  <a:pos x="wd2" y="hd2"/>
                </a:cxn>
                <a:cxn ang="10800000">
                  <a:pos x="wd2" y="hd2"/>
                </a:cxn>
                <a:cxn ang="16200000">
                  <a:pos x="wd2" y="hd2"/>
                </a:cxn>
              </a:cxnLst>
              <a:rect l="0" t="0" r="r" b="b"/>
              <a:pathLst>
                <a:path w="21245" h="21299" extrusionOk="0">
                  <a:moveTo>
                    <a:pt x="6143" y="970"/>
                  </a:moveTo>
                  <a:lnTo>
                    <a:pt x="292" y="10165"/>
                  </a:lnTo>
                  <a:cubicBezTo>
                    <a:pt x="-223" y="10934"/>
                    <a:pt x="-39" y="11937"/>
                    <a:pt x="697" y="12539"/>
                  </a:cubicBezTo>
                  <a:cubicBezTo>
                    <a:pt x="3015" y="14411"/>
                    <a:pt x="4671" y="16952"/>
                    <a:pt x="5370" y="19794"/>
                  </a:cubicBezTo>
                  <a:cubicBezTo>
                    <a:pt x="5591" y="20664"/>
                    <a:pt x="6437" y="21299"/>
                    <a:pt x="7431" y="21299"/>
                  </a:cubicBezTo>
                  <a:lnTo>
                    <a:pt x="19132" y="21299"/>
                  </a:lnTo>
                  <a:cubicBezTo>
                    <a:pt x="20420" y="21299"/>
                    <a:pt x="21377" y="20262"/>
                    <a:pt x="21230" y="19126"/>
                  </a:cubicBezTo>
                  <a:cubicBezTo>
                    <a:pt x="20163" y="11469"/>
                    <a:pt x="15710" y="4815"/>
                    <a:pt x="9271" y="368"/>
                  </a:cubicBezTo>
                  <a:cubicBezTo>
                    <a:pt x="8240" y="-301"/>
                    <a:pt x="6768" y="-33"/>
                    <a:pt x="6143" y="970"/>
                  </a:cubicBezTo>
                  <a:close/>
                </a:path>
              </a:pathLst>
            </a:custGeom>
            <a:solidFill>
              <a:schemeClr val="accent3">
                <a:lumMod val="40000"/>
                <a:lumOff val="6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32" name="Shape">
              <a:extLst>
                <a:ext uri="{FF2B5EF4-FFF2-40B4-BE49-F238E27FC236}">
                  <a16:creationId xmlns:a16="http://schemas.microsoft.com/office/drawing/2014/main" id="{98134ACD-96DB-58C0-661E-4E092D846405}"/>
                </a:ext>
              </a:extLst>
            </p:cNvPr>
            <p:cNvSpPr/>
            <p:nvPr/>
          </p:nvSpPr>
          <p:spPr>
            <a:xfrm>
              <a:off x="7552284" y="2705883"/>
              <a:ext cx="1038106" cy="1148234"/>
            </a:xfrm>
            <a:custGeom>
              <a:avLst/>
              <a:gdLst/>
              <a:ahLst/>
              <a:cxnLst>
                <a:cxn ang="0">
                  <a:pos x="wd2" y="hd2"/>
                </a:cxn>
                <a:cxn ang="5400000">
                  <a:pos x="wd2" y="hd2"/>
                </a:cxn>
                <a:cxn ang="10800000">
                  <a:pos x="wd2" y="hd2"/>
                </a:cxn>
                <a:cxn ang="16200000">
                  <a:pos x="wd2" y="hd2"/>
                </a:cxn>
              </a:cxnLst>
              <a:rect l="0" t="0" r="r" b="b"/>
              <a:pathLst>
                <a:path w="21265" h="21290" extrusionOk="0">
                  <a:moveTo>
                    <a:pt x="20985" y="10204"/>
                  </a:moveTo>
                  <a:lnTo>
                    <a:pt x="15084" y="967"/>
                  </a:lnTo>
                  <a:cubicBezTo>
                    <a:pt x="14453" y="-41"/>
                    <a:pt x="12968" y="-310"/>
                    <a:pt x="11929" y="395"/>
                  </a:cubicBezTo>
                  <a:cubicBezTo>
                    <a:pt x="5508" y="4830"/>
                    <a:pt x="1092" y="11481"/>
                    <a:pt x="15" y="19106"/>
                  </a:cubicBezTo>
                  <a:cubicBezTo>
                    <a:pt x="-133" y="20282"/>
                    <a:pt x="832" y="21290"/>
                    <a:pt x="2131" y="21290"/>
                  </a:cubicBezTo>
                  <a:lnTo>
                    <a:pt x="13933" y="21290"/>
                  </a:lnTo>
                  <a:cubicBezTo>
                    <a:pt x="14935" y="21290"/>
                    <a:pt x="15789" y="20652"/>
                    <a:pt x="16011" y="19778"/>
                  </a:cubicBezTo>
                  <a:cubicBezTo>
                    <a:pt x="16679" y="16957"/>
                    <a:pt x="18313" y="14437"/>
                    <a:pt x="20613" y="12556"/>
                  </a:cubicBezTo>
                  <a:cubicBezTo>
                    <a:pt x="21319" y="11951"/>
                    <a:pt x="21467" y="10977"/>
                    <a:pt x="20985" y="10204"/>
                  </a:cubicBezTo>
                  <a:close/>
                </a:path>
              </a:pathLst>
            </a:custGeom>
            <a:solidFill>
              <a:schemeClr val="accent5">
                <a:lumMod val="40000"/>
                <a:lumOff val="6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33" name="Shape">
              <a:extLst>
                <a:ext uri="{FF2B5EF4-FFF2-40B4-BE49-F238E27FC236}">
                  <a16:creationId xmlns:a16="http://schemas.microsoft.com/office/drawing/2014/main" id="{88F8D4D6-D5CC-084B-BF4B-E77F17CDED52}"/>
                </a:ext>
              </a:extLst>
            </p:cNvPr>
            <p:cNvSpPr/>
            <p:nvPr/>
          </p:nvSpPr>
          <p:spPr>
            <a:xfrm>
              <a:off x="8416615" y="2409486"/>
              <a:ext cx="1299032" cy="818399"/>
            </a:xfrm>
            <a:custGeom>
              <a:avLst/>
              <a:gdLst/>
              <a:ahLst/>
              <a:cxnLst>
                <a:cxn ang="0">
                  <a:pos x="wd2" y="hd2"/>
                </a:cxn>
                <a:cxn ang="5400000">
                  <a:pos x="wd2" y="hd2"/>
                </a:cxn>
                <a:cxn ang="10800000">
                  <a:pos x="wd2" y="hd2"/>
                </a:cxn>
                <a:cxn ang="16200000">
                  <a:pos x="wd2" y="hd2"/>
                </a:cxn>
              </a:cxnLst>
              <a:rect l="0" t="0" r="r" b="b"/>
              <a:pathLst>
                <a:path w="21042" h="21350" extrusionOk="0">
                  <a:moveTo>
                    <a:pt x="10609" y="20229"/>
                  </a:moveTo>
                  <a:cubicBezTo>
                    <a:pt x="11871" y="20229"/>
                    <a:pt x="13074" y="20560"/>
                    <a:pt x="14189" y="21127"/>
                  </a:cubicBezTo>
                  <a:cubicBezTo>
                    <a:pt x="14952" y="21505"/>
                    <a:pt x="15774" y="20986"/>
                    <a:pt x="16156" y="19898"/>
                  </a:cubicBezTo>
                  <a:lnTo>
                    <a:pt x="20822" y="6901"/>
                  </a:lnTo>
                  <a:cubicBezTo>
                    <a:pt x="21321" y="5483"/>
                    <a:pt x="20939" y="3639"/>
                    <a:pt x="20000" y="3025"/>
                  </a:cubicBezTo>
                  <a:cubicBezTo>
                    <a:pt x="17095" y="1087"/>
                    <a:pt x="13925" y="0"/>
                    <a:pt x="10609" y="0"/>
                  </a:cubicBezTo>
                  <a:cubicBezTo>
                    <a:pt x="7205" y="0"/>
                    <a:pt x="3976" y="1134"/>
                    <a:pt x="1042" y="3119"/>
                  </a:cubicBezTo>
                  <a:cubicBezTo>
                    <a:pt x="102" y="3781"/>
                    <a:pt x="-279" y="5577"/>
                    <a:pt x="220" y="6995"/>
                  </a:cubicBezTo>
                  <a:lnTo>
                    <a:pt x="4886" y="19993"/>
                  </a:lnTo>
                  <a:cubicBezTo>
                    <a:pt x="5297" y="21127"/>
                    <a:pt x="6119" y="21600"/>
                    <a:pt x="6882" y="21222"/>
                  </a:cubicBezTo>
                  <a:cubicBezTo>
                    <a:pt x="8056" y="20560"/>
                    <a:pt x="9288" y="20229"/>
                    <a:pt x="10609" y="20229"/>
                  </a:cubicBezTo>
                  <a:close/>
                </a:path>
              </a:pathLst>
            </a:custGeom>
            <a:solidFill>
              <a:schemeClr val="accent4">
                <a:lumMod val="20000"/>
                <a:lumOff val="8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34" name="Freeform: Shape 33">
              <a:extLst>
                <a:ext uri="{FF2B5EF4-FFF2-40B4-BE49-F238E27FC236}">
                  <a16:creationId xmlns:a16="http://schemas.microsoft.com/office/drawing/2014/main" id="{7221C1E6-8EF6-04EA-E532-75800713D8EF}"/>
                </a:ext>
              </a:extLst>
            </p:cNvPr>
            <p:cNvSpPr/>
            <p:nvPr/>
          </p:nvSpPr>
          <p:spPr>
            <a:xfrm>
              <a:off x="8312850" y="1836231"/>
              <a:ext cx="1506562" cy="724581"/>
            </a:xfrm>
            <a:custGeom>
              <a:avLst/>
              <a:gdLst>
                <a:gd name="connsiteX0" fmla="*/ 892162 w 1762443"/>
                <a:gd name="connsiteY0" fmla="*/ 0 h 847647"/>
                <a:gd name="connsiteX1" fmla="*/ 1220701 w 1762443"/>
                <a:gd name="connsiteY1" fmla="*/ 328490 h 847647"/>
                <a:gd name="connsiteX2" fmla="*/ 1180452 w 1762443"/>
                <a:gd name="connsiteY2" fmla="*/ 485362 h 847647"/>
                <a:gd name="connsiteX3" fmla="*/ 1714546 w 1762443"/>
                <a:gd name="connsiteY3" fmla="*/ 644317 h 847647"/>
                <a:gd name="connsiteX4" fmla="*/ 1750572 w 1762443"/>
                <a:gd name="connsiteY4" fmla="*/ 765116 h 847647"/>
                <a:gd name="connsiteX5" fmla="*/ 1729371 w 1762443"/>
                <a:gd name="connsiteY5" fmla="*/ 801189 h 847647"/>
                <a:gd name="connsiteX6" fmla="*/ 1621293 w 1762443"/>
                <a:gd name="connsiteY6" fmla="*/ 835096 h 847647"/>
                <a:gd name="connsiteX7" fmla="*/ 885785 w 1762443"/>
                <a:gd name="connsiteY7" fmla="*/ 673975 h 847647"/>
                <a:gd name="connsiteX8" fmla="*/ 139758 w 1762443"/>
                <a:gd name="connsiteY8" fmla="*/ 839345 h 847647"/>
                <a:gd name="connsiteX9" fmla="*/ 31598 w 1762443"/>
                <a:gd name="connsiteY9" fmla="*/ 805438 h 847647"/>
                <a:gd name="connsiteX10" fmla="*/ 10479 w 1762443"/>
                <a:gd name="connsiteY10" fmla="*/ 769364 h 847647"/>
                <a:gd name="connsiteX11" fmla="*/ 48576 w 1762443"/>
                <a:gd name="connsiteY11" fmla="*/ 650732 h 847647"/>
                <a:gd name="connsiteX12" fmla="*/ 603871 w 1762443"/>
                <a:gd name="connsiteY12" fmla="*/ 485362 h 847647"/>
                <a:gd name="connsiteX13" fmla="*/ 563622 w 1762443"/>
                <a:gd name="connsiteY13" fmla="*/ 328490 h 847647"/>
                <a:gd name="connsiteX14" fmla="*/ 892162 w 1762443"/>
                <a:gd name="connsiteY14" fmla="*/ 0 h 84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62443" h="847647">
                  <a:moveTo>
                    <a:pt x="892162" y="0"/>
                  </a:moveTo>
                  <a:cubicBezTo>
                    <a:pt x="1074444" y="0"/>
                    <a:pt x="1220701" y="148375"/>
                    <a:pt x="1220701" y="328490"/>
                  </a:cubicBezTo>
                  <a:cubicBezTo>
                    <a:pt x="1220701" y="385724"/>
                    <a:pt x="1205877" y="438709"/>
                    <a:pt x="1180452" y="485362"/>
                  </a:cubicBezTo>
                  <a:cubicBezTo>
                    <a:pt x="1369029" y="512937"/>
                    <a:pt x="1547088" y="568005"/>
                    <a:pt x="1714546" y="644317"/>
                  </a:cubicBezTo>
                  <a:cubicBezTo>
                    <a:pt x="1759020" y="665561"/>
                    <a:pt x="1775997" y="720628"/>
                    <a:pt x="1750572" y="765116"/>
                  </a:cubicBezTo>
                  <a:lnTo>
                    <a:pt x="1729371" y="801189"/>
                  </a:lnTo>
                  <a:cubicBezTo>
                    <a:pt x="1708169" y="837178"/>
                    <a:pt x="1661543" y="854174"/>
                    <a:pt x="1621293" y="835096"/>
                  </a:cubicBezTo>
                  <a:cubicBezTo>
                    <a:pt x="1398760" y="731209"/>
                    <a:pt x="1148650" y="673975"/>
                    <a:pt x="885785" y="673975"/>
                  </a:cubicBezTo>
                  <a:cubicBezTo>
                    <a:pt x="618779" y="673975"/>
                    <a:pt x="366515" y="733375"/>
                    <a:pt x="139758" y="839345"/>
                  </a:cubicBezTo>
                  <a:cubicBezTo>
                    <a:pt x="99426" y="858422"/>
                    <a:pt x="52799" y="843593"/>
                    <a:pt x="31598" y="805438"/>
                  </a:cubicBezTo>
                  <a:lnTo>
                    <a:pt x="10479" y="769364"/>
                  </a:lnTo>
                  <a:cubicBezTo>
                    <a:pt x="-12876" y="726960"/>
                    <a:pt x="4102" y="671892"/>
                    <a:pt x="48576" y="650732"/>
                  </a:cubicBezTo>
                  <a:cubicBezTo>
                    <a:pt x="222411" y="570171"/>
                    <a:pt x="408917" y="512937"/>
                    <a:pt x="603871" y="485362"/>
                  </a:cubicBezTo>
                  <a:cubicBezTo>
                    <a:pt x="578446" y="438709"/>
                    <a:pt x="563622" y="385724"/>
                    <a:pt x="563622" y="328490"/>
                  </a:cubicBezTo>
                  <a:cubicBezTo>
                    <a:pt x="563622" y="146208"/>
                    <a:pt x="712032" y="0"/>
                    <a:pt x="892162" y="0"/>
                  </a:cubicBezTo>
                  <a:close/>
                </a:path>
              </a:pathLst>
            </a:custGeom>
            <a:solidFill>
              <a:srgbClr val="FFCC1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05FAB6F0-B48C-A065-E1A1-640B2CF8E8E6}"/>
                </a:ext>
              </a:extLst>
            </p:cNvPr>
            <p:cNvSpPr/>
            <p:nvPr/>
          </p:nvSpPr>
          <p:spPr>
            <a:xfrm>
              <a:off x="9900234" y="2524701"/>
              <a:ext cx="1023980" cy="1327927"/>
            </a:xfrm>
            <a:custGeom>
              <a:avLst/>
              <a:gdLst>
                <a:gd name="connsiteX0" fmla="*/ 119810 w 1197897"/>
                <a:gd name="connsiteY0" fmla="*/ 1377 h 1553468"/>
                <a:gd name="connsiteX1" fmla="*/ 150832 w 1197897"/>
                <a:gd name="connsiteY1" fmla="*/ 14672 h 1553468"/>
                <a:gd name="connsiteX2" fmla="*/ 583210 w 1197897"/>
                <a:gd name="connsiteY2" fmla="*/ 425874 h 1553468"/>
                <a:gd name="connsiteX3" fmla="*/ 869384 w 1197897"/>
                <a:gd name="connsiteY3" fmla="*/ 256325 h 1553468"/>
                <a:gd name="connsiteX4" fmla="*/ 1197897 w 1197897"/>
                <a:gd name="connsiteY4" fmla="*/ 584822 h 1553468"/>
                <a:gd name="connsiteX5" fmla="*/ 871489 w 1197897"/>
                <a:gd name="connsiteY5" fmla="*/ 911287 h 1553468"/>
                <a:gd name="connsiteX6" fmla="*/ 860884 w 1197897"/>
                <a:gd name="connsiteY6" fmla="*/ 911287 h 1553468"/>
                <a:gd name="connsiteX7" fmla="*/ 992273 w 1197897"/>
                <a:gd name="connsiteY7" fmla="*/ 1464446 h 1553468"/>
                <a:gd name="connsiteX8" fmla="*/ 911723 w 1197897"/>
                <a:gd name="connsiteY8" fmla="*/ 1553468 h 1553468"/>
                <a:gd name="connsiteX9" fmla="*/ 862989 w 1197897"/>
                <a:gd name="connsiteY9" fmla="*/ 1553468 h 1553468"/>
                <a:gd name="connsiteX10" fmla="*/ 782439 w 1197897"/>
                <a:gd name="connsiteY10" fmla="*/ 1479259 h 1553468"/>
                <a:gd name="connsiteX11" fmla="*/ 34258 w 1197897"/>
                <a:gd name="connsiteY11" fmla="*/ 188505 h 1553468"/>
                <a:gd name="connsiteX12" fmla="*/ 10943 w 1197897"/>
                <a:gd name="connsiteY12" fmla="*/ 82564 h 1553468"/>
                <a:gd name="connsiteX13" fmla="*/ 34258 w 1197897"/>
                <a:gd name="connsiteY13" fmla="*/ 40159 h 1553468"/>
                <a:gd name="connsiteX14" fmla="*/ 119810 w 1197897"/>
                <a:gd name="connsiteY14" fmla="*/ 1377 h 1553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97897" h="1553468">
                  <a:moveTo>
                    <a:pt x="119810" y="1377"/>
                  </a:moveTo>
                  <a:cubicBezTo>
                    <a:pt x="130705" y="3426"/>
                    <a:pt x="141300" y="7792"/>
                    <a:pt x="150832" y="14672"/>
                  </a:cubicBezTo>
                  <a:cubicBezTo>
                    <a:pt x="314036" y="129181"/>
                    <a:pt x="460321" y="269032"/>
                    <a:pt x="583210" y="425874"/>
                  </a:cubicBezTo>
                  <a:cubicBezTo>
                    <a:pt x="638340" y="324145"/>
                    <a:pt x="746414" y="256325"/>
                    <a:pt x="869384" y="256325"/>
                  </a:cubicBezTo>
                  <a:cubicBezTo>
                    <a:pt x="1051612" y="256325"/>
                    <a:pt x="1197897" y="404672"/>
                    <a:pt x="1197897" y="584822"/>
                  </a:cubicBezTo>
                  <a:cubicBezTo>
                    <a:pt x="1197897" y="767151"/>
                    <a:pt x="1051612" y="913392"/>
                    <a:pt x="871489" y="911287"/>
                  </a:cubicBezTo>
                  <a:cubicBezTo>
                    <a:pt x="867198" y="911287"/>
                    <a:pt x="865093" y="911287"/>
                    <a:pt x="860884" y="911287"/>
                  </a:cubicBezTo>
                  <a:cubicBezTo>
                    <a:pt x="930828" y="1085047"/>
                    <a:pt x="975353" y="1269410"/>
                    <a:pt x="992273" y="1464446"/>
                  </a:cubicBezTo>
                  <a:cubicBezTo>
                    <a:pt x="996563" y="1513169"/>
                    <a:pt x="960458" y="1553468"/>
                    <a:pt x="911723" y="1553468"/>
                  </a:cubicBezTo>
                  <a:lnTo>
                    <a:pt x="862989" y="1553468"/>
                  </a:lnTo>
                  <a:cubicBezTo>
                    <a:pt x="820649" y="1553468"/>
                    <a:pt x="786729" y="1521664"/>
                    <a:pt x="782439" y="1479259"/>
                  </a:cubicBezTo>
                  <a:cubicBezTo>
                    <a:pt x="735809" y="945196"/>
                    <a:pt x="449716" y="478881"/>
                    <a:pt x="34258" y="188505"/>
                  </a:cubicBezTo>
                  <a:cubicBezTo>
                    <a:pt x="338" y="165197"/>
                    <a:pt x="-10267" y="118580"/>
                    <a:pt x="10943" y="82564"/>
                  </a:cubicBezTo>
                  <a:lnTo>
                    <a:pt x="34258" y="40159"/>
                  </a:lnTo>
                  <a:cubicBezTo>
                    <a:pt x="51744" y="9934"/>
                    <a:pt x="87127" y="-4770"/>
                    <a:pt x="119810" y="1377"/>
                  </a:cubicBezTo>
                  <a:close/>
                </a:path>
              </a:pathLst>
            </a:custGeom>
            <a:solidFill>
              <a:srgbClr val="4C4C4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DFE1C673-3D3B-E14A-2603-C01D8C9CE5DC}"/>
                </a:ext>
              </a:extLst>
            </p:cNvPr>
            <p:cNvSpPr/>
            <p:nvPr/>
          </p:nvSpPr>
          <p:spPr>
            <a:xfrm>
              <a:off x="7208050" y="2524701"/>
              <a:ext cx="1007608" cy="1324727"/>
            </a:xfrm>
            <a:custGeom>
              <a:avLst/>
              <a:gdLst>
                <a:gd name="connsiteX0" fmla="*/ 1058067 w 1178745"/>
                <a:gd name="connsiteY0" fmla="*/ 1623 h 1549724"/>
                <a:gd name="connsiteX1" fmla="*/ 1144546 w 1178745"/>
                <a:gd name="connsiteY1" fmla="*/ 40685 h 1549724"/>
                <a:gd name="connsiteX2" fmla="*/ 1167794 w 1178745"/>
                <a:gd name="connsiteY2" fmla="*/ 85160 h 1549724"/>
                <a:gd name="connsiteX3" fmla="*/ 1144465 w 1178745"/>
                <a:gd name="connsiteY3" fmla="*/ 191176 h 1549724"/>
                <a:gd name="connsiteX4" fmla="*/ 404764 w 1178745"/>
                <a:gd name="connsiteY4" fmla="*/ 1475527 h 1549724"/>
                <a:gd name="connsiteX5" fmla="*/ 324276 w 1178745"/>
                <a:gd name="connsiteY5" fmla="*/ 1549724 h 1549724"/>
                <a:gd name="connsiteX6" fmla="*/ 275534 w 1178745"/>
                <a:gd name="connsiteY6" fmla="*/ 1549724 h 1549724"/>
                <a:gd name="connsiteX7" fmla="*/ 194966 w 1178745"/>
                <a:gd name="connsiteY7" fmla="*/ 1460702 h 1549724"/>
                <a:gd name="connsiteX8" fmla="*/ 326360 w 1178745"/>
                <a:gd name="connsiteY8" fmla="*/ 907549 h 1549724"/>
                <a:gd name="connsiteX9" fmla="*/ 0 w 1178745"/>
                <a:gd name="connsiteY9" fmla="*/ 579013 h 1549724"/>
                <a:gd name="connsiteX10" fmla="*/ 328525 w 1178745"/>
                <a:gd name="connsiteY10" fmla="*/ 250476 h 1549724"/>
                <a:gd name="connsiteX11" fmla="*/ 610392 w 1178745"/>
                <a:gd name="connsiteY11" fmla="*/ 411599 h 1549724"/>
                <a:gd name="connsiteX12" fmla="*/ 1025818 w 1178745"/>
                <a:gd name="connsiteY12" fmla="*/ 15229 h 1549724"/>
                <a:gd name="connsiteX13" fmla="*/ 1058067 w 1178745"/>
                <a:gd name="connsiteY13" fmla="*/ 1623 h 154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745" h="1549724">
                  <a:moveTo>
                    <a:pt x="1058067" y="1623"/>
                  </a:moveTo>
                  <a:cubicBezTo>
                    <a:pt x="1091651" y="-5024"/>
                    <a:pt x="1127049" y="8902"/>
                    <a:pt x="1144546" y="40685"/>
                  </a:cubicBezTo>
                  <a:lnTo>
                    <a:pt x="1167794" y="85160"/>
                  </a:lnTo>
                  <a:cubicBezTo>
                    <a:pt x="1189038" y="121173"/>
                    <a:pt x="1178376" y="167818"/>
                    <a:pt x="1144465" y="191176"/>
                  </a:cubicBezTo>
                  <a:cubicBezTo>
                    <a:pt x="733288" y="481529"/>
                    <a:pt x="451421" y="945660"/>
                    <a:pt x="404764" y="1475527"/>
                  </a:cubicBezTo>
                  <a:cubicBezTo>
                    <a:pt x="400595" y="1517905"/>
                    <a:pt x="366684" y="1549724"/>
                    <a:pt x="324276" y="1549724"/>
                  </a:cubicBezTo>
                  <a:lnTo>
                    <a:pt x="275534" y="1549724"/>
                  </a:lnTo>
                  <a:cubicBezTo>
                    <a:pt x="228877" y="1549724"/>
                    <a:pt x="190718" y="1509444"/>
                    <a:pt x="194966" y="1460702"/>
                  </a:cubicBezTo>
                  <a:cubicBezTo>
                    <a:pt x="211962" y="1267832"/>
                    <a:pt x="258539" y="1081327"/>
                    <a:pt x="326360" y="907549"/>
                  </a:cubicBezTo>
                  <a:cubicBezTo>
                    <a:pt x="146225" y="905379"/>
                    <a:pt x="0" y="759154"/>
                    <a:pt x="0" y="579013"/>
                  </a:cubicBezTo>
                  <a:cubicBezTo>
                    <a:pt x="0" y="396701"/>
                    <a:pt x="148389" y="250476"/>
                    <a:pt x="328525" y="250476"/>
                  </a:cubicBezTo>
                  <a:cubicBezTo>
                    <a:pt x="449337" y="250476"/>
                    <a:pt x="553153" y="314043"/>
                    <a:pt x="610392" y="411599"/>
                  </a:cubicBezTo>
                  <a:cubicBezTo>
                    <a:pt x="729120" y="258937"/>
                    <a:pt x="869011" y="125440"/>
                    <a:pt x="1025818" y="15229"/>
                  </a:cubicBezTo>
                  <a:cubicBezTo>
                    <a:pt x="1035879" y="8341"/>
                    <a:pt x="1046872" y="3839"/>
                    <a:pt x="1058067" y="1623"/>
                  </a:cubicBezTo>
                  <a:close/>
                </a:path>
              </a:pathLst>
            </a:custGeom>
            <a:solidFill>
              <a:srgbClr val="278CC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1C664D75-96EC-63B1-13CF-185AA3CA0EB1}"/>
                </a:ext>
              </a:extLst>
            </p:cNvPr>
            <p:cNvSpPr/>
            <p:nvPr/>
          </p:nvSpPr>
          <p:spPr>
            <a:xfrm>
              <a:off x="8795255" y="3183144"/>
              <a:ext cx="541751" cy="180262"/>
            </a:xfrm>
            <a:custGeom>
              <a:avLst/>
              <a:gdLst>
                <a:gd name="connsiteX0" fmla="*/ 321139 w 633764"/>
                <a:gd name="connsiteY0" fmla="*/ 0 h 210878"/>
                <a:gd name="connsiteX1" fmla="*/ 573403 w 633764"/>
                <a:gd name="connsiteY1" fmla="*/ 38155 h 210878"/>
                <a:gd name="connsiteX2" fmla="*/ 622100 w 633764"/>
                <a:gd name="connsiteY2" fmla="*/ 161037 h 210878"/>
                <a:gd name="connsiteX3" fmla="*/ 522552 w 633764"/>
                <a:gd name="connsiteY3" fmla="*/ 199193 h 210878"/>
                <a:gd name="connsiteX4" fmla="*/ 323292 w 633764"/>
                <a:gd name="connsiteY4" fmla="*/ 169535 h 210878"/>
                <a:gd name="connsiteX5" fmla="*/ 98606 w 633764"/>
                <a:gd name="connsiteY5" fmla="*/ 207690 h 210878"/>
                <a:gd name="connsiteX6" fmla="*/ 24401 w 633764"/>
                <a:gd name="connsiteY6" fmla="*/ 182281 h 210878"/>
                <a:gd name="connsiteX7" fmla="*/ 11730 w 633764"/>
                <a:gd name="connsiteY7" fmla="*/ 165286 h 210878"/>
                <a:gd name="connsiteX8" fmla="*/ 58356 w 633764"/>
                <a:gd name="connsiteY8" fmla="*/ 42404 h 210878"/>
                <a:gd name="connsiteX9" fmla="*/ 321139 w 633764"/>
                <a:gd name="connsiteY9" fmla="*/ 0 h 210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3764" h="210878">
                  <a:moveTo>
                    <a:pt x="321139" y="0"/>
                  </a:moveTo>
                  <a:cubicBezTo>
                    <a:pt x="408098" y="0"/>
                    <a:pt x="492821" y="12746"/>
                    <a:pt x="573403" y="38155"/>
                  </a:cubicBezTo>
                  <a:cubicBezTo>
                    <a:pt x="626324" y="52984"/>
                    <a:pt x="649678" y="114467"/>
                    <a:pt x="622100" y="161037"/>
                  </a:cubicBezTo>
                  <a:cubicBezTo>
                    <a:pt x="600898" y="195027"/>
                    <a:pt x="560649" y="211939"/>
                    <a:pt x="522552" y="199193"/>
                  </a:cubicBezTo>
                  <a:cubicBezTo>
                    <a:pt x="458948" y="180115"/>
                    <a:pt x="391120" y="169535"/>
                    <a:pt x="323292" y="169535"/>
                  </a:cubicBezTo>
                  <a:cubicBezTo>
                    <a:pt x="244863" y="169535"/>
                    <a:pt x="168588" y="182281"/>
                    <a:pt x="98606" y="207690"/>
                  </a:cubicBezTo>
                  <a:cubicBezTo>
                    <a:pt x="71028" y="216188"/>
                    <a:pt x="41379" y="207690"/>
                    <a:pt x="24401" y="182281"/>
                  </a:cubicBezTo>
                  <a:lnTo>
                    <a:pt x="11730" y="165286"/>
                  </a:lnTo>
                  <a:cubicBezTo>
                    <a:pt x="-15849" y="118716"/>
                    <a:pt x="7423" y="59316"/>
                    <a:pt x="58356" y="42404"/>
                  </a:cubicBezTo>
                  <a:cubicBezTo>
                    <a:pt x="141009" y="14829"/>
                    <a:pt x="230039" y="0"/>
                    <a:pt x="321139" y="0"/>
                  </a:cubicBez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608E9CB0-C63B-5A3C-04DF-8586678833C5}"/>
                </a:ext>
              </a:extLst>
            </p:cNvPr>
            <p:cNvSpPr/>
            <p:nvPr/>
          </p:nvSpPr>
          <p:spPr>
            <a:xfrm>
              <a:off x="9443035" y="3361197"/>
              <a:ext cx="345944" cy="493231"/>
            </a:xfrm>
            <a:custGeom>
              <a:avLst/>
              <a:gdLst>
                <a:gd name="connsiteX0" fmla="*/ 72839 w 404701"/>
                <a:gd name="connsiteY0" fmla="*/ 1017 h 577004"/>
                <a:gd name="connsiteX1" fmla="*/ 140142 w 404701"/>
                <a:gd name="connsiteY1" fmla="*/ 21666 h 577004"/>
                <a:gd name="connsiteX2" fmla="*/ 402921 w 404701"/>
                <a:gd name="connsiteY2" fmla="*/ 477380 h 577004"/>
                <a:gd name="connsiteX3" fmla="*/ 324557 w 404701"/>
                <a:gd name="connsiteY3" fmla="*/ 577004 h 577004"/>
                <a:gd name="connsiteX4" fmla="*/ 318161 w 404701"/>
                <a:gd name="connsiteY4" fmla="*/ 577004 h 577004"/>
                <a:gd name="connsiteX5" fmla="*/ 239716 w 404701"/>
                <a:gd name="connsiteY5" fmla="*/ 511290 h 577004"/>
                <a:gd name="connsiteX6" fmla="*/ 27778 w 404701"/>
                <a:gd name="connsiteY6" fmla="*/ 148883 h 577004"/>
                <a:gd name="connsiteX7" fmla="*/ 10858 w 404701"/>
                <a:gd name="connsiteY7" fmla="*/ 47153 h 577004"/>
                <a:gd name="connsiteX8" fmla="*/ 15068 w 404701"/>
                <a:gd name="connsiteY8" fmla="*/ 40763 h 577004"/>
                <a:gd name="connsiteX9" fmla="*/ 72839 w 404701"/>
                <a:gd name="connsiteY9" fmla="*/ 1017 h 57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4701" h="577004">
                  <a:moveTo>
                    <a:pt x="72839" y="1017"/>
                  </a:moveTo>
                  <a:cubicBezTo>
                    <a:pt x="96164" y="-2695"/>
                    <a:pt x="121078" y="3659"/>
                    <a:pt x="140142" y="21666"/>
                  </a:cubicBezTo>
                  <a:cubicBezTo>
                    <a:pt x="267322" y="140387"/>
                    <a:pt x="362686" y="297230"/>
                    <a:pt x="402921" y="477380"/>
                  </a:cubicBezTo>
                  <a:cubicBezTo>
                    <a:pt x="413526" y="528281"/>
                    <a:pt x="375396" y="577004"/>
                    <a:pt x="324557" y="577004"/>
                  </a:cubicBezTo>
                  <a:lnTo>
                    <a:pt x="318161" y="577004"/>
                  </a:lnTo>
                  <a:cubicBezTo>
                    <a:pt x="280032" y="577004"/>
                    <a:pt x="246112" y="549484"/>
                    <a:pt x="239716" y="511290"/>
                  </a:cubicBezTo>
                  <a:cubicBezTo>
                    <a:pt x="207982" y="369261"/>
                    <a:pt x="131642" y="244223"/>
                    <a:pt x="27778" y="148883"/>
                  </a:cubicBezTo>
                  <a:cubicBezTo>
                    <a:pt x="-1852" y="123469"/>
                    <a:pt x="-8247" y="81063"/>
                    <a:pt x="10858" y="47153"/>
                  </a:cubicBezTo>
                  <a:lnTo>
                    <a:pt x="15068" y="40763"/>
                  </a:lnTo>
                  <a:cubicBezTo>
                    <a:pt x="27778" y="18508"/>
                    <a:pt x="49514" y="4730"/>
                    <a:pt x="72839" y="1017"/>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3FA53124-7BB6-3CC5-2AF0-CFE731BD6907}"/>
                </a:ext>
              </a:extLst>
            </p:cNvPr>
            <p:cNvSpPr/>
            <p:nvPr/>
          </p:nvSpPr>
          <p:spPr>
            <a:xfrm>
              <a:off x="8333463" y="3361197"/>
              <a:ext cx="342434" cy="486473"/>
            </a:xfrm>
            <a:custGeom>
              <a:avLst/>
              <a:gdLst>
                <a:gd name="connsiteX0" fmla="*/ 325797 w 400595"/>
                <a:gd name="connsiteY0" fmla="*/ 858 h 569098"/>
                <a:gd name="connsiteX1" fmla="*/ 385371 w 400595"/>
                <a:gd name="connsiteY1" fmla="*/ 41401 h 569098"/>
                <a:gd name="connsiteX2" fmla="*/ 389620 w 400595"/>
                <a:gd name="connsiteY2" fmla="*/ 47765 h 569098"/>
                <a:gd name="connsiteX3" fmla="*/ 374789 w 400595"/>
                <a:gd name="connsiteY3" fmla="*/ 149443 h 569098"/>
                <a:gd name="connsiteX4" fmla="*/ 311217 w 400595"/>
                <a:gd name="connsiteY4" fmla="*/ 215179 h 569098"/>
                <a:gd name="connsiteX5" fmla="*/ 169161 w 400595"/>
                <a:gd name="connsiteY5" fmla="*/ 505532 h 569098"/>
                <a:gd name="connsiteX6" fmla="*/ 90757 w 400595"/>
                <a:gd name="connsiteY6" fmla="*/ 569098 h 569098"/>
                <a:gd name="connsiteX7" fmla="*/ 82260 w 400595"/>
                <a:gd name="connsiteY7" fmla="*/ 569098 h 569098"/>
                <a:gd name="connsiteX8" fmla="*/ 1772 w 400595"/>
                <a:gd name="connsiteY8" fmla="*/ 469518 h 569098"/>
                <a:gd name="connsiteX9" fmla="*/ 258226 w 400595"/>
                <a:gd name="connsiteY9" fmla="*/ 22309 h 569098"/>
                <a:gd name="connsiteX10" fmla="*/ 325797 w 400595"/>
                <a:gd name="connsiteY10" fmla="*/ 858 h 56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595" h="569098">
                  <a:moveTo>
                    <a:pt x="325797" y="858"/>
                  </a:moveTo>
                  <a:cubicBezTo>
                    <a:pt x="349376" y="4303"/>
                    <a:pt x="371623" y="18079"/>
                    <a:pt x="385371" y="41401"/>
                  </a:cubicBezTo>
                  <a:lnTo>
                    <a:pt x="389620" y="47765"/>
                  </a:lnTo>
                  <a:cubicBezTo>
                    <a:pt x="408700" y="81682"/>
                    <a:pt x="402367" y="124059"/>
                    <a:pt x="374789" y="149443"/>
                  </a:cubicBezTo>
                  <a:cubicBezTo>
                    <a:pt x="351461" y="170704"/>
                    <a:pt x="332381" y="191893"/>
                    <a:pt x="311217" y="215179"/>
                  </a:cubicBezTo>
                  <a:cubicBezTo>
                    <a:pt x="243396" y="297837"/>
                    <a:pt x="194654" y="397418"/>
                    <a:pt x="169161" y="505532"/>
                  </a:cubicBezTo>
                  <a:cubicBezTo>
                    <a:pt x="160743" y="543715"/>
                    <a:pt x="128917" y="569098"/>
                    <a:pt x="90757" y="569098"/>
                  </a:cubicBezTo>
                  <a:lnTo>
                    <a:pt x="82260" y="569098"/>
                  </a:lnTo>
                  <a:cubicBezTo>
                    <a:pt x="29269" y="569098"/>
                    <a:pt x="-8810" y="520357"/>
                    <a:pt x="1772" y="469518"/>
                  </a:cubicBezTo>
                  <a:cubicBezTo>
                    <a:pt x="39932" y="295740"/>
                    <a:pt x="131081" y="140982"/>
                    <a:pt x="258226" y="22309"/>
                  </a:cubicBezTo>
                  <a:cubicBezTo>
                    <a:pt x="277306" y="4302"/>
                    <a:pt x="302218" y="-2586"/>
                    <a:pt x="325797" y="858"/>
                  </a:cubicBezTo>
                  <a:close/>
                </a:path>
              </a:pathLst>
            </a:custGeom>
            <a:solidFill>
              <a:srgbClr val="401B5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99F33259-1629-D85C-CE7C-ECA67EFF9911}"/>
                </a:ext>
              </a:extLst>
            </p:cNvPr>
            <p:cNvSpPr/>
            <p:nvPr/>
          </p:nvSpPr>
          <p:spPr>
            <a:xfrm>
              <a:off x="7208048" y="4010359"/>
              <a:ext cx="1008085" cy="1322957"/>
            </a:xfrm>
            <a:custGeom>
              <a:avLst/>
              <a:gdLst>
                <a:gd name="connsiteX0" fmla="*/ 275541 w 1179303"/>
                <a:gd name="connsiteY0" fmla="*/ 0 h 1547654"/>
                <a:gd name="connsiteX1" fmla="*/ 324284 w 1179303"/>
                <a:gd name="connsiteY1" fmla="*/ 0 h 1547654"/>
                <a:gd name="connsiteX2" fmla="*/ 404854 w 1179303"/>
                <a:gd name="connsiteY2" fmla="*/ 74172 h 1547654"/>
                <a:gd name="connsiteX3" fmla="*/ 1144493 w 1179303"/>
                <a:gd name="connsiteY3" fmla="*/ 1358631 h 1547654"/>
                <a:gd name="connsiteX4" fmla="*/ 1167822 w 1179303"/>
                <a:gd name="connsiteY4" fmla="*/ 1464579 h 1547654"/>
                <a:gd name="connsiteX5" fmla="*/ 1144573 w 1179303"/>
                <a:gd name="connsiteY5" fmla="*/ 1506973 h 1547654"/>
                <a:gd name="connsiteX6" fmla="*/ 1025843 w 1179303"/>
                <a:gd name="connsiteY6" fmla="*/ 1532395 h 1547654"/>
                <a:gd name="connsiteX7" fmla="*/ 606158 w 1179303"/>
                <a:gd name="connsiteY7" fmla="*/ 1131855 h 1547654"/>
                <a:gd name="connsiteX8" fmla="*/ 328533 w 1179303"/>
                <a:gd name="connsiteY8" fmla="*/ 1286554 h 1547654"/>
                <a:gd name="connsiteX9" fmla="*/ 0 w 1179303"/>
                <a:gd name="connsiteY9" fmla="*/ 958018 h 1547654"/>
                <a:gd name="connsiteX10" fmla="*/ 322199 w 1179303"/>
                <a:gd name="connsiteY10" fmla="*/ 631649 h 1547654"/>
                <a:gd name="connsiteX11" fmla="*/ 194971 w 1179303"/>
                <a:gd name="connsiteY11" fmla="*/ 89049 h 1547654"/>
                <a:gd name="connsiteX12" fmla="*/ 275541 w 1179303"/>
                <a:gd name="connsiteY12" fmla="*/ 0 h 1547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9303" h="1547654">
                  <a:moveTo>
                    <a:pt x="275541" y="0"/>
                  </a:moveTo>
                  <a:lnTo>
                    <a:pt x="324284" y="0"/>
                  </a:lnTo>
                  <a:cubicBezTo>
                    <a:pt x="366693" y="0"/>
                    <a:pt x="400605" y="31778"/>
                    <a:pt x="404854" y="74172"/>
                  </a:cubicBezTo>
                  <a:cubicBezTo>
                    <a:pt x="451432" y="604061"/>
                    <a:pt x="733306" y="1068228"/>
                    <a:pt x="1144493" y="1358631"/>
                  </a:cubicBezTo>
                  <a:cubicBezTo>
                    <a:pt x="1180569" y="1384053"/>
                    <a:pt x="1189067" y="1428541"/>
                    <a:pt x="1167822" y="1464579"/>
                  </a:cubicBezTo>
                  <a:lnTo>
                    <a:pt x="1144573" y="1506973"/>
                  </a:lnTo>
                  <a:cubicBezTo>
                    <a:pt x="1121244" y="1549368"/>
                    <a:pt x="1066087" y="1559984"/>
                    <a:pt x="1025843" y="1532395"/>
                  </a:cubicBezTo>
                  <a:cubicBezTo>
                    <a:pt x="866867" y="1420091"/>
                    <a:pt x="724888" y="1284459"/>
                    <a:pt x="606158" y="1131855"/>
                  </a:cubicBezTo>
                  <a:cubicBezTo>
                    <a:pt x="548917" y="1225093"/>
                    <a:pt x="445098" y="1286554"/>
                    <a:pt x="328533" y="1286554"/>
                  </a:cubicBezTo>
                  <a:cubicBezTo>
                    <a:pt x="148393" y="1286554"/>
                    <a:pt x="0" y="1140305"/>
                    <a:pt x="0" y="958018"/>
                  </a:cubicBezTo>
                  <a:cubicBezTo>
                    <a:pt x="0" y="779992"/>
                    <a:pt x="144144" y="633744"/>
                    <a:pt x="322199" y="631649"/>
                  </a:cubicBezTo>
                  <a:cubicBezTo>
                    <a:pt x="256461" y="459907"/>
                    <a:pt x="211967" y="277692"/>
                    <a:pt x="194971" y="89049"/>
                  </a:cubicBezTo>
                  <a:cubicBezTo>
                    <a:pt x="190722" y="40300"/>
                    <a:pt x="228883" y="0"/>
                    <a:pt x="275541" y="0"/>
                  </a:cubicBezTo>
                  <a:close/>
                </a:path>
              </a:pathLst>
            </a:custGeom>
            <a:solidFill>
              <a:srgbClr val="4C4C4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E510DA34-B76C-768E-387D-7ADF6CD42C8A}"/>
                </a:ext>
              </a:extLst>
            </p:cNvPr>
            <p:cNvSpPr/>
            <p:nvPr/>
          </p:nvSpPr>
          <p:spPr>
            <a:xfrm>
              <a:off x="9424933" y="4010361"/>
              <a:ext cx="349107" cy="492466"/>
            </a:xfrm>
            <a:custGeom>
              <a:avLst/>
              <a:gdLst>
                <a:gd name="connsiteX0" fmla="*/ 317589 w 408401"/>
                <a:gd name="connsiteY0" fmla="*/ 0 h 576109"/>
                <a:gd name="connsiteX1" fmla="*/ 326120 w 408401"/>
                <a:gd name="connsiteY1" fmla="*/ 0 h 576109"/>
                <a:gd name="connsiteX2" fmla="*/ 406637 w 408401"/>
                <a:gd name="connsiteY2" fmla="*/ 99636 h 576109"/>
                <a:gd name="connsiteX3" fmla="*/ 139576 w 408401"/>
                <a:gd name="connsiteY3" fmla="*/ 555319 h 576109"/>
                <a:gd name="connsiteX4" fmla="*/ 14536 w 408401"/>
                <a:gd name="connsiteY4" fmla="*/ 536248 h 576109"/>
                <a:gd name="connsiteX5" fmla="*/ 10311 w 408401"/>
                <a:gd name="connsiteY5" fmla="*/ 529866 h 576109"/>
                <a:gd name="connsiteX6" fmla="*/ 27210 w 408401"/>
                <a:gd name="connsiteY6" fmla="*/ 428128 h 576109"/>
                <a:gd name="connsiteX7" fmla="*/ 52641 w 408401"/>
                <a:gd name="connsiteY7" fmla="*/ 404851 h 576109"/>
                <a:gd name="connsiteX8" fmla="*/ 239185 w 408401"/>
                <a:gd name="connsiteY8" fmla="*/ 65699 h 576109"/>
                <a:gd name="connsiteX9" fmla="*/ 317589 w 408401"/>
                <a:gd name="connsiteY9" fmla="*/ 0 h 57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401" h="576109">
                  <a:moveTo>
                    <a:pt x="317589" y="0"/>
                  </a:moveTo>
                  <a:lnTo>
                    <a:pt x="326120" y="0"/>
                  </a:lnTo>
                  <a:cubicBezTo>
                    <a:pt x="379094" y="2103"/>
                    <a:pt x="417199" y="48730"/>
                    <a:pt x="406637" y="99636"/>
                  </a:cubicBezTo>
                  <a:cubicBezTo>
                    <a:pt x="368531" y="277660"/>
                    <a:pt x="273147" y="436612"/>
                    <a:pt x="139576" y="555319"/>
                  </a:cubicBezTo>
                  <a:cubicBezTo>
                    <a:pt x="101471" y="589256"/>
                    <a:pt x="39966" y="580772"/>
                    <a:pt x="14536" y="536248"/>
                  </a:cubicBezTo>
                  <a:lnTo>
                    <a:pt x="10311" y="529866"/>
                  </a:lnTo>
                  <a:cubicBezTo>
                    <a:pt x="-8782" y="496002"/>
                    <a:pt x="-333" y="453581"/>
                    <a:pt x="27210" y="428128"/>
                  </a:cubicBezTo>
                  <a:cubicBezTo>
                    <a:pt x="35741" y="419644"/>
                    <a:pt x="44191" y="413335"/>
                    <a:pt x="52641" y="404851"/>
                  </a:cubicBezTo>
                  <a:cubicBezTo>
                    <a:pt x="143801" y="313700"/>
                    <a:pt x="209530" y="197096"/>
                    <a:pt x="239185" y="65699"/>
                  </a:cubicBezTo>
                  <a:cubicBezTo>
                    <a:pt x="247635" y="27556"/>
                    <a:pt x="279484" y="0"/>
                    <a:pt x="317589" y="0"/>
                  </a:cubicBez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646038E4-CE73-33A7-97F2-621F36285029}"/>
                </a:ext>
              </a:extLst>
            </p:cNvPr>
            <p:cNvSpPr/>
            <p:nvPr/>
          </p:nvSpPr>
          <p:spPr>
            <a:xfrm>
              <a:off x="9885297" y="4010359"/>
              <a:ext cx="1025769" cy="1328389"/>
            </a:xfrm>
            <a:custGeom>
              <a:avLst/>
              <a:gdLst>
                <a:gd name="connsiteX0" fmla="*/ 862975 w 1199990"/>
                <a:gd name="connsiteY0" fmla="*/ 0 h 1554008"/>
                <a:gd name="connsiteX1" fmla="*/ 911724 w 1199990"/>
                <a:gd name="connsiteY1" fmla="*/ 0 h 1554008"/>
                <a:gd name="connsiteX2" fmla="*/ 992240 w 1199990"/>
                <a:gd name="connsiteY2" fmla="*/ 89048 h 1554008"/>
                <a:gd name="connsiteX3" fmla="*/ 865087 w 1199990"/>
                <a:gd name="connsiteY3" fmla="*/ 633708 h 1554008"/>
                <a:gd name="connsiteX4" fmla="*/ 871425 w 1199990"/>
                <a:gd name="connsiteY4" fmla="*/ 633708 h 1554008"/>
                <a:gd name="connsiteX5" fmla="*/ 1199990 w 1199990"/>
                <a:gd name="connsiteY5" fmla="*/ 957994 h 1554008"/>
                <a:gd name="connsiteX6" fmla="*/ 871506 w 1199990"/>
                <a:gd name="connsiteY6" fmla="*/ 1286559 h 1554008"/>
                <a:gd name="connsiteX7" fmla="*/ 587464 w 1199990"/>
                <a:gd name="connsiteY7" fmla="*/ 1123328 h 1554008"/>
                <a:gd name="connsiteX8" fmla="*/ 150840 w 1199990"/>
                <a:gd name="connsiteY8" fmla="*/ 1538766 h 1554008"/>
                <a:gd name="connsiteX9" fmla="*/ 34249 w 1199990"/>
                <a:gd name="connsiteY9" fmla="*/ 1513313 h 1554008"/>
                <a:gd name="connsiteX10" fmla="*/ 10931 w 1199990"/>
                <a:gd name="connsiteY10" fmla="*/ 1470965 h 1554008"/>
                <a:gd name="connsiteX11" fmla="*/ 34249 w 1199990"/>
                <a:gd name="connsiteY11" fmla="*/ 1364948 h 1554008"/>
                <a:gd name="connsiteX12" fmla="*/ 782459 w 1199990"/>
                <a:gd name="connsiteY12" fmla="*/ 74183 h 1554008"/>
                <a:gd name="connsiteX13" fmla="*/ 862975 w 1199990"/>
                <a:gd name="connsiteY13" fmla="*/ 0 h 1554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9990" h="1554008">
                  <a:moveTo>
                    <a:pt x="862975" y="0"/>
                  </a:moveTo>
                  <a:lnTo>
                    <a:pt x="911724" y="0"/>
                  </a:lnTo>
                  <a:cubicBezTo>
                    <a:pt x="958360" y="0"/>
                    <a:pt x="996546" y="42421"/>
                    <a:pt x="992240" y="89048"/>
                  </a:cubicBezTo>
                  <a:cubicBezTo>
                    <a:pt x="975340" y="279763"/>
                    <a:pt x="930817" y="462065"/>
                    <a:pt x="865087" y="633708"/>
                  </a:cubicBezTo>
                  <a:cubicBezTo>
                    <a:pt x="867200" y="633708"/>
                    <a:pt x="869312" y="633708"/>
                    <a:pt x="871425" y="633708"/>
                  </a:cubicBezTo>
                  <a:cubicBezTo>
                    <a:pt x="1051632" y="633708"/>
                    <a:pt x="1197878" y="779970"/>
                    <a:pt x="1199990" y="957994"/>
                  </a:cubicBezTo>
                  <a:cubicBezTo>
                    <a:pt x="1199990" y="1140297"/>
                    <a:pt x="1051632" y="1286559"/>
                    <a:pt x="871506" y="1286559"/>
                  </a:cubicBezTo>
                  <a:cubicBezTo>
                    <a:pt x="750691" y="1286559"/>
                    <a:pt x="644663" y="1220861"/>
                    <a:pt x="587464" y="1123328"/>
                  </a:cubicBezTo>
                  <a:cubicBezTo>
                    <a:pt x="462424" y="1282281"/>
                    <a:pt x="316179" y="1422162"/>
                    <a:pt x="150840" y="1538766"/>
                  </a:cubicBezTo>
                  <a:cubicBezTo>
                    <a:pt x="112734" y="1566322"/>
                    <a:pt x="57567" y="1555735"/>
                    <a:pt x="34249" y="1513313"/>
                  </a:cubicBezTo>
                  <a:lnTo>
                    <a:pt x="10931" y="1470965"/>
                  </a:lnTo>
                  <a:cubicBezTo>
                    <a:pt x="-10274" y="1434925"/>
                    <a:pt x="369" y="1388298"/>
                    <a:pt x="34249" y="1364948"/>
                  </a:cubicBezTo>
                  <a:cubicBezTo>
                    <a:pt x="449668" y="1074598"/>
                    <a:pt x="735822" y="608328"/>
                    <a:pt x="782459" y="74183"/>
                  </a:cubicBezTo>
                  <a:cubicBezTo>
                    <a:pt x="786684" y="31762"/>
                    <a:pt x="820564" y="0"/>
                    <a:pt x="862975" y="0"/>
                  </a:cubicBezTo>
                  <a:close/>
                </a:path>
              </a:pathLst>
            </a:custGeom>
            <a:solidFill>
              <a:srgbClr val="278CC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5D9BD14C-3674-B9D6-D30B-12F663C22BB7}"/>
                </a:ext>
              </a:extLst>
            </p:cNvPr>
            <p:cNvSpPr/>
            <p:nvPr/>
          </p:nvSpPr>
          <p:spPr>
            <a:xfrm>
              <a:off x="8334187" y="4010361"/>
              <a:ext cx="341103" cy="486554"/>
            </a:xfrm>
            <a:custGeom>
              <a:avLst/>
              <a:gdLst>
                <a:gd name="connsiteX0" fmla="*/ 82340 w 399037"/>
                <a:gd name="connsiteY0" fmla="*/ 0 h 569192"/>
                <a:gd name="connsiteX1" fmla="*/ 90838 w 399037"/>
                <a:gd name="connsiteY1" fmla="*/ 0 h 569192"/>
                <a:gd name="connsiteX2" fmla="*/ 169243 w 399037"/>
                <a:gd name="connsiteY2" fmla="*/ 65721 h 569192"/>
                <a:gd name="connsiteX3" fmla="*/ 249813 w 399037"/>
                <a:gd name="connsiteY3" fmla="*/ 267075 h 569192"/>
                <a:gd name="connsiteX4" fmla="*/ 372712 w 399037"/>
                <a:gd name="connsiteY4" fmla="*/ 419679 h 569192"/>
                <a:gd name="connsiteX5" fmla="*/ 389708 w 399037"/>
                <a:gd name="connsiteY5" fmla="*/ 521439 h 569192"/>
                <a:gd name="connsiteX6" fmla="*/ 385459 w 399037"/>
                <a:gd name="connsiteY6" fmla="*/ 527794 h 569192"/>
                <a:gd name="connsiteX7" fmla="*/ 258230 w 399037"/>
                <a:gd name="connsiteY7" fmla="*/ 546861 h 569192"/>
                <a:gd name="connsiteX8" fmla="*/ 1770 w 399037"/>
                <a:gd name="connsiteY8" fmla="*/ 99665 h 569192"/>
                <a:gd name="connsiteX9" fmla="*/ 82340 w 399037"/>
                <a:gd name="connsiteY9" fmla="*/ 0 h 569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037" h="569192">
                  <a:moveTo>
                    <a:pt x="82340" y="0"/>
                  </a:moveTo>
                  <a:lnTo>
                    <a:pt x="90838" y="0"/>
                  </a:lnTo>
                  <a:cubicBezTo>
                    <a:pt x="128998" y="0"/>
                    <a:pt x="160745" y="27588"/>
                    <a:pt x="169243" y="65721"/>
                  </a:cubicBezTo>
                  <a:cubicBezTo>
                    <a:pt x="186159" y="137798"/>
                    <a:pt x="213737" y="205614"/>
                    <a:pt x="249813" y="267075"/>
                  </a:cubicBezTo>
                  <a:cubicBezTo>
                    <a:pt x="283724" y="322180"/>
                    <a:pt x="323969" y="375190"/>
                    <a:pt x="372712" y="419679"/>
                  </a:cubicBezTo>
                  <a:cubicBezTo>
                    <a:pt x="400290" y="445101"/>
                    <a:pt x="406623" y="487495"/>
                    <a:pt x="389708" y="521439"/>
                  </a:cubicBezTo>
                  <a:lnTo>
                    <a:pt x="385459" y="527794"/>
                  </a:lnTo>
                  <a:cubicBezTo>
                    <a:pt x="357880" y="574449"/>
                    <a:pt x="296391" y="582899"/>
                    <a:pt x="258230" y="546861"/>
                  </a:cubicBezTo>
                  <a:cubicBezTo>
                    <a:pt x="131082" y="428201"/>
                    <a:pt x="39930" y="273430"/>
                    <a:pt x="1770" y="99665"/>
                  </a:cubicBezTo>
                  <a:cubicBezTo>
                    <a:pt x="-8812" y="48749"/>
                    <a:pt x="29348" y="0"/>
                    <a:pt x="82340"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6F192BDE-6B17-0CF5-6F23-1EF70D11756B}"/>
                </a:ext>
              </a:extLst>
            </p:cNvPr>
            <p:cNvSpPr/>
            <p:nvPr/>
          </p:nvSpPr>
          <p:spPr>
            <a:xfrm>
              <a:off x="8795586" y="4495388"/>
              <a:ext cx="541088" cy="179233"/>
            </a:xfrm>
            <a:custGeom>
              <a:avLst/>
              <a:gdLst>
                <a:gd name="connsiteX0" fmla="*/ 79647 w 632989"/>
                <a:gd name="connsiteY0" fmla="*/ 7 h 209675"/>
                <a:gd name="connsiteX1" fmla="*/ 102057 w 632989"/>
                <a:gd name="connsiteY1" fmla="*/ 4073 h 209675"/>
                <a:gd name="connsiteX2" fmla="*/ 322436 w 632989"/>
                <a:gd name="connsiteY2" fmla="*/ 40145 h 209675"/>
                <a:gd name="connsiteX3" fmla="*/ 521697 w 632989"/>
                <a:gd name="connsiteY3" fmla="*/ 10488 h 209675"/>
                <a:gd name="connsiteX4" fmla="*/ 621327 w 632989"/>
                <a:gd name="connsiteY4" fmla="*/ 48559 h 209675"/>
                <a:gd name="connsiteX5" fmla="*/ 572547 w 632989"/>
                <a:gd name="connsiteY5" fmla="*/ 171520 h 209675"/>
                <a:gd name="connsiteX6" fmla="*/ 320366 w 632989"/>
                <a:gd name="connsiteY6" fmla="*/ 209675 h 209675"/>
                <a:gd name="connsiteX7" fmla="*/ 53277 w 632989"/>
                <a:gd name="connsiteY7" fmla="*/ 167272 h 209675"/>
                <a:gd name="connsiteX8" fmla="*/ 10875 w 632989"/>
                <a:gd name="connsiteY8" fmla="*/ 48559 h 209675"/>
                <a:gd name="connsiteX9" fmla="*/ 23629 w 632989"/>
                <a:gd name="connsiteY9" fmla="*/ 29482 h 209675"/>
                <a:gd name="connsiteX10" fmla="*/ 79647 w 632989"/>
                <a:gd name="connsiteY10" fmla="*/ 7 h 20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2989" h="209675">
                  <a:moveTo>
                    <a:pt x="79647" y="7"/>
                  </a:moveTo>
                  <a:cubicBezTo>
                    <a:pt x="87067" y="106"/>
                    <a:pt x="94624" y="1428"/>
                    <a:pt x="102057" y="4073"/>
                  </a:cubicBezTo>
                  <a:cubicBezTo>
                    <a:pt x="171956" y="27399"/>
                    <a:pt x="246161" y="40145"/>
                    <a:pt x="322436" y="40145"/>
                  </a:cubicBezTo>
                  <a:cubicBezTo>
                    <a:pt x="392418" y="40145"/>
                    <a:pt x="460246" y="29482"/>
                    <a:pt x="521697" y="10488"/>
                  </a:cubicBezTo>
                  <a:cubicBezTo>
                    <a:pt x="559876" y="-175"/>
                    <a:pt x="600125" y="14653"/>
                    <a:pt x="621327" y="48559"/>
                  </a:cubicBezTo>
                  <a:cubicBezTo>
                    <a:pt x="648905" y="95211"/>
                    <a:pt x="625550" y="156692"/>
                    <a:pt x="572547" y="171520"/>
                  </a:cubicBezTo>
                  <a:cubicBezTo>
                    <a:pt x="492048" y="196929"/>
                    <a:pt x="409395" y="209675"/>
                    <a:pt x="320366" y="209675"/>
                  </a:cubicBezTo>
                  <a:cubicBezTo>
                    <a:pt x="227113" y="209675"/>
                    <a:pt x="138083" y="194846"/>
                    <a:pt x="53277" y="167272"/>
                  </a:cubicBezTo>
                  <a:cubicBezTo>
                    <a:pt x="6651" y="150360"/>
                    <a:pt x="-14551" y="93128"/>
                    <a:pt x="10875" y="48559"/>
                  </a:cubicBezTo>
                  <a:lnTo>
                    <a:pt x="23629" y="29482"/>
                  </a:lnTo>
                  <a:cubicBezTo>
                    <a:pt x="36362" y="10425"/>
                    <a:pt x="57388" y="-290"/>
                    <a:pt x="79647" y="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0F041303-16D3-3FD7-29E3-FE2E54B0FA55}"/>
                </a:ext>
              </a:extLst>
            </p:cNvPr>
            <p:cNvSpPr/>
            <p:nvPr/>
          </p:nvSpPr>
          <p:spPr>
            <a:xfrm>
              <a:off x="8312855" y="5282044"/>
              <a:ext cx="1506552" cy="724559"/>
            </a:xfrm>
            <a:custGeom>
              <a:avLst/>
              <a:gdLst>
                <a:gd name="connsiteX0" fmla="*/ 110196 w 1762431"/>
                <a:gd name="connsiteY0" fmla="*/ 187 h 847621"/>
                <a:gd name="connsiteX1" fmla="*/ 141082 w 1762431"/>
                <a:gd name="connsiteY1" fmla="*/ 8303 h 847621"/>
                <a:gd name="connsiteX2" fmla="*/ 887191 w 1762431"/>
                <a:gd name="connsiteY2" fmla="*/ 173668 h 847621"/>
                <a:gd name="connsiteX3" fmla="*/ 1622615 w 1762431"/>
                <a:gd name="connsiteY3" fmla="*/ 12552 h 847621"/>
                <a:gd name="connsiteX4" fmla="*/ 1730776 w 1762431"/>
                <a:gd name="connsiteY4" fmla="*/ 46458 h 847621"/>
                <a:gd name="connsiteX5" fmla="*/ 1751894 w 1762431"/>
                <a:gd name="connsiteY5" fmla="*/ 82530 h 847621"/>
                <a:gd name="connsiteX6" fmla="*/ 1715868 w 1762431"/>
                <a:gd name="connsiteY6" fmla="*/ 203325 h 847621"/>
                <a:gd name="connsiteX7" fmla="*/ 1181774 w 1762431"/>
                <a:gd name="connsiteY7" fmla="*/ 362275 h 847621"/>
                <a:gd name="connsiteX8" fmla="*/ 1222024 w 1762431"/>
                <a:gd name="connsiteY8" fmla="*/ 519142 h 847621"/>
                <a:gd name="connsiteX9" fmla="*/ 893568 w 1762431"/>
                <a:gd name="connsiteY9" fmla="*/ 847621 h 847621"/>
                <a:gd name="connsiteX10" fmla="*/ 565028 w 1762431"/>
                <a:gd name="connsiteY10" fmla="*/ 519142 h 847621"/>
                <a:gd name="connsiteX11" fmla="*/ 605278 w 1762431"/>
                <a:gd name="connsiteY11" fmla="*/ 362275 h 847621"/>
                <a:gd name="connsiteX12" fmla="*/ 49982 w 1762431"/>
                <a:gd name="connsiteY12" fmla="*/ 196910 h 847621"/>
                <a:gd name="connsiteX13" fmla="*/ 11803 w 1762431"/>
                <a:gd name="connsiteY13" fmla="*/ 78281 h 847621"/>
                <a:gd name="connsiteX14" fmla="*/ 33005 w 1762431"/>
                <a:gd name="connsiteY14" fmla="*/ 42209 h 847621"/>
                <a:gd name="connsiteX15" fmla="*/ 110196 w 1762431"/>
                <a:gd name="connsiteY15" fmla="*/ 187 h 84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62431" h="847621">
                  <a:moveTo>
                    <a:pt x="110196" y="187"/>
                  </a:moveTo>
                  <a:cubicBezTo>
                    <a:pt x="120559" y="884"/>
                    <a:pt x="131020" y="3534"/>
                    <a:pt x="141082" y="8303"/>
                  </a:cubicBezTo>
                  <a:cubicBezTo>
                    <a:pt x="367921" y="114270"/>
                    <a:pt x="620102" y="173668"/>
                    <a:pt x="887191" y="173668"/>
                  </a:cubicBezTo>
                  <a:cubicBezTo>
                    <a:pt x="1149972" y="173668"/>
                    <a:pt x="1398013" y="116436"/>
                    <a:pt x="1622615" y="12552"/>
                  </a:cubicBezTo>
                  <a:cubicBezTo>
                    <a:pt x="1662948" y="-6525"/>
                    <a:pt x="1709574" y="8303"/>
                    <a:pt x="1730776" y="46458"/>
                  </a:cubicBezTo>
                  <a:lnTo>
                    <a:pt x="1751894" y="82530"/>
                  </a:lnTo>
                  <a:cubicBezTo>
                    <a:pt x="1775249" y="127016"/>
                    <a:pt x="1758271" y="182082"/>
                    <a:pt x="1715868" y="203325"/>
                  </a:cubicBezTo>
                  <a:cubicBezTo>
                    <a:pt x="1548410" y="279634"/>
                    <a:pt x="1370434" y="334700"/>
                    <a:pt x="1181774" y="362275"/>
                  </a:cubicBezTo>
                  <a:cubicBezTo>
                    <a:pt x="1207200" y="408927"/>
                    <a:pt x="1222024" y="461910"/>
                    <a:pt x="1222024" y="519142"/>
                  </a:cubicBezTo>
                  <a:cubicBezTo>
                    <a:pt x="1222024" y="701417"/>
                    <a:pt x="1073697" y="847621"/>
                    <a:pt x="893568" y="847621"/>
                  </a:cubicBezTo>
                  <a:cubicBezTo>
                    <a:pt x="711285" y="847621"/>
                    <a:pt x="565028" y="699251"/>
                    <a:pt x="565028" y="519142"/>
                  </a:cubicBezTo>
                  <a:cubicBezTo>
                    <a:pt x="565028" y="461910"/>
                    <a:pt x="579853" y="408927"/>
                    <a:pt x="605278" y="362275"/>
                  </a:cubicBezTo>
                  <a:cubicBezTo>
                    <a:pt x="410241" y="334700"/>
                    <a:pt x="223735" y="277468"/>
                    <a:pt x="49982" y="196910"/>
                  </a:cubicBezTo>
                  <a:cubicBezTo>
                    <a:pt x="3356" y="175750"/>
                    <a:pt x="-13622" y="120601"/>
                    <a:pt x="11803" y="78281"/>
                  </a:cubicBezTo>
                  <a:lnTo>
                    <a:pt x="33005" y="42209"/>
                  </a:lnTo>
                  <a:cubicBezTo>
                    <a:pt x="48906" y="13594"/>
                    <a:pt x="79109" y="-1901"/>
                    <a:pt x="110196" y="187"/>
                  </a:cubicBezTo>
                  <a:close/>
                </a:path>
              </a:pathLst>
            </a:custGeom>
            <a:solidFill>
              <a:srgbClr val="FFCC1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TextBox 38">
              <a:extLst>
                <a:ext uri="{FF2B5EF4-FFF2-40B4-BE49-F238E27FC236}">
                  <a16:creationId xmlns:a16="http://schemas.microsoft.com/office/drawing/2014/main" id="{9AFA9217-18B8-DC7D-D6F8-2B6BFA13D324}"/>
                </a:ext>
              </a:extLst>
            </p:cNvPr>
            <p:cNvSpPr txBox="1"/>
            <p:nvPr/>
          </p:nvSpPr>
          <p:spPr>
            <a:xfrm>
              <a:off x="8826718" y="1948891"/>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t>01</a:t>
              </a:r>
            </a:p>
          </p:txBody>
        </p:sp>
        <p:sp>
          <p:nvSpPr>
            <p:cNvPr id="47" name="TextBox 39">
              <a:extLst>
                <a:ext uri="{FF2B5EF4-FFF2-40B4-BE49-F238E27FC236}">
                  <a16:creationId xmlns:a16="http://schemas.microsoft.com/office/drawing/2014/main" id="{B0D42CBA-B68E-4F2A-5BE5-8C1C96FE86F9}"/>
                </a:ext>
              </a:extLst>
            </p:cNvPr>
            <p:cNvSpPr txBox="1"/>
            <p:nvPr/>
          </p:nvSpPr>
          <p:spPr>
            <a:xfrm>
              <a:off x="10388819" y="2854642"/>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solidFill>
                    <a:schemeClr val="bg1"/>
                  </a:solidFill>
                </a:rPr>
                <a:t>02</a:t>
              </a:r>
            </a:p>
          </p:txBody>
        </p:sp>
        <p:sp>
          <p:nvSpPr>
            <p:cNvPr id="48" name="TextBox 40">
              <a:extLst>
                <a:ext uri="{FF2B5EF4-FFF2-40B4-BE49-F238E27FC236}">
                  <a16:creationId xmlns:a16="http://schemas.microsoft.com/office/drawing/2014/main" id="{002296DE-B711-2685-0D7A-9F4580034A1A}"/>
                </a:ext>
              </a:extLst>
            </p:cNvPr>
            <p:cNvSpPr txBox="1"/>
            <p:nvPr/>
          </p:nvSpPr>
          <p:spPr>
            <a:xfrm>
              <a:off x="10368804" y="4655396"/>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t>03</a:t>
              </a:r>
            </a:p>
          </p:txBody>
        </p:sp>
        <p:sp>
          <p:nvSpPr>
            <p:cNvPr id="49" name="TextBox 41">
              <a:extLst>
                <a:ext uri="{FF2B5EF4-FFF2-40B4-BE49-F238E27FC236}">
                  <a16:creationId xmlns:a16="http://schemas.microsoft.com/office/drawing/2014/main" id="{FF36B110-C39A-98D6-A4EC-A529B45D8F5A}"/>
                </a:ext>
              </a:extLst>
            </p:cNvPr>
            <p:cNvSpPr txBox="1"/>
            <p:nvPr/>
          </p:nvSpPr>
          <p:spPr>
            <a:xfrm>
              <a:off x="8826718" y="5574953"/>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t>04</a:t>
              </a:r>
            </a:p>
          </p:txBody>
        </p:sp>
        <p:sp>
          <p:nvSpPr>
            <p:cNvPr id="50" name="TextBox 42">
              <a:extLst>
                <a:ext uri="{FF2B5EF4-FFF2-40B4-BE49-F238E27FC236}">
                  <a16:creationId xmlns:a16="http://schemas.microsoft.com/office/drawing/2014/main" id="{06CF4BBB-A3E1-4AAC-3511-355F9A5ECAC4}"/>
                </a:ext>
              </a:extLst>
            </p:cNvPr>
            <p:cNvSpPr txBox="1"/>
            <p:nvPr/>
          </p:nvSpPr>
          <p:spPr>
            <a:xfrm>
              <a:off x="7240165" y="4655396"/>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solidFill>
                    <a:schemeClr val="bg1"/>
                  </a:solidFill>
                </a:rPr>
                <a:t>05</a:t>
              </a:r>
            </a:p>
          </p:txBody>
        </p:sp>
        <p:sp>
          <p:nvSpPr>
            <p:cNvPr id="51" name="TextBox 43">
              <a:extLst>
                <a:ext uri="{FF2B5EF4-FFF2-40B4-BE49-F238E27FC236}">
                  <a16:creationId xmlns:a16="http://schemas.microsoft.com/office/drawing/2014/main" id="{ADE11BBE-652A-8C82-5F01-3686AB5A0128}"/>
                </a:ext>
              </a:extLst>
            </p:cNvPr>
            <p:cNvSpPr txBox="1"/>
            <p:nvPr/>
          </p:nvSpPr>
          <p:spPr>
            <a:xfrm>
              <a:off x="7236353" y="2870924"/>
              <a:ext cx="509143" cy="3420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solidFill>
                    <a:schemeClr val="bg1"/>
                  </a:solidFill>
                </a:rPr>
                <a:t>06</a:t>
              </a:r>
            </a:p>
          </p:txBody>
        </p:sp>
        <p:pic>
          <p:nvPicPr>
            <p:cNvPr id="52" name="Graphic 30" descr="Bar graph with upward trend with solid fill">
              <a:extLst>
                <a:ext uri="{FF2B5EF4-FFF2-40B4-BE49-F238E27FC236}">
                  <a16:creationId xmlns:a16="http://schemas.microsoft.com/office/drawing/2014/main" id="{3B8A732D-F2F6-0070-372E-9666D7FF65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68841" y="4181414"/>
              <a:ext cx="508068" cy="508068"/>
            </a:xfrm>
            <a:prstGeom prst="rect">
              <a:avLst/>
            </a:prstGeom>
          </p:spPr>
        </p:pic>
        <p:pic>
          <p:nvPicPr>
            <p:cNvPr id="53" name="Graphic 31" descr="Brainstorm with solid fill">
              <a:extLst>
                <a:ext uri="{FF2B5EF4-FFF2-40B4-BE49-F238E27FC236}">
                  <a16:creationId xmlns:a16="http://schemas.microsoft.com/office/drawing/2014/main" id="{13C6AACE-F8E6-D22C-3330-16EE317F53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11082" y="2571130"/>
              <a:ext cx="508068" cy="508068"/>
            </a:xfrm>
            <a:prstGeom prst="rect">
              <a:avLst/>
            </a:prstGeom>
          </p:spPr>
        </p:pic>
        <p:pic>
          <p:nvPicPr>
            <p:cNvPr id="54" name="Graphic 32" descr="Bullseye with solid fill">
              <a:extLst>
                <a:ext uri="{FF2B5EF4-FFF2-40B4-BE49-F238E27FC236}">
                  <a16:creationId xmlns:a16="http://schemas.microsoft.com/office/drawing/2014/main" id="{A339CDC0-D4EE-4CB5-1446-D127E36BF8C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05831" y="4815672"/>
              <a:ext cx="508068" cy="508068"/>
            </a:xfrm>
            <a:prstGeom prst="rect">
              <a:avLst/>
            </a:prstGeom>
          </p:spPr>
        </p:pic>
        <p:pic>
          <p:nvPicPr>
            <p:cNvPr id="55" name="Graphic 33" descr="Database with solid fill">
              <a:extLst>
                <a:ext uri="{FF2B5EF4-FFF2-40B4-BE49-F238E27FC236}">
                  <a16:creationId xmlns:a16="http://schemas.microsoft.com/office/drawing/2014/main" id="{DC19B4CE-6B21-6D5B-5A05-161B2954B4A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92963" y="4181414"/>
              <a:ext cx="508068" cy="508068"/>
            </a:xfrm>
            <a:prstGeom prst="rect">
              <a:avLst/>
            </a:prstGeom>
          </p:spPr>
        </p:pic>
        <p:pic>
          <p:nvPicPr>
            <p:cNvPr id="56" name="Graphic 34" descr="Gears with solid fill">
              <a:extLst>
                <a:ext uri="{FF2B5EF4-FFF2-40B4-BE49-F238E27FC236}">
                  <a16:creationId xmlns:a16="http://schemas.microsoft.com/office/drawing/2014/main" id="{2896E166-1CA7-0202-B2A1-B9DC898A0C7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792963" y="3109509"/>
              <a:ext cx="508068" cy="508068"/>
            </a:xfrm>
            <a:prstGeom prst="rect">
              <a:avLst/>
            </a:prstGeom>
          </p:spPr>
        </p:pic>
        <p:pic>
          <p:nvPicPr>
            <p:cNvPr id="57" name="Graphic 36" descr="Lightbulb with solid fill">
              <a:extLst>
                <a:ext uri="{FF2B5EF4-FFF2-40B4-BE49-F238E27FC236}">
                  <a16:creationId xmlns:a16="http://schemas.microsoft.com/office/drawing/2014/main" id="{D29D3A25-6414-BBBE-7B22-FF392373C47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761328" y="3109509"/>
              <a:ext cx="508068" cy="508068"/>
            </a:xfrm>
            <a:prstGeom prst="rect">
              <a:avLst/>
            </a:prstGeom>
          </p:spPr>
        </p:pic>
        <p:sp>
          <p:nvSpPr>
            <p:cNvPr id="60" name="TextBox 59">
              <a:extLst>
                <a:ext uri="{FF2B5EF4-FFF2-40B4-BE49-F238E27FC236}">
                  <a16:creationId xmlns:a16="http://schemas.microsoft.com/office/drawing/2014/main" id="{064F01F0-35EE-B219-4F11-E86CD69AAB31}"/>
                </a:ext>
              </a:extLst>
            </p:cNvPr>
            <p:cNvSpPr txBox="1"/>
            <p:nvPr/>
          </p:nvSpPr>
          <p:spPr>
            <a:xfrm>
              <a:off x="8595005" y="3622563"/>
              <a:ext cx="1033617" cy="584775"/>
            </a:xfrm>
            <a:prstGeom prst="rect">
              <a:avLst/>
            </a:prstGeom>
            <a:noFill/>
          </p:spPr>
          <p:txBody>
            <a:bodyPr wrap="none" lIns="0" rtlCol="0">
              <a:spAutoFit/>
            </a:bodyPr>
            <a:lstStyle>
              <a:defPPr>
                <a:defRPr lang="en-US"/>
              </a:defPPr>
              <a:lvl1pPr>
                <a:defRPr sz="1200"/>
              </a:lvl1pPr>
            </a:lstStyle>
            <a:p>
              <a:pPr marL="4763" lvl="1" algn="ctr">
                <a:spcAft>
                  <a:spcPts val="1200"/>
                </a:spcAft>
              </a:pPr>
              <a:r>
                <a:rPr lang="en-US" sz="1600" b="1" dirty="0"/>
                <a:t>Cloud</a:t>
              </a:r>
              <a:br>
                <a:rPr lang="en-US" sz="1600" b="1" dirty="0"/>
              </a:br>
              <a:r>
                <a:rPr lang="en-US" sz="1600" b="1" dirty="0"/>
                <a:t>Computing</a:t>
              </a:r>
              <a:endParaRPr lang="en-US" sz="1600" dirty="0"/>
            </a:p>
          </p:txBody>
        </p:sp>
        <p:sp>
          <p:nvSpPr>
            <p:cNvPr id="1024" name="TextBox 1023">
              <a:extLst>
                <a:ext uri="{FF2B5EF4-FFF2-40B4-BE49-F238E27FC236}">
                  <a16:creationId xmlns:a16="http://schemas.microsoft.com/office/drawing/2014/main" id="{C304A70A-8447-1CC0-3571-782CFF5A0E48}"/>
                </a:ext>
              </a:extLst>
            </p:cNvPr>
            <p:cNvSpPr txBox="1"/>
            <p:nvPr/>
          </p:nvSpPr>
          <p:spPr>
            <a:xfrm>
              <a:off x="9439295" y="1830988"/>
              <a:ext cx="906275" cy="338554"/>
            </a:xfrm>
            <a:prstGeom prst="rect">
              <a:avLst/>
            </a:prstGeom>
            <a:noFill/>
          </p:spPr>
          <p:txBody>
            <a:bodyPr wrap="none" lIns="0" rtlCol="0">
              <a:spAutoFit/>
            </a:bodyPr>
            <a:lstStyle>
              <a:defPPr>
                <a:defRPr lang="en-US"/>
              </a:defPPr>
              <a:lvl1pPr>
                <a:defRPr sz="1200"/>
              </a:lvl1pPr>
            </a:lstStyle>
            <a:p>
              <a:pPr marL="4763" lvl="1" algn="ctr">
                <a:spcAft>
                  <a:spcPts val="1200"/>
                </a:spcAft>
              </a:pPr>
              <a:r>
                <a:rPr lang="en-US" sz="1600" b="1" dirty="0"/>
                <a:t>Efficiency</a:t>
              </a:r>
              <a:endParaRPr lang="en-US" sz="1600" dirty="0"/>
            </a:p>
          </p:txBody>
        </p:sp>
        <p:sp>
          <p:nvSpPr>
            <p:cNvPr id="1025" name="TextBox 1024">
              <a:extLst>
                <a:ext uri="{FF2B5EF4-FFF2-40B4-BE49-F238E27FC236}">
                  <a16:creationId xmlns:a16="http://schemas.microsoft.com/office/drawing/2014/main" id="{1B3F14C4-41DB-61C4-A7B4-EED2A89ECEA1}"/>
                </a:ext>
              </a:extLst>
            </p:cNvPr>
            <p:cNvSpPr txBox="1"/>
            <p:nvPr/>
          </p:nvSpPr>
          <p:spPr>
            <a:xfrm>
              <a:off x="10734373" y="3273275"/>
              <a:ext cx="1089722" cy="338554"/>
            </a:xfrm>
            <a:prstGeom prst="rect">
              <a:avLst/>
            </a:prstGeom>
            <a:noFill/>
          </p:spPr>
          <p:txBody>
            <a:bodyPr wrap="none" lIns="0" rtlCol="0">
              <a:spAutoFit/>
            </a:bodyPr>
            <a:lstStyle>
              <a:defPPr>
                <a:defRPr lang="en-US"/>
              </a:defPPr>
              <a:lvl1pPr>
                <a:defRPr sz="1200"/>
              </a:lvl1pPr>
            </a:lstStyle>
            <a:p>
              <a:pPr marL="4763" lvl="1" algn="ctr">
                <a:spcAft>
                  <a:spcPts val="1200"/>
                </a:spcAft>
              </a:pPr>
              <a:r>
                <a:rPr lang="en-US" sz="1600" b="1" dirty="0"/>
                <a:t>Accessibilty</a:t>
              </a:r>
              <a:endParaRPr lang="en-US" sz="1600" dirty="0"/>
            </a:p>
          </p:txBody>
        </p:sp>
        <p:sp>
          <p:nvSpPr>
            <p:cNvPr id="1027" name="TextBox 1026">
              <a:extLst>
                <a:ext uri="{FF2B5EF4-FFF2-40B4-BE49-F238E27FC236}">
                  <a16:creationId xmlns:a16="http://schemas.microsoft.com/office/drawing/2014/main" id="{A0C6D3D2-22BA-7BEF-AAA4-A58E130CF53C}"/>
                </a:ext>
              </a:extLst>
            </p:cNvPr>
            <p:cNvSpPr txBox="1"/>
            <p:nvPr/>
          </p:nvSpPr>
          <p:spPr>
            <a:xfrm>
              <a:off x="10310772" y="5132420"/>
              <a:ext cx="1288494" cy="338554"/>
            </a:xfrm>
            <a:prstGeom prst="rect">
              <a:avLst/>
            </a:prstGeom>
            <a:noFill/>
          </p:spPr>
          <p:txBody>
            <a:bodyPr wrap="none" lIns="0" rtlCol="0">
              <a:spAutoFit/>
            </a:bodyPr>
            <a:lstStyle>
              <a:defPPr>
                <a:defRPr lang="en-US"/>
              </a:defPPr>
              <a:lvl1pPr>
                <a:defRPr sz="1200"/>
              </a:lvl1pPr>
            </a:lstStyle>
            <a:p>
              <a:pPr marL="4763" lvl="1" algn="ctr">
                <a:spcAft>
                  <a:spcPts val="1200"/>
                </a:spcAft>
              </a:pPr>
              <a:r>
                <a:rPr lang="en-US" sz="1600" b="1" dirty="0"/>
                <a:t>Opportunities</a:t>
              </a:r>
              <a:endParaRPr lang="en-US" sz="1600" dirty="0"/>
            </a:p>
          </p:txBody>
        </p:sp>
        <p:sp>
          <p:nvSpPr>
            <p:cNvPr id="1028" name="TextBox 1027">
              <a:extLst>
                <a:ext uri="{FF2B5EF4-FFF2-40B4-BE49-F238E27FC236}">
                  <a16:creationId xmlns:a16="http://schemas.microsoft.com/office/drawing/2014/main" id="{B6B5FADF-0257-C6AD-53CF-2AA8EF618340}"/>
                </a:ext>
              </a:extLst>
            </p:cNvPr>
            <p:cNvSpPr txBox="1"/>
            <p:nvPr/>
          </p:nvSpPr>
          <p:spPr>
            <a:xfrm>
              <a:off x="8572047" y="5924148"/>
              <a:ext cx="1018485" cy="338554"/>
            </a:xfrm>
            <a:prstGeom prst="rect">
              <a:avLst/>
            </a:prstGeom>
            <a:noFill/>
          </p:spPr>
          <p:txBody>
            <a:bodyPr wrap="square" lIns="0" rIns="36000" rtlCol="0">
              <a:spAutoFit/>
            </a:bodyPr>
            <a:lstStyle>
              <a:defPPr>
                <a:defRPr lang="en-US"/>
              </a:defPPr>
              <a:lvl1pPr>
                <a:defRPr sz="1200"/>
              </a:lvl1pPr>
            </a:lstStyle>
            <a:p>
              <a:pPr marL="4763" lvl="1" algn="ctr">
                <a:spcAft>
                  <a:spcPts val="1200"/>
                </a:spcAft>
              </a:pPr>
              <a:r>
                <a:rPr lang="en-US" sz="1600" b="1" dirty="0"/>
                <a:t>Innovation</a:t>
              </a:r>
              <a:endParaRPr lang="en-US" sz="1600" dirty="0"/>
            </a:p>
          </p:txBody>
        </p:sp>
        <p:sp>
          <p:nvSpPr>
            <p:cNvPr id="1029" name="TextBox 1028">
              <a:extLst>
                <a:ext uri="{FF2B5EF4-FFF2-40B4-BE49-F238E27FC236}">
                  <a16:creationId xmlns:a16="http://schemas.microsoft.com/office/drawing/2014/main" id="{63E4D42A-676C-1AF3-5F91-FAA14FC7C2A6}"/>
                </a:ext>
              </a:extLst>
            </p:cNvPr>
            <p:cNvSpPr txBox="1"/>
            <p:nvPr/>
          </p:nvSpPr>
          <p:spPr>
            <a:xfrm>
              <a:off x="6914704" y="5132420"/>
              <a:ext cx="1018485" cy="338554"/>
            </a:xfrm>
            <a:prstGeom prst="rect">
              <a:avLst/>
            </a:prstGeom>
            <a:noFill/>
          </p:spPr>
          <p:txBody>
            <a:bodyPr wrap="square" lIns="0" rIns="36000" rtlCol="0">
              <a:spAutoFit/>
            </a:bodyPr>
            <a:lstStyle>
              <a:defPPr>
                <a:defRPr lang="en-US"/>
              </a:defPPr>
              <a:lvl1pPr>
                <a:defRPr sz="1200"/>
              </a:lvl1pPr>
            </a:lstStyle>
            <a:p>
              <a:pPr marL="4763" lvl="1" algn="ctr">
                <a:spcAft>
                  <a:spcPts val="1200"/>
                </a:spcAft>
              </a:pPr>
              <a:r>
                <a:rPr lang="en-US" sz="1600" b="1" dirty="0"/>
                <a:t>Flexibility</a:t>
              </a:r>
              <a:endParaRPr lang="en-US" sz="1600" dirty="0"/>
            </a:p>
          </p:txBody>
        </p:sp>
        <p:sp>
          <p:nvSpPr>
            <p:cNvPr id="1030" name="TextBox 1029">
              <a:extLst>
                <a:ext uri="{FF2B5EF4-FFF2-40B4-BE49-F238E27FC236}">
                  <a16:creationId xmlns:a16="http://schemas.microsoft.com/office/drawing/2014/main" id="{82C9C794-777D-EDD3-DAC7-D7EFA4BDA844}"/>
                </a:ext>
              </a:extLst>
            </p:cNvPr>
            <p:cNvSpPr txBox="1"/>
            <p:nvPr/>
          </p:nvSpPr>
          <p:spPr>
            <a:xfrm>
              <a:off x="6381721" y="3273274"/>
              <a:ext cx="1018485" cy="338554"/>
            </a:xfrm>
            <a:prstGeom prst="rect">
              <a:avLst/>
            </a:prstGeom>
            <a:noFill/>
          </p:spPr>
          <p:txBody>
            <a:bodyPr wrap="square" lIns="0" rIns="36000" rtlCol="0">
              <a:spAutoFit/>
            </a:bodyPr>
            <a:lstStyle>
              <a:defPPr>
                <a:defRPr lang="en-US"/>
              </a:defPPr>
              <a:lvl1pPr>
                <a:defRPr sz="1200"/>
              </a:lvl1pPr>
            </a:lstStyle>
            <a:p>
              <a:pPr marL="4763" lvl="1" algn="r">
                <a:spcAft>
                  <a:spcPts val="1200"/>
                </a:spcAft>
              </a:pPr>
              <a:r>
                <a:rPr lang="en-US" sz="1600" b="1" dirty="0"/>
                <a:t>Saving</a:t>
              </a:r>
              <a:endParaRPr lang="en-US" sz="1600" dirty="0"/>
            </a:p>
          </p:txBody>
        </p:sp>
      </p:grpSp>
      <p:sp>
        <p:nvSpPr>
          <p:cNvPr id="1032" name="Rectangle: Top Corners Rounded 1031">
            <a:extLst>
              <a:ext uri="{FF2B5EF4-FFF2-40B4-BE49-F238E27FC236}">
                <a16:creationId xmlns:a16="http://schemas.microsoft.com/office/drawing/2014/main" id="{25020EC1-3133-0A2B-3034-01B50E5D8295}"/>
              </a:ext>
            </a:extLst>
          </p:cNvPr>
          <p:cNvSpPr/>
          <p:nvPr/>
        </p:nvSpPr>
        <p:spPr>
          <a:xfrm rot="5400000">
            <a:off x="2878362" y="-1132244"/>
            <a:ext cx="169737" cy="5926463"/>
          </a:xfrm>
          <a:prstGeom prst="round2SameRect">
            <a:avLst>
              <a:gd name="adj1" fmla="val 50000"/>
              <a:gd name="adj2" fmla="val 0"/>
            </a:avLst>
          </a:prstGeom>
          <a:solidFill>
            <a:srgbClr val="278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3" name="Rectangle: Diagonal Corners Rounded 1032">
            <a:extLst>
              <a:ext uri="{FF2B5EF4-FFF2-40B4-BE49-F238E27FC236}">
                <a16:creationId xmlns:a16="http://schemas.microsoft.com/office/drawing/2014/main" id="{BF853626-9265-4447-5404-069D907248EF}"/>
              </a:ext>
            </a:extLst>
          </p:cNvPr>
          <p:cNvSpPr/>
          <p:nvPr/>
        </p:nvSpPr>
        <p:spPr>
          <a:xfrm flipH="1">
            <a:off x="482019" y="1595453"/>
            <a:ext cx="4978310" cy="4745746"/>
          </a:xfrm>
          <a:prstGeom prst="round2DiagRect">
            <a:avLst>
              <a:gd name="adj1" fmla="val 4242"/>
              <a:gd name="adj2" fmla="val 0"/>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638EACB6-56F3-9FE7-84E3-548FDB643729}"/>
              </a:ext>
            </a:extLst>
          </p:cNvPr>
          <p:cNvSpPr txBox="1"/>
          <p:nvPr/>
        </p:nvSpPr>
        <p:spPr>
          <a:xfrm>
            <a:off x="728771" y="1752335"/>
            <a:ext cx="4484806" cy="4431983"/>
          </a:xfrm>
          <a:prstGeom prst="rect">
            <a:avLst/>
          </a:prstGeom>
          <a:noFill/>
        </p:spPr>
        <p:txBody>
          <a:bodyPr wrap="square" lIns="0" rtlCol="0" anchor="ctr">
            <a:spAutoFit/>
          </a:bodyPr>
          <a:lstStyle>
            <a:defPPr>
              <a:defRPr lang="en-US"/>
            </a:defPPr>
            <a:lvl1pPr>
              <a:defRPr sz="1200"/>
            </a:lvl1pPr>
          </a:lstStyle>
          <a:p>
            <a:pPr marL="4763" lvl="1">
              <a:spcAft>
                <a:spcPts val="1200"/>
              </a:spcAft>
            </a:pPr>
            <a:r>
              <a:rPr lang="en-US" sz="1400" b="1" dirty="0">
                <a:solidFill>
                  <a:schemeClr val="tx1">
                    <a:lumMod val="65000"/>
                    <a:lumOff val="35000"/>
                  </a:schemeClr>
                </a:solidFill>
              </a:rPr>
              <a:t>The cloud computing contract should, in addition to the mandatory data processing wording (i.e. that the cloud provider is processing the data upon the instructions of the customer and that the provider will take all technical and </a:t>
            </a:r>
            <a:r>
              <a:rPr lang="en-US" sz="1400" b="1" dirty="0" err="1">
                <a:solidFill>
                  <a:schemeClr val="tx1">
                    <a:lumMod val="65000"/>
                    <a:lumOff val="35000"/>
                  </a:schemeClr>
                </a:solidFill>
              </a:rPr>
              <a:t>organisational</a:t>
            </a:r>
            <a:r>
              <a:rPr lang="en-US" sz="1400" b="1" dirty="0">
                <a:solidFill>
                  <a:schemeClr val="tx1">
                    <a:lumMod val="65000"/>
                    <a:lumOff val="35000"/>
                  </a:schemeClr>
                </a:solidFill>
              </a:rPr>
              <a:t> measures to protect the personal data) also deal with the following topics (among others):</a:t>
            </a:r>
          </a:p>
          <a:p>
            <a:pPr marL="228600" lvl="1" indent="-223838">
              <a:spcAft>
                <a:spcPts val="1200"/>
              </a:spcAft>
              <a:buFont typeface="Arial" pitchFamily="34" charset="0"/>
              <a:buChar char="•"/>
            </a:pPr>
            <a:r>
              <a:rPr lang="en-US" sz="1400" dirty="0">
                <a:solidFill>
                  <a:schemeClr val="tx1">
                    <a:lumMod val="65000"/>
                    <a:lumOff val="35000"/>
                  </a:schemeClr>
                </a:solidFill>
              </a:rPr>
              <a:t>detailed instructions of the customer, including applicable (objective and measurable) service level requirements and penalties for non-compliance therewith;</a:t>
            </a:r>
          </a:p>
          <a:p>
            <a:pPr marL="228600" lvl="1" indent="-223838">
              <a:spcAft>
                <a:spcPts val="1200"/>
              </a:spcAft>
              <a:buFont typeface="Arial" pitchFamily="34" charset="0"/>
              <a:buChar char="•"/>
            </a:pPr>
            <a:r>
              <a:rPr lang="en-US" sz="1400" dirty="0">
                <a:solidFill>
                  <a:schemeClr val="tx1">
                    <a:lumMod val="65000"/>
                    <a:lumOff val="35000"/>
                  </a:schemeClr>
                </a:solidFill>
              </a:rPr>
              <a:t>specification of the security measures used by the cloud provider depending on the risks represented by the processing and the nature of the data. The cloud customer should in particular pay attention that such measures are implemented ensuring availability, integrity and confidentiality of the cloud data;</a:t>
            </a:r>
          </a:p>
          <a:p>
            <a:pPr marL="228600" lvl="1" indent="-223838">
              <a:spcAft>
                <a:spcPts val="1200"/>
              </a:spcAft>
              <a:buFont typeface="Arial" pitchFamily="34" charset="0"/>
              <a:buChar char="•"/>
            </a:pPr>
            <a:r>
              <a:rPr lang="en-US" sz="1400" dirty="0">
                <a:solidFill>
                  <a:schemeClr val="tx1">
                    <a:lumMod val="65000"/>
                    <a:lumOff val="35000"/>
                  </a:schemeClr>
                </a:solidFill>
              </a:rPr>
              <a:t>strong contractual confidentiality obligations for the provider and its staff;</a:t>
            </a:r>
          </a:p>
        </p:txBody>
      </p:sp>
      <p:grpSp>
        <p:nvGrpSpPr>
          <p:cNvPr id="1044" name="Group 1043">
            <a:extLst>
              <a:ext uri="{FF2B5EF4-FFF2-40B4-BE49-F238E27FC236}">
                <a16:creationId xmlns:a16="http://schemas.microsoft.com/office/drawing/2014/main" id="{B7F20AB1-B93A-01B9-4786-AF65FFBD6572}"/>
              </a:ext>
            </a:extLst>
          </p:cNvPr>
          <p:cNvGrpSpPr/>
          <p:nvPr/>
        </p:nvGrpSpPr>
        <p:grpSpPr>
          <a:xfrm>
            <a:off x="482019" y="3280000"/>
            <a:ext cx="346708" cy="169738"/>
            <a:chOff x="482019" y="3280000"/>
            <a:chExt cx="346708" cy="169738"/>
          </a:xfrm>
        </p:grpSpPr>
        <p:sp>
          <p:nvSpPr>
            <p:cNvPr id="1037" name="Rectangle 1036">
              <a:extLst>
                <a:ext uri="{FF2B5EF4-FFF2-40B4-BE49-F238E27FC236}">
                  <a16:creationId xmlns:a16="http://schemas.microsoft.com/office/drawing/2014/main" id="{7BAC5A7A-74A5-12CB-0057-998C85657547}"/>
                </a:ext>
              </a:extLst>
            </p:cNvPr>
            <p:cNvSpPr/>
            <p:nvPr/>
          </p:nvSpPr>
          <p:spPr>
            <a:xfrm>
              <a:off x="482019" y="3327443"/>
              <a:ext cx="269143" cy="69634"/>
            </a:xfrm>
            <a:prstGeom prst="rect">
              <a:avLst/>
            </a:prstGeom>
            <a:solidFill>
              <a:srgbClr val="7FBB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78CCB"/>
                </a:solidFill>
              </a:endParaRPr>
            </a:p>
          </p:txBody>
        </p:sp>
        <p:sp>
          <p:nvSpPr>
            <p:cNvPr id="1038" name="Rectangle: Rounded Corners 1037">
              <a:extLst>
                <a:ext uri="{FF2B5EF4-FFF2-40B4-BE49-F238E27FC236}">
                  <a16:creationId xmlns:a16="http://schemas.microsoft.com/office/drawing/2014/main" id="{1FE1E3A0-7AC5-BF30-A89A-03B85CC9158E}"/>
                </a:ext>
              </a:extLst>
            </p:cNvPr>
            <p:cNvSpPr/>
            <p:nvPr/>
          </p:nvSpPr>
          <p:spPr>
            <a:xfrm rot="2700000">
              <a:off x="658989" y="3280000"/>
              <a:ext cx="169738" cy="169738"/>
            </a:xfrm>
            <a:prstGeom prst="roundRect">
              <a:avLst/>
            </a:prstGeom>
            <a:gradFill flip="none" rotWithShape="1">
              <a:gsLst>
                <a:gs pos="0">
                  <a:srgbClr val="278CCB">
                    <a:shade val="30000"/>
                    <a:satMod val="115000"/>
                  </a:srgbClr>
                </a:gs>
                <a:gs pos="50000">
                  <a:srgbClr val="278CCB">
                    <a:shade val="67500"/>
                    <a:satMod val="115000"/>
                  </a:srgbClr>
                </a:gs>
                <a:gs pos="100000">
                  <a:srgbClr val="278CCB">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045" name="Group 1044">
            <a:extLst>
              <a:ext uri="{FF2B5EF4-FFF2-40B4-BE49-F238E27FC236}">
                <a16:creationId xmlns:a16="http://schemas.microsoft.com/office/drawing/2014/main" id="{B1428640-FB6E-119B-4E02-8718C644A0D3}"/>
              </a:ext>
            </a:extLst>
          </p:cNvPr>
          <p:cNvGrpSpPr/>
          <p:nvPr/>
        </p:nvGrpSpPr>
        <p:grpSpPr>
          <a:xfrm>
            <a:off x="482019" y="4296967"/>
            <a:ext cx="346708" cy="169738"/>
            <a:chOff x="482019" y="3280000"/>
            <a:chExt cx="346708" cy="169738"/>
          </a:xfrm>
        </p:grpSpPr>
        <p:sp>
          <p:nvSpPr>
            <p:cNvPr id="1046" name="Rectangle 1045">
              <a:extLst>
                <a:ext uri="{FF2B5EF4-FFF2-40B4-BE49-F238E27FC236}">
                  <a16:creationId xmlns:a16="http://schemas.microsoft.com/office/drawing/2014/main" id="{22FE4499-A734-59F9-3957-D5CDED5C34E4}"/>
                </a:ext>
              </a:extLst>
            </p:cNvPr>
            <p:cNvSpPr/>
            <p:nvPr/>
          </p:nvSpPr>
          <p:spPr>
            <a:xfrm>
              <a:off x="482019" y="3327443"/>
              <a:ext cx="269143" cy="69634"/>
            </a:xfrm>
            <a:prstGeom prst="rect">
              <a:avLst/>
            </a:prstGeom>
            <a:solidFill>
              <a:srgbClr val="7FBB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78CCB"/>
                </a:solidFill>
              </a:endParaRPr>
            </a:p>
          </p:txBody>
        </p:sp>
        <p:sp>
          <p:nvSpPr>
            <p:cNvPr id="1047" name="Rectangle: Rounded Corners 1046">
              <a:extLst>
                <a:ext uri="{FF2B5EF4-FFF2-40B4-BE49-F238E27FC236}">
                  <a16:creationId xmlns:a16="http://schemas.microsoft.com/office/drawing/2014/main" id="{44E8FE49-B454-1BC6-89A3-FC87E7CFAE9F}"/>
                </a:ext>
              </a:extLst>
            </p:cNvPr>
            <p:cNvSpPr/>
            <p:nvPr/>
          </p:nvSpPr>
          <p:spPr>
            <a:xfrm rot="2700000">
              <a:off x="658989" y="3280000"/>
              <a:ext cx="169738" cy="169738"/>
            </a:xfrm>
            <a:prstGeom prst="roundRect">
              <a:avLst/>
            </a:prstGeom>
            <a:gradFill flip="none" rotWithShape="1">
              <a:gsLst>
                <a:gs pos="0">
                  <a:srgbClr val="278CCB">
                    <a:shade val="30000"/>
                    <a:satMod val="115000"/>
                  </a:srgbClr>
                </a:gs>
                <a:gs pos="50000">
                  <a:srgbClr val="278CCB">
                    <a:shade val="67500"/>
                    <a:satMod val="115000"/>
                  </a:srgbClr>
                </a:gs>
                <a:gs pos="100000">
                  <a:srgbClr val="278CCB">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048" name="Group 1047">
            <a:extLst>
              <a:ext uri="{FF2B5EF4-FFF2-40B4-BE49-F238E27FC236}">
                <a16:creationId xmlns:a16="http://schemas.microsoft.com/office/drawing/2014/main" id="{6E26C83D-A44B-1B9B-40E9-0C67037465AE}"/>
              </a:ext>
            </a:extLst>
          </p:cNvPr>
          <p:cNvGrpSpPr/>
          <p:nvPr/>
        </p:nvGrpSpPr>
        <p:grpSpPr>
          <a:xfrm>
            <a:off x="482019" y="5715483"/>
            <a:ext cx="346708" cy="169738"/>
            <a:chOff x="482019" y="3280000"/>
            <a:chExt cx="346708" cy="169738"/>
          </a:xfrm>
        </p:grpSpPr>
        <p:sp>
          <p:nvSpPr>
            <p:cNvPr id="1049" name="Rectangle 1048">
              <a:extLst>
                <a:ext uri="{FF2B5EF4-FFF2-40B4-BE49-F238E27FC236}">
                  <a16:creationId xmlns:a16="http://schemas.microsoft.com/office/drawing/2014/main" id="{03254392-504D-905C-207F-13BD03C7B93B}"/>
                </a:ext>
              </a:extLst>
            </p:cNvPr>
            <p:cNvSpPr/>
            <p:nvPr/>
          </p:nvSpPr>
          <p:spPr>
            <a:xfrm>
              <a:off x="482019" y="3327443"/>
              <a:ext cx="269143" cy="69634"/>
            </a:xfrm>
            <a:prstGeom prst="rect">
              <a:avLst/>
            </a:prstGeom>
            <a:solidFill>
              <a:srgbClr val="7FBB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78CCB"/>
                </a:solidFill>
              </a:endParaRPr>
            </a:p>
          </p:txBody>
        </p:sp>
        <p:sp>
          <p:nvSpPr>
            <p:cNvPr id="1050" name="Rectangle: Rounded Corners 1049">
              <a:extLst>
                <a:ext uri="{FF2B5EF4-FFF2-40B4-BE49-F238E27FC236}">
                  <a16:creationId xmlns:a16="http://schemas.microsoft.com/office/drawing/2014/main" id="{762D1B3E-FFF1-B45E-B899-BAFDD8F8292C}"/>
                </a:ext>
              </a:extLst>
            </p:cNvPr>
            <p:cNvSpPr/>
            <p:nvPr/>
          </p:nvSpPr>
          <p:spPr>
            <a:xfrm rot="2700000">
              <a:off x="658989" y="3280000"/>
              <a:ext cx="169738" cy="169738"/>
            </a:xfrm>
            <a:prstGeom prst="roundRect">
              <a:avLst/>
            </a:prstGeom>
            <a:gradFill flip="none" rotWithShape="1">
              <a:gsLst>
                <a:gs pos="0">
                  <a:srgbClr val="278CCB">
                    <a:shade val="30000"/>
                    <a:satMod val="115000"/>
                  </a:srgbClr>
                </a:gs>
                <a:gs pos="50000">
                  <a:srgbClr val="278CCB">
                    <a:shade val="67500"/>
                    <a:satMod val="115000"/>
                  </a:srgbClr>
                </a:gs>
                <a:gs pos="100000">
                  <a:srgbClr val="278CCB">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2070834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TI">
    <a:dk1>
      <a:sysClr val="windowText" lastClr="000000"/>
    </a:dk1>
    <a:lt1>
      <a:sysClr val="window" lastClr="FFFFFF"/>
    </a:lt1>
    <a:dk2>
      <a:srgbClr val="D69500"/>
    </a:dk2>
    <a:lt2>
      <a:srgbClr val="004FA6"/>
    </a:lt2>
    <a:accent1>
      <a:srgbClr val="919900"/>
    </a:accent1>
    <a:accent2>
      <a:srgbClr val="BE4646"/>
    </a:accent2>
    <a:accent3>
      <a:srgbClr val="838383"/>
    </a:accent3>
    <a:accent4>
      <a:srgbClr val="EDE7DE"/>
    </a:accent4>
    <a:accent5>
      <a:srgbClr val="D9CFC0"/>
    </a:accent5>
    <a:accent6>
      <a:srgbClr val="BDAFA2"/>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Office 2013 - 2022 Theme</Template>
  <TotalTime>467</TotalTime>
  <Words>808</Words>
  <Application>Microsoft Office PowerPoint</Application>
  <PresentationFormat>Widescreen</PresentationFormat>
  <Paragraphs>109</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 Black</vt:lpstr>
      <vt:lpstr>Calibri</vt:lpstr>
      <vt:lpstr>Calibri Light</vt:lpstr>
      <vt:lpstr>Wingdings</vt:lpstr>
      <vt:lpstr>Office Theme</vt:lpstr>
      <vt:lpstr>Find six to eight 2024 Hospitality industry trends online and put them on this slide. Pick slide title accordingly.</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RR Donnelley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Loganathan Ramachandran</dc:creator>
  <cp:lastModifiedBy>Shivam Honey</cp:lastModifiedBy>
  <cp:revision>44</cp:revision>
  <dcterms:created xsi:type="dcterms:W3CDTF">2016-01-14T15:50:47Z</dcterms:created>
  <dcterms:modified xsi:type="dcterms:W3CDTF">2025-10-05T11:50:41Z</dcterms:modified>
</cp:coreProperties>
</file>